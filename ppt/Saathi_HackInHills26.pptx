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4" r:id="rId20"/>
    <p:sldId id="265" r:id="rId21"/>
    <p:sldId id="266" r:id="rId22"/>
    <p:sldId id="267" r:id="rId23"/>
    <p:sldId id="268" r:id="rId24"/>
    <p:sldId id="269" r:id="rId25"/>
    <p:sldId id="270" r:id="rId26"/>
    <p:sldId id="271" r:id="rId27"/>
    <p:sldId id="272" r:id="rId28"/>
    <p:sldId id="263" r:id="rId13"/>
  </p:sldIdLst>
  <p:sldSz cy="10287000" cx="18288000"/>
  <p:notesSz cx="6858000" cy="9144000"/>
  <p:embeddedFontLst>
    <p:embeddedFont>
      <p:font typeface="IBM Plex Sans"/>
      <p:bold r:id="rId14"/>
      <p:boldItalic r:id="rId15"/>
    </p:embeddedFont>
    <p:embeddedFont>
      <p:font typeface="Caveat"/>
      <p:regular r:id="rId16"/>
      <p:bold r:id="rId17"/>
    </p:embeddedFont>
    <p:embeddedFont>
      <p:font typeface="Montserrat"/>
      <p:bold r:id="rId18"/>
      <p:boldItalic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font" Target="fonts/IBMPlexSans-bold.fntdata"/><Relationship Id="rId15" Type="http://schemas.openxmlformats.org/officeDocument/2006/relationships/font" Target="fonts/IBMPlexSans-boldItalic.fntdata"/><Relationship Id="rId16" Type="http://schemas.openxmlformats.org/officeDocument/2006/relationships/font" Target="fonts/Caveat-regular.fntdata"/><Relationship Id="rId17" Type="http://schemas.openxmlformats.org/officeDocument/2006/relationships/font" Target="fonts/Caveat-bold.fntdata"/><Relationship Id="rId18" Type="http://schemas.openxmlformats.org/officeDocument/2006/relationships/font" Target="fonts/Montserrat-bold.fntdata"/><Relationship Id="rId19" Type="http://schemas.openxmlformats.org/officeDocument/2006/relationships/font" Target="fonts/Montserrat-boldItalic.fntdata"/><Relationship Id="rId20" Type="http://schemas.openxmlformats.org/officeDocument/2006/relationships/slide" Target="slides/slide9.xml"/><Relationship Id="rId21" Type="http://schemas.openxmlformats.org/officeDocument/2006/relationships/slide" Target="slides/slide10.xml"/><Relationship Id="rId22" Type="http://schemas.openxmlformats.org/officeDocument/2006/relationships/slide" Target="slides/slide11.xml"/><Relationship Id="rId23" Type="http://schemas.openxmlformats.org/officeDocument/2006/relationships/slide" Target="slides/slide12.xml"/><Relationship Id="rId24" Type="http://schemas.openxmlformats.org/officeDocument/2006/relationships/slide" Target="slides/slide13.xml"/><Relationship Id="rId25" Type="http://schemas.openxmlformats.org/officeDocument/2006/relationships/slide" Target="slides/slide14.xml"/><Relationship Id="rId26" Type="http://schemas.openxmlformats.org/officeDocument/2006/relationships/slide" Target="slides/slide15.xml"/><Relationship Id="rId27" Type="http://schemas.openxmlformats.org/officeDocument/2006/relationships/slide" Target="slides/slide16.xml"/><Relationship Id="rId28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jpg"/><Relationship Id="rId4" Type="http://schemas.openxmlformats.org/officeDocument/2006/relationships/image" Target="../media/image3.png"/><Relationship Id="rId5" Type="http://schemas.openxmlformats.org/officeDocument/2006/relationships/image" Target="../media/image1.png"/><Relationship Id="rId6" Type="http://schemas.openxmlformats.org/officeDocument/2006/relationships/image" Target="../media/image5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6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7.jpg"/><Relationship Id="rId5" Type="http://schemas.openxmlformats.org/officeDocument/2006/relationships/image" Target="../media/image8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9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jpg"/><Relationship Id="rId4" Type="http://schemas.openxmlformats.org/officeDocument/2006/relationships/image" Target="../media/image3.png"/><Relationship Id="rId5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12.png"/><Relationship Id="rId4" Type="http://schemas.openxmlformats.org/officeDocument/2006/relationships/image" Target="../media/image13.jpg"/><Relationship Id="rId5" Type="http://schemas.openxmlformats.org/officeDocument/2006/relationships/image" Target="../media/image14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15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16.jpg"/><Relationship Id="rId4" Type="http://schemas.openxmlformats.org/officeDocument/2006/relationships/image" Target="../media/image17.jpg"/><Relationship Id="rId5" Type="http://schemas.openxmlformats.org/officeDocument/2006/relationships/image" Target="../media/image18.jpg"/><Relationship Id="rId6" Type="http://schemas.openxmlformats.org/officeDocument/2006/relationships/image" Target="../media/image19.jpg"/><Relationship Id="rId7" Type="http://schemas.openxmlformats.org/officeDocument/2006/relationships/image" Target="../media/image20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21.jpg"/><Relationship Id="rId4" Type="http://schemas.openxmlformats.org/officeDocument/2006/relationships/image" Target="../media/image22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23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24.jpg"/><Relationship Id="rId4" Type="http://schemas.openxmlformats.org/officeDocument/2006/relationships/image" Target="../media/image25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4" name="Google Shape;84;p13"/>
          <p:cNvGrpSpPr/>
          <p:nvPr/>
        </p:nvGrpSpPr>
        <p:grpSpPr>
          <a:xfrm>
            <a:off x="-803274" y="4586497"/>
            <a:ext cx="11896807" cy="2831587"/>
            <a:chOff x="0" y="-114300"/>
            <a:chExt cx="15862410" cy="3775450"/>
          </a:xfrm>
        </p:grpSpPr>
        <p:sp>
          <p:nvSpPr>
            <p:cNvPr id="85" name="Google Shape;85;p13"/>
            <p:cNvSpPr txBox="1"/>
            <p:nvPr/>
          </p:nvSpPr>
          <p:spPr>
            <a:xfrm>
              <a:off x="0" y="-114300"/>
              <a:ext cx="8473247" cy="13396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6055" u="none" cap="none" strike="noStrike">
                  <a:solidFill>
                    <a:srgbClr val="1D1D1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TEAM</a:t>
              </a:r>
              <a:endParaRPr/>
            </a:p>
          </p:txBody>
        </p:sp>
        <p:sp>
          <p:nvSpPr>
            <p:cNvPr id="86" name="Google Shape;86;p13"/>
            <p:cNvSpPr txBox="1"/>
            <p:nvPr/>
          </p:nvSpPr>
          <p:spPr>
            <a:xfrm>
              <a:off x="4917498" y="1498356"/>
              <a:ext cx="10944912" cy="216279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998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400" u="none" cap="none" strike="noStrike">
                  <a:solidFill>
                    <a:srgbClr val="1D1D1F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 • TEAM NAME: Team Glitch</a:t>
              </a:r>
              <a:endParaRPr/>
            </a:p>
            <a:p>
              <a:pPr indent="0" lvl="0" marL="0" marR="0" rtl="0" algn="l">
                <a:lnSpc>
                  <a:spcPct val="13998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400" u="none" cap="none" strike="noStrike">
                  <a:solidFill>
                    <a:srgbClr val="1D1D1F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 • MEMBERS &amp; ROLES:</a:t>
              </a:r>
              <a:endParaRPr/>
            </a:p>
          </p:txBody>
        </p:sp>
      </p:grpSp>
      <p:pic>
        <p:nvPicPr>
          <p:cNvPr id="87" name="Google Shape;87;p13" title="download (2).jpg"/>
          <p:cNvPicPr preferRelativeResize="0"/>
          <p:nvPr/>
        </p:nvPicPr>
        <p:blipFill rotWithShape="1">
          <a:blip r:embed="rId3">
            <a:alphaModFix/>
          </a:blip>
          <a:srcRect b="0" l="38928" r="16455" t="0"/>
          <a:stretch/>
        </p:blipFill>
        <p:spPr>
          <a:xfrm rot="-5400000">
            <a:off x="7123100" y="-7111200"/>
            <a:ext cx="4088375" cy="18326624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13" title="Group 48097831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8675" y="296224"/>
            <a:ext cx="7240346" cy="791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3" title="Logo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2520575" y="296231"/>
            <a:ext cx="5599601" cy="791925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TextBox 89"/>
          <p:cNvSpPr txBox="1"/>
          <p:nvPr/>
        </p:nvSpPr>
        <p:spPr>
          <a:xfrm>
            <a:off x="3136392" y="6858000"/>
            <a:ext cx="6309360" cy="30175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2000"/>
              </a:lnSpc>
            </a:pPr>
            <a:r>
              <a:rPr sz="2000" b="1">
                <a:solidFill>
                  <a:srgbClr val="1B1F1E"/>
                </a:solidFill>
                <a:latin typeface="Montserrat"/>
              </a:rPr>
              <a:t>Ayush Kumar</a:t>
            </a:r>
          </a:p>
          <a:p>
            <a:pPr algn="l">
              <a:lnSpc>
                <a:spcPct val="112000"/>
              </a:lnSpc>
              <a:spcBef>
                <a:spcPts val="100"/>
              </a:spcBef>
            </a:pPr>
            <a:r>
              <a:rPr sz="1500" b="0">
                <a:solidFill>
                  <a:srgbClr val="555E5B"/>
                </a:solidFill>
                <a:latin typeface="Montserrat"/>
              </a:rPr>
              <a:t>Lead: robot &amp; simulation, vision &amp; AI, shared memory, Hindi voice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2000" b="1">
                <a:solidFill>
                  <a:srgbClr val="1B1F1E"/>
                </a:solidFill>
                <a:latin typeface="Montserrat"/>
              </a:rPr>
              <a:t>Soumya Raghuwanshi</a:t>
            </a:r>
          </a:p>
          <a:p>
            <a:pPr algn="l">
              <a:lnSpc>
                <a:spcPct val="112000"/>
              </a:lnSpc>
              <a:spcBef>
                <a:spcPts val="100"/>
              </a:spcBef>
            </a:pPr>
            <a:r>
              <a:rPr sz="1500" b="0">
                <a:solidFill>
                  <a:srgbClr val="555E5B"/>
                </a:solidFill>
                <a:latin typeface="Montserrat"/>
              </a:rPr>
              <a:t>Research: Indian hospital data and sources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2000" b="1">
                <a:solidFill>
                  <a:srgbClr val="1B1F1E"/>
                </a:solidFill>
                <a:latin typeface="Montserrat"/>
              </a:rPr>
              <a:t>Simran Kumari Keshri</a:t>
            </a:r>
          </a:p>
          <a:p>
            <a:pPr algn="l">
              <a:lnSpc>
                <a:spcPct val="112000"/>
              </a:lnSpc>
              <a:spcBef>
                <a:spcPts val="100"/>
              </a:spcBef>
            </a:pPr>
            <a:r>
              <a:rPr sz="1500" b="0">
                <a:solidFill>
                  <a:srgbClr val="555E5B"/>
                </a:solidFill>
                <a:latin typeface="Montserrat"/>
              </a:rPr>
              <a:t>Testing and pitch: voice tests, demo video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9692640" y="4343400"/>
            <a:ext cx="8046720" cy="9144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2000"/>
              </a:lnSpc>
            </a:pPr>
            <a:r>
              <a:rPr sz="5400" b="1">
                <a:solidFill>
                  <a:srgbClr val="0F5C52"/>
                </a:solidFill>
                <a:latin typeface="Montserrat"/>
              </a:rPr>
              <a:t>SAATHI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9692640" y="5257800"/>
            <a:ext cx="8046720" cy="9144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2000"/>
              </a:lnSpc>
            </a:pPr>
            <a:r>
              <a:rPr sz="2200" b="1">
                <a:solidFill>
                  <a:srgbClr val="1B1F1E"/>
                </a:solidFill>
                <a:latin typeface="Montserrat"/>
              </a:rPr>
              <a:t>A robot guide that reads Indian hospital crowds</a:t>
            </a:r>
          </a:p>
          <a:p>
            <a:pPr algn="l">
              <a:lnSpc>
                <a:spcPct val="112000"/>
              </a:lnSpc>
              <a:spcBef>
                <a:spcPts val="600"/>
              </a:spcBef>
            </a:pPr>
            <a:r>
              <a:rPr sz="1500" b="0">
                <a:solidFill>
                  <a:srgbClr val="555E5B"/>
                </a:solidFill>
                <a:latin typeface="Montserrat"/>
              </a:rPr>
              <a:t>PS-01 · Vision-Based Autonomous Robot · shown in a Webots hospital simulation</a:t>
            </a:r>
          </a:p>
        </p:txBody>
      </p:sp>
      <p:pic>
        <p:nvPicPr>
          <p:cNvPr id="93" name="Picture 92" descr="front_022.02.jpg"/>
          <p:cNvPicPr>
            <a:picLocks noChangeAspect="1"/>
          </p:cNvPicPr>
          <p:nvPr/>
        </p:nvPicPr>
        <p:blipFill>
          <a:blip r:embed="rId6"/>
          <a:srcRect l="78" r="78"/>
          <a:stretch>
            <a:fillRect/>
          </a:stretch>
        </p:blipFill>
        <p:spPr>
          <a:xfrm>
            <a:off x="9692640" y="6400800"/>
            <a:ext cx="6492240" cy="3657600"/>
          </a:xfrm>
          <a:prstGeom prst="rect">
            <a:avLst/>
          </a:prstGeom>
          <a:ln w="9525">
            <a:solidFill>
              <a:srgbClr val="D3DBD6"/>
            </a:solidFill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4"/>
          <p:cNvSpPr txBox="1"/>
          <p:nvPr/>
        </p:nvSpPr>
        <p:spPr>
          <a:xfrm>
            <a:off x="548640" y="1417320"/>
            <a:ext cx="171907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1B1F1E"/>
                </a:solidFill>
                <a:latin typeface="Montserrat"/>
                <a:ea typeface="Montserrat"/>
                <a:cs typeface="Montserrat"/>
                <a:sym typeface="Montserrat"/>
              </a:rPr>
              <a:t>PROBLEM STATEMENT &amp; THEME</a:t>
            </a:r>
            <a:endParaRPr/>
          </a:p>
        </p:txBody>
      </p:sp>
      <p:pic>
        <p:nvPicPr>
          <p:cNvPr id="98" name="Google Shape;98;p14" title="pptn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8288000" cy="1205517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TextBox 98"/>
          <p:cNvSpPr txBox="1"/>
          <p:nvPr/>
        </p:nvSpPr>
        <p:spPr>
          <a:xfrm>
            <a:off x="548640" y="2194560"/>
            <a:ext cx="10972800" cy="10972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2000"/>
              </a:lnSpc>
            </a:pPr>
            <a:r>
              <a:rPr sz="1800" b="1">
                <a:solidFill>
                  <a:srgbClr val="0F5C52"/>
                </a:solidFill>
                <a:latin typeface="Montserrat"/>
              </a:rPr>
              <a:t>PROBLEM</a:t>
            </a:r>
          </a:p>
          <a:p>
            <a:pPr algn="l">
              <a:lnSpc>
                <a:spcPct val="112000"/>
              </a:lnSpc>
              <a:spcBef>
                <a:spcPts val="400"/>
              </a:spcBef>
            </a:pPr>
            <a:r>
              <a:rPr sz="1900" b="0">
                <a:solidFill>
                  <a:srgbClr val="1B1F1E"/>
                </a:solidFill>
                <a:latin typeface="Montserrat"/>
              </a:rPr>
              <a:t>Big Indian OPDs are packed, confusing and signed in English. First-time, elderly and low-literacy patients get lost, and staff leave their work to show them the way.</a:t>
            </a:r>
          </a:p>
        </p:txBody>
      </p:sp>
      <p:sp>
        <p:nvSpPr>
          <p:cNvPr id="100" name="Rounded Rectangle 99"/>
          <p:cNvSpPr/>
          <p:nvPr/>
        </p:nvSpPr>
        <p:spPr>
          <a:xfrm>
            <a:off x="548640" y="3383280"/>
            <a:ext cx="3538728" cy="1874519"/>
          </a:xfrm>
          <a:prstGeom prst="roundRect">
            <a:avLst>
              <a:gd name="adj" fmla="val 6000"/>
            </a:avLst>
          </a:prstGeom>
          <a:solidFill>
            <a:srgbClr val="F2F5F2"/>
          </a:solidFill>
          <a:ln w="12700">
            <a:solidFill>
              <a:srgbClr val="D3DB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731520" y="3474720"/>
            <a:ext cx="3200400" cy="17373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2000"/>
              </a:lnSpc>
            </a:pPr>
            <a:r>
              <a:rPr sz="4400" b="1">
                <a:solidFill>
                  <a:srgbClr val="B8550D"/>
                </a:solidFill>
                <a:latin typeface="Montserrat"/>
              </a:rPr>
              <a:t>14–15k</a:t>
            </a:r>
          </a:p>
          <a:p>
            <a:pPr algn="l">
              <a:lnSpc>
                <a:spcPct val="112000"/>
              </a:lnSpc>
              <a:spcBef>
                <a:spcPts val="200"/>
              </a:spcBef>
            </a:pPr>
            <a:r>
              <a:rPr sz="1600" b="0">
                <a:solidFill>
                  <a:srgbClr val="1B1F1E"/>
                </a:solidFill>
                <a:latin typeface="Montserrat"/>
              </a:rPr>
              <a:t>OPD patients a day at AIIMS Delhi</a:t>
            </a:r>
          </a:p>
        </p:txBody>
      </p:sp>
      <p:sp>
        <p:nvSpPr>
          <p:cNvPr id="102" name="Rounded Rectangle 101"/>
          <p:cNvSpPr/>
          <p:nvPr/>
        </p:nvSpPr>
        <p:spPr>
          <a:xfrm>
            <a:off x="4270248" y="3383280"/>
            <a:ext cx="3538728" cy="1874519"/>
          </a:xfrm>
          <a:prstGeom prst="roundRect">
            <a:avLst>
              <a:gd name="adj" fmla="val 6000"/>
            </a:avLst>
          </a:prstGeom>
          <a:solidFill>
            <a:srgbClr val="F2F5F2"/>
          </a:solidFill>
          <a:ln w="12700">
            <a:solidFill>
              <a:srgbClr val="D3DB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4453128" y="3474720"/>
            <a:ext cx="3200400" cy="17373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2000"/>
              </a:lnSpc>
            </a:pPr>
            <a:r>
              <a:rPr sz="4400" b="1">
                <a:solidFill>
                  <a:srgbClr val="B8550D"/>
                </a:solidFill>
                <a:latin typeface="Montserrat"/>
              </a:rPr>
              <a:t>69.6%</a:t>
            </a:r>
          </a:p>
          <a:p>
            <a:pPr algn="l">
              <a:lnSpc>
                <a:spcPct val="112000"/>
              </a:lnSpc>
              <a:spcBef>
                <a:spcPts val="200"/>
              </a:spcBef>
            </a:pPr>
            <a:r>
              <a:rPr sz="1600" b="0">
                <a:solidFill>
                  <a:srgbClr val="1B1F1E"/>
                </a:solidFill>
                <a:latin typeface="Montserrat"/>
              </a:rPr>
              <a:t>of first-time OPD visitors needed a person to find their way (GMC Bhopal)</a:t>
            </a:r>
          </a:p>
        </p:txBody>
      </p:sp>
      <p:sp>
        <p:nvSpPr>
          <p:cNvPr id="104" name="Rounded Rectangle 103"/>
          <p:cNvSpPr/>
          <p:nvPr/>
        </p:nvSpPr>
        <p:spPr>
          <a:xfrm>
            <a:off x="7991856" y="3383280"/>
            <a:ext cx="3538728" cy="1874519"/>
          </a:xfrm>
          <a:prstGeom prst="roundRect">
            <a:avLst>
              <a:gd name="adj" fmla="val 6000"/>
            </a:avLst>
          </a:prstGeom>
          <a:solidFill>
            <a:srgbClr val="F2F5F2"/>
          </a:solidFill>
          <a:ln w="12700">
            <a:solidFill>
              <a:srgbClr val="D3DB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8174736" y="3474720"/>
            <a:ext cx="3200400" cy="17373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2000"/>
              </a:lnSpc>
            </a:pPr>
            <a:r>
              <a:rPr sz="4400" b="1">
                <a:solidFill>
                  <a:srgbClr val="B8550D"/>
                </a:solidFill>
                <a:latin typeface="Montserrat"/>
              </a:rPr>
              <a:t>3 h+</a:t>
            </a:r>
          </a:p>
          <a:p>
            <a:pPr algn="l">
              <a:lnSpc>
                <a:spcPct val="112000"/>
              </a:lnSpc>
              <a:spcBef>
                <a:spcPts val="200"/>
              </a:spcBef>
            </a:pPr>
            <a:r>
              <a:rPr sz="1600" b="0">
                <a:solidFill>
                  <a:srgbClr val="1B1F1E"/>
                </a:solidFill>
                <a:latin typeface="Montserrat"/>
              </a:rPr>
              <a:t>total OPD wait for 58% of 400 patients (RIMS Ranchi, 2026)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548640" y="5440680"/>
            <a:ext cx="10972800" cy="1463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2000"/>
              </a:lnSpc>
            </a:pPr>
            <a:r>
              <a:rPr sz="1800" b="1">
                <a:solidFill>
                  <a:srgbClr val="0F5C52"/>
                </a:solidFill>
                <a:latin typeface="Montserrat"/>
              </a:rPr>
              <a:t>IMPACT</a:t>
            </a:r>
          </a:p>
          <a:p>
            <a:pPr algn="l">
              <a:lnSpc>
                <a:spcPct val="112000"/>
              </a:lnSpc>
              <a:spcBef>
                <a:spcPts val="400"/>
              </a:spcBef>
            </a:pPr>
            <a:r>
              <a:rPr sz="1900" b="0">
                <a:solidFill>
                  <a:srgbClr val="1B1F1E"/>
                </a:solidFill>
                <a:latin typeface="Montserrat"/>
              </a:rPr>
              <a:t>Hours lost and appointments missed. Help desks and nurses pulled away from care. A fall in a packed hall is noticed late. And today's robot planners either freeze in dense crowds or cut straight through people.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548640" y="7086600"/>
            <a:ext cx="10972800" cy="24688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2000"/>
              </a:lnSpc>
            </a:pPr>
            <a:r>
              <a:rPr sz="1800" b="1">
                <a:solidFill>
                  <a:srgbClr val="0F5C52"/>
                </a:solidFill>
                <a:latin typeface="Montserrat"/>
              </a:rPr>
              <a:t>THEME ALIGNMENT · PS-01 VISION-BASED AUTONOMOUS ROBOT</a:t>
            </a:r>
          </a:p>
          <a:p>
            <a:pPr algn="l">
              <a:lnSpc>
                <a:spcPct val="112000"/>
              </a:lnSpc>
              <a:spcBef>
                <a:spcPts val="500"/>
              </a:spcBef>
            </a:pPr>
            <a:r>
              <a:rPr sz="1800" b="1">
                <a:solidFill>
                  <a:srgbClr val="0F5C52"/>
                </a:solidFill>
                <a:latin typeface="Montserrat"/>
              </a:rPr>
              <a:t>•  </a:t>
            </a:r>
            <a:r>
              <a:rPr sz="1800" b="0">
                <a:solidFill>
                  <a:srgbClr val="1B1F1E"/>
                </a:solidFill>
                <a:latin typeface="Montserrat"/>
              </a:rPr>
              <a:t>AI vision finds and tracks people and objects (YOLO11 + depth camera)</a:t>
            </a:r>
          </a:p>
          <a:p>
            <a:pPr algn="l">
              <a:lnSpc>
                <a:spcPct val="112000"/>
              </a:lnSpc>
              <a:spcBef>
                <a:spcPts val="500"/>
              </a:spcBef>
            </a:pPr>
            <a:r>
              <a:rPr sz="1800" b="1">
                <a:solidFill>
                  <a:srgbClr val="0F5C52"/>
                </a:solidFill>
                <a:latin typeface="Montserrat"/>
              </a:rPr>
              <a:t>•  </a:t>
            </a:r>
            <a:r>
              <a:rPr sz="1800" b="0">
                <a:solidFill>
                  <a:srgbClr val="1B1F1E"/>
                </a:solidFill>
                <a:latin typeface="Montserrat"/>
              </a:rPr>
              <a:t>Drives itself to a goal (any department) while avoiding obstacles and people</a:t>
            </a:r>
          </a:p>
          <a:p>
            <a:pPr algn="l">
              <a:lnSpc>
                <a:spcPct val="112000"/>
              </a:lnSpc>
              <a:spcBef>
                <a:spcPts val="500"/>
              </a:spcBef>
            </a:pPr>
            <a:r>
              <a:rPr sz="1800" b="1">
                <a:solidFill>
                  <a:srgbClr val="0F5C52"/>
                </a:solidFill>
                <a:latin typeface="Montserrat"/>
              </a:rPr>
              <a:t>•  </a:t>
            </a:r>
            <a:r>
              <a:rPr sz="1800" b="0">
                <a:solidFill>
                  <a:srgbClr val="1B1F1E"/>
                </a:solidFill>
                <a:latin typeface="Montserrat"/>
              </a:rPr>
              <a:t>Decides in real time: slow down, give way, side-step, stop</a:t>
            </a:r>
          </a:p>
          <a:p>
            <a:pPr algn="l">
              <a:lnSpc>
                <a:spcPct val="112000"/>
              </a:lnSpc>
              <a:spcBef>
                <a:spcPts val="500"/>
              </a:spcBef>
            </a:pPr>
            <a:r>
              <a:rPr sz="1800" b="1">
                <a:solidFill>
                  <a:srgbClr val="0F5C52"/>
                </a:solidFill>
                <a:latin typeface="Montserrat"/>
              </a:rPr>
              <a:t>•  </a:t>
            </a:r>
            <a:r>
              <a:rPr sz="1800" b="0">
                <a:solidFill>
                  <a:srgbClr val="1B1F1E"/>
                </a:solidFill>
                <a:latin typeface="Montserrat"/>
              </a:rPr>
              <a:t>Shown in a realistic simulated hospital (Webots), which PS-01 allows</a:t>
            </a:r>
          </a:p>
        </p:txBody>
      </p:sp>
      <p:pic>
        <p:nvPicPr>
          <p:cNvPr id="108" name="Picture 107" descr="cctv_004.00.jpg"/>
          <p:cNvPicPr>
            <a:picLocks noChangeAspect="1"/>
          </p:cNvPicPr>
          <p:nvPr/>
        </p:nvPicPr>
        <p:blipFill>
          <a:blip r:embed="rId4"/>
          <a:srcRect l="9091" r="9091"/>
          <a:stretch>
            <a:fillRect/>
          </a:stretch>
        </p:blipFill>
        <p:spPr>
          <a:xfrm>
            <a:off x="11887200" y="2240280"/>
            <a:ext cx="5852160" cy="4023360"/>
          </a:xfrm>
          <a:prstGeom prst="rect">
            <a:avLst/>
          </a:prstGeom>
          <a:ln w="9525">
            <a:solidFill>
              <a:srgbClr val="D3DBD6"/>
            </a:solidFill>
          </a:ln>
        </p:spPr>
      </p:pic>
      <p:sp>
        <p:nvSpPr>
          <p:cNvPr id="109" name="TextBox 108"/>
          <p:cNvSpPr txBox="1"/>
          <p:nvPr/>
        </p:nvSpPr>
        <p:spPr>
          <a:xfrm>
            <a:off x="11887200" y="6327648"/>
            <a:ext cx="5852160" cy="7315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0">
                <a:solidFill>
                  <a:srgbClr val="555E5B"/>
                </a:solidFill>
                <a:latin typeface="Montserrat"/>
              </a:rPr>
              <a:t>Our simulated OPD hall in Webots: Hindi + English signs, token display, pharmacy queue</a:t>
            </a:r>
          </a:p>
        </p:txBody>
      </p:sp>
      <p:sp>
        <p:nvSpPr>
          <p:cNvPr id="110" name="Rounded Rectangle 109"/>
          <p:cNvSpPr/>
          <p:nvPr/>
        </p:nvSpPr>
        <p:spPr>
          <a:xfrm>
            <a:off x="11887200" y="7178040"/>
            <a:ext cx="5852160" cy="2331720"/>
          </a:xfrm>
          <a:prstGeom prst="roundRect">
            <a:avLst>
              <a:gd name="adj" fmla="val 6000"/>
            </a:avLst>
          </a:prstGeom>
          <a:solidFill>
            <a:srgbClr val="DDEE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12115800" y="7296912"/>
            <a:ext cx="5394960" cy="21488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2000"/>
              </a:lnSpc>
            </a:pPr>
            <a:r>
              <a:rPr sz="1800" b="1">
                <a:solidFill>
                  <a:srgbClr val="0F5C52"/>
                </a:solidFill>
                <a:latin typeface="Montserrat"/>
              </a:rPr>
              <a:t>THE GAP</a:t>
            </a:r>
          </a:p>
          <a:p>
            <a:pPr algn="l">
              <a:lnSpc>
                <a:spcPct val="112000"/>
              </a:lnSpc>
              <a:spcBef>
                <a:spcPts val="400"/>
              </a:spcBef>
            </a:pPr>
            <a:r>
              <a:rPr sz="1700" b="0">
                <a:solidFill>
                  <a:srgbClr val="1B1F1E"/>
                </a:solidFill>
                <a:latin typeface="Montserrat"/>
              </a:rPr>
              <a:t>Our 2024–26 search found no wayfinding robot working in an Indian OPD. Guide robots already work in airports abroad (SPENCER at Amsterdam Schiphol); Indian OPD crowds are denser.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548640" y="9710928"/>
            <a:ext cx="1719072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>
                <a:solidFill>
                  <a:srgbClr val="555E5B"/>
                </a:solidFill>
                <a:latin typeface="Montserrat"/>
              </a:rPr>
              <a:t>Sources: AIIMS OPD load: UNI and Free Press Journal, Sep 2026 · GMC Bhopal: IJCMPH 2026 (336 first-time visitors) · RIMS Ranchi: Cureus, 20 Sep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5"/>
          <p:cNvSpPr txBox="1"/>
          <p:nvPr/>
        </p:nvSpPr>
        <p:spPr>
          <a:xfrm>
            <a:off x="548640" y="1417320"/>
            <a:ext cx="171907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1B1F1E"/>
                </a:solidFill>
                <a:latin typeface="Montserrat"/>
                <a:ea typeface="Montserrat"/>
                <a:cs typeface="Montserrat"/>
                <a:sym typeface="Montserrat"/>
              </a:rPr>
              <a:t>SOLUTION</a:t>
            </a:r>
            <a:endParaRPr/>
          </a:p>
        </p:txBody>
      </p:sp>
      <p:pic>
        <p:nvPicPr>
          <p:cNvPr id="107" name="Google Shape;107;p15" title="pptn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8288000" cy="1205517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TextBox 107"/>
          <p:cNvSpPr txBox="1"/>
          <p:nvPr/>
        </p:nvSpPr>
        <p:spPr>
          <a:xfrm>
            <a:off x="548640" y="2148840"/>
            <a:ext cx="11064240" cy="11887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2000"/>
              </a:lnSpc>
            </a:pPr>
            <a:r>
              <a:rPr sz="2000" b="1">
                <a:solidFill>
                  <a:srgbClr val="1B1F1E"/>
                </a:solidFill>
                <a:latin typeface="Montserrat"/>
              </a:rPr>
              <a:t>Saathi is an autonomous guide robot for hospital OPDs. </a:t>
            </a:r>
            <a:r>
              <a:rPr sz="2000" b="0">
                <a:solidFill>
                  <a:srgbClr val="1B1F1E"/>
                </a:solidFill>
                <a:latin typeface="Montserrat"/>
              </a:rPr>
              <a:t>Say “Mujhe X-ray karwana hai” and it walks you to Radiology at your pace, reading the crowd with its camera, and it can explain every move.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548640" y="3337560"/>
            <a:ext cx="1097280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2000"/>
              </a:lnSpc>
            </a:pPr>
            <a:r>
              <a:rPr sz="1800" b="1">
                <a:solidFill>
                  <a:srgbClr val="0F5C52"/>
                </a:solidFill>
                <a:latin typeface="Montserrat"/>
              </a:rPr>
              <a:t>KEY FEATURES</a:t>
            </a:r>
          </a:p>
        </p:txBody>
      </p:sp>
      <p:sp>
        <p:nvSpPr>
          <p:cNvPr id="110" name="Rounded Rectangle 109"/>
          <p:cNvSpPr/>
          <p:nvPr/>
        </p:nvSpPr>
        <p:spPr>
          <a:xfrm>
            <a:off x="548640" y="3749039"/>
            <a:ext cx="3538728" cy="1709928"/>
          </a:xfrm>
          <a:prstGeom prst="roundRect">
            <a:avLst>
              <a:gd name="adj" fmla="val 6000"/>
            </a:avLst>
          </a:prstGeom>
          <a:solidFill>
            <a:srgbClr val="F2F5F2"/>
          </a:solidFill>
          <a:ln w="12700">
            <a:solidFill>
              <a:srgbClr val="D3DB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713232" y="3858768"/>
            <a:ext cx="3200400" cy="1508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2000"/>
              </a:lnSpc>
            </a:pPr>
            <a:r>
              <a:rPr sz="1700" b="1">
                <a:solidFill>
                  <a:srgbClr val="0F5C52"/>
                </a:solidFill>
                <a:latin typeface="Montserrat"/>
              </a:rPr>
              <a:t>Talks like a person</a:t>
            </a:r>
          </a:p>
          <a:p>
            <a:pPr algn="l">
              <a:lnSpc>
                <a:spcPct val="112000"/>
              </a:lnSpc>
              <a:spcBef>
                <a:spcPts val="400"/>
              </a:spcBef>
            </a:pPr>
            <a:r>
              <a:rPr sz="1550" b="0">
                <a:solidFill>
                  <a:srgbClr val="1B1F1E"/>
                </a:solidFill>
                <a:latin typeface="Montserrat"/>
              </a:rPr>
              <a:t>Hindi, Hinglish or English. Asks when unsure: “Kaunsa red shirt?”</a:t>
            </a:r>
          </a:p>
        </p:txBody>
      </p:sp>
      <p:sp>
        <p:nvSpPr>
          <p:cNvPr id="112" name="Rounded Rectangle 111"/>
          <p:cNvSpPr/>
          <p:nvPr/>
        </p:nvSpPr>
        <p:spPr>
          <a:xfrm>
            <a:off x="4270248" y="3749039"/>
            <a:ext cx="3538728" cy="1709928"/>
          </a:xfrm>
          <a:prstGeom prst="roundRect">
            <a:avLst>
              <a:gd name="adj" fmla="val 6000"/>
            </a:avLst>
          </a:prstGeom>
          <a:solidFill>
            <a:srgbClr val="F2F5F2"/>
          </a:solidFill>
          <a:ln w="12700">
            <a:solidFill>
              <a:srgbClr val="D3DB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4434840" y="3858768"/>
            <a:ext cx="3200400" cy="1508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2000"/>
              </a:lnSpc>
            </a:pPr>
            <a:r>
              <a:rPr sz="1700" b="1">
                <a:solidFill>
                  <a:srgbClr val="0F5C52"/>
                </a:solidFill>
                <a:latin typeface="Montserrat"/>
              </a:rPr>
              <a:t>Reads the crowd</a:t>
            </a:r>
          </a:p>
          <a:p>
            <a:pPr algn="l">
              <a:lnSpc>
                <a:spcPct val="112000"/>
              </a:lnSpc>
              <a:spcBef>
                <a:spcPts val="400"/>
              </a:spcBef>
            </a:pPr>
            <a:r>
              <a:rPr sz="1550" b="0">
                <a:solidFill>
                  <a:srgbClr val="1B1F1E"/>
                </a:solidFill>
                <a:latin typeface="Montserrat"/>
              </a:rPr>
              <a:t>Predicts where each person will be in 2 s. Never cuts through a conversation; wheelchairs go first.</a:t>
            </a:r>
          </a:p>
        </p:txBody>
      </p:sp>
      <p:sp>
        <p:nvSpPr>
          <p:cNvPr id="114" name="Rounded Rectangle 113"/>
          <p:cNvSpPr/>
          <p:nvPr/>
        </p:nvSpPr>
        <p:spPr>
          <a:xfrm>
            <a:off x="7991856" y="3749039"/>
            <a:ext cx="3538728" cy="1709928"/>
          </a:xfrm>
          <a:prstGeom prst="roundRect">
            <a:avLst>
              <a:gd name="adj" fmla="val 6000"/>
            </a:avLst>
          </a:prstGeom>
          <a:solidFill>
            <a:srgbClr val="F2F5F2"/>
          </a:solidFill>
          <a:ln w="12700">
            <a:solidFill>
              <a:srgbClr val="D3DB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8156448" y="3858768"/>
            <a:ext cx="3200400" cy="1508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2000"/>
              </a:lnSpc>
            </a:pPr>
            <a:r>
              <a:rPr sz="1700" b="1">
                <a:solidFill>
                  <a:srgbClr val="0F5C52"/>
                </a:solidFill>
                <a:latin typeface="Montserrat"/>
              </a:rPr>
              <a:t>Side-steps, keeps left</a:t>
            </a:r>
          </a:p>
          <a:p>
            <a:pPr algn="l">
              <a:lnSpc>
                <a:spcPct val="112000"/>
              </a:lnSpc>
              <a:spcBef>
                <a:spcPts val="400"/>
              </a:spcBef>
            </a:pPr>
            <a:r>
              <a:rPr sz="1550" b="0">
                <a:solidFill>
                  <a:srgbClr val="1B1F1E"/>
                </a:solidFill>
                <a:latin typeface="Montserrat"/>
              </a:rPr>
              <a:t>Mecanum wheels slide it aside instead of stopping dead in a busy corridor.</a:t>
            </a:r>
          </a:p>
        </p:txBody>
      </p:sp>
      <p:sp>
        <p:nvSpPr>
          <p:cNvPr id="116" name="Rounded Rectangle 115"/>
          <p:cNvSpPr/>
          <p:nvPr/>
        </p:nvSpPr>
        <p:spPr>
          <a:xfrm>
            <a:off x="548640" y="5596127"/>
            <a:ext cx="3538728" cy="1709928"/>
          </a:xfrm>
          <a:prstGeom prst="roundRect">
            <a:avLst>
              <a:gd name="adj" fmla="val 6000"/>
            </a:avLst>
          </a:prstGeom>
          <a:solidFill>
            <a:srgbClr val="F2F5F2"/>
          </a:solidFill>
          <a:ln w="12700">
            <a:solidFill>
              <a:srgbClr val="D3DB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713232" y="5705855"/>
            <a:ext cx="3200400" cy="1508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2000"/>
              </a:lnSpc>
            </a:pPr>
            <a:r>
              <a:rPr sz="1700" b="1">
                <a:solidFill>
                  <a:srgbClr val="0F5C52"/>
                </a:solidFill>
                <a:latin typeface="Montserrat"/>
              </a:rPr>
              <a:t>Finds things</a:t>
            </a:r>
          </a:p>
          <a:p>
            <a:pPr algn="l">
              <a:lnSpc>
                <a:spcPct val="112000"/>
              </a:lnSpc>
              <a:spcBef>
                <a:spcPts val="400"/>
              </a:spcBef>
            </a:pPr>
            <a:r>
              <a:rPr sz="1550" b="0">
                <a:solidFill>
                  <a:srgbClr val="1B1F1E"/>
                </a:solidFill>
                <a:latin typeface="Montserrat"/>
              </a:rPr>
              <a:t>“Dustbin dhoondo”: open-vocabulary detection finds it by name, and Saathi drives there.</a:t>
            </a:r>
          </a:p>
        </p:txBody>
      </p:sp>
      <p:sp>
        <p:nvSpPr>
          <p:cNvPr id="118" name="Rounded Rectangle 117"/>
          <p:cNvSpPr/>
          <p:nvPr/>
        </p:nvSpPr>
        <p:spPr>
          <a:xfrm>
            <a:off x="4270248" y="5596127"/>
            <a:ext cx="3538728" cy="1709928"/>
          </a:xfrm>
          <a:prstGeom prst="roundRect">
            <a:avLst>
              <a:gd name="adj" fmla="val 6000"/>
            </a:avLst>
          </a:prstGeom>
          <a:solidFill>
            <a:srgbClr val="F2F5F2"/>
          </a:solidFill>
          <a:ln w="12700">
            <a:solidFill>
              <a:srgbClr val="D3DB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434840" y="5705855"/>
            <a:ext cx="3200400" cy="1508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2000"/>
              </a:lnSpc>
            </a:pPr>
            <a:r>
              <a:rPr sz="1700" b="1">
                <a:solidFill>
                  <a:srgbClr val="0F5C52"/>
                </a:solidFill>
                <a:latin typeface="Montserrat"/>
              </a:rPr>
              <a:t>Watches out</a:t>
            </a:r>
          </a:p>
          <a:p>
            <a:pPr algn="l">
              <a:lnSpc>
                <a:spcPct val="112000"/>
              </a:lnSpc>
              <a:spcBef>
                <a:spcPts val="400"/>
              </a:spcBef>
            </a:pPr>
            <a:r>
              <a:rPr sz="1550" b="0">
                <a:solidFill>
                  <a:srgbClr val="1B1F1E"/>
                </a:solidFill>
                <a:latin typeface="Montserrat"/>
              </a:rPr>
              <a:t>Spots a fall, alerts the nurse station and stays with the patient.</a:t>
            </a:r>
          </a:p>
        </p:txBody>
      </p:sp>
      <p:sp>
        <p:nvSpPr>
          <p:cNvPr id="120" name="Rounded Rectangle 119"/>
          <p:cNvSpPr/>
          <p:nvPr/>
        </p:nvSpPr>
        <p:spPr>
          <a:xfrm>
            <a:off x="7991856" y="5596127"/>
            <a:ext cx="3538728" cy="1709928"/>
          </a:xfrm>
          <a:prstGeom prst="roundRect">
            <a:avLst>
              <a:gd name="adj" fmla="val 6000"/>
            </a:avLst>
          </a:prstGeom>
          <a:solidFill>
            <a:srgbClr val="F2F5F2"/>
          </a:solidFill>
          <a:ln w="12700">
            <a:solidFill>
              <a:srgbClr val="D3DB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8156448" y="5705855"/>
            <a:ext cx="3200400" cy="1508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2000"/>
              </a:lnSpc>
            </a:pPr>
            <a:r>
              <a:rPr sz="1700" b="1">
                <a:solidFill>
                  <a:srgbClr val="0F5C52"/>
                </a:solidFill>
                <a:latin typeface="Montserrat"/>
              </a:rPr>
              <a:t>Safe by design</a:t>
            </a:r>
          </a:p>
          <a:p>
            <a:pPr algn="l">
              <a:lnSpc>
                <a:spcPct val="112000"/>
              </a:lnSpc>
              <a:spcBef>
                <a:spcPts val="400"/>
              </a:spcBef>
            </a:pPr>
            <a:r>
              <a:rPr sz="1550" b="0">
                <a:solidFill>
                  <a:srgbClr val="1B1F1E"/>
                </a:solidFill>
                <a:latin typeface="Montserrat"/>
              </a:rPr>
              <a:t>Hard stop under 0.6 m, and a fist gesture stops it. The AI cannot override either.</a:t>
            </a:r>
          </a:p>
        </p:txBody>
      </p:sp>
      <p:sp>
        <p:nvSpPr>
          <p:cNvPr id="122" name="Rounded Rectangle 121"/>
          <p:cNvSpPr/>
          <p:nvPr/>
        </p:nvSpPr>
        <p:spPr>
          <a:xfrm>
            <a:off x="548640" y="7589520"/>
            <a:ext cx="11036808" cy="1965960"/>
          </a:xfrm>
          <a:prstGeom prst="roundRect">
            <a:avLst>
              <a:gd name="adj" fmla="val 6000"/>
            </a:avLst>
          </a:prstGeom>
          <a:solidFill>
            <a:srgbClr val="0F5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777240" y="7699248"/>
            <a:ext cx="10607040" cy="1783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2000"/>
              </a:lnSpc>
            </a:pPr>
            <a:r>
              <a:rPr sz="1700" b="1">
                <a:solidFill>
                  <a:srgbClr val="DDEEE9"/>
                </a:solidFill>
                <a:latin typeface="Montserrat"/>
              </a:rPr>
              <a:t>UNIQUE VALUE: EXPLAINABLE, TESTED, BUILT FOR INDIAN CROWDS</a:t>
            </a:r>
          </a:p>
          <a:p>
            <a:pPr algn="l">
              <a:lnSpc>
                <a:spcPct val="112000"/>
              </a:lnSpc>
              <a:spcBef>
                <a:spcPts val="400"/>
              </a:spcBef>
            </a:pPr>
            <a:r>
              <a:rPr sz="1700" b="0">
                <a:solidFill>
                  <a:srgbClr val="FFFFFF"/>
                </a:solidFill>
                <a:latin typeface="Montserrat"/>
              </a:rPr>
              <a:t>A black box records every decision with its camera frame and reason, so “Tum ruke kyun?” gets an answer with proof. In 200 seeded crowds Saathi had 73% fewer near-misses than a normal robot and never cut through a conversation.</a:t>
            </a:r>
          </a:p>
          <a:p>
            <a:pPr algn="l">
              <a:lnSpc>
                <a:spcPct val="112000"/>
              </a:lnSpc>
              <a:spcBef>
                <a:spcPts val="600"/>
              </a:spcBef>
            </a:pPr>
            <a:r>
              <a:rPr sz="1700" b="1">
                <a:solidFill>
                  <a:srgbClr val="DDEEE9"/>
                </a:solidFill>
                <a:latin typeface="Montserrat"/>
              </a:rPr>
              <a:t>Next: Saathi Parivaar. Robots that share one memory of people find a lost child where he is now, not where he was seen.</a:t>
            </a:r>
          </a:p>
        </p:txBody>
      </p:sp>
      <p:pic>
        <p:nvPicPr>
          <p:cNvPr id="124" name="Picture 123" descr="robot_cam_169.jpg"/>
          <p:cNvPicPr>
            <a:picLocks noChangeAspect="1"/>
          </p:cNvPicPr>
          <p:nvPr/>
        </p:nvPicPr>
        <p:blipFill>
          <a:blip r:embed="rId4"/>
          <a:srcRect t="0" b="0"/>
          <a:stretch>
            <a:fillRect/>
          </a:stretch>
        </p:blipFill>
        <p:spPr>
          <a:xfrm>
            <a:off x="11887200" y="2240280"/>
            <a:ext cx="5852160" cy="3291840"/>
          </a:xfrm>
          <a:prstGeom prst="rect">
            <a:avLst/>
          </a:prstGeom>
          <a:ln w="9525">
            <a:solidFill>
              <a:srgbClr val="D3DBD6"/>
            </a:solidFill>
          </a:ln>
        </p:spPr>
      </p:pic>
      <p:sp>
        <p:nvSpPr>
          <p:cNvPr id="125" name="TextBox 124"/>
          <p:cNvSpPr txBox="1"/>
          <p:nvPr/>
        </p:nvSpPr>
        <p:spPr>
          <a:xfrm>
            <a:off x="11887200" y="5577840"/>
            <a:ext cx="585216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0">
                <a:solidFill>
                  <a:srgbClr val="555E5B"/>
                </a:solidFill>
                <a:latin typeface="Montserrat"/>
              </a:rPr>
              <a:t>What Saathi sees: YOLO11s boxes, track IDs and distance from its depth camera</a:t>
            </a:r>
          </a:p>
        </p:txBody>
      </p:sp>
      <p:pic>
        <p:nvPicPr>
          <p:cNvPr id="126" name="Picture 125" descr="chase_012.00.jpg"/>
          <p:cNvPicPr>
            <a:picLocks noChangeAspect="1"/>
          </p:cNvPicPr>
          <p:nvPr/>
        </p:nvPicPr>
        <p:blipFill>
          <a:blip r:embed="rId5"/>
          <a:srcRect t="2778" b="2778"/>
          <a:stretch>
            <a:fillRect/>
          </a:stretch>
        </p:blipFill>
        <p:spPr>
          <a:xfrm>
            <a:off x="11887200" y="6172200"/>
            <a:ext cx="5852160" cy="3108960"/>
          </a:xfrm>
          <a:prstGeom prst="rect">
            <a:avLst/>
          </a:prstGeom>
          <a:ln w="9525">
            <a:solidFill>
              <a:srgbClr val="D3DBD6"/>
            </a:solidFill>
          </a:ln>
        </p:spPr>
      </p:pic>
      <p:sp>
        <p:nvSpPr>
          <p:cNvPr id="127" name="TextBox 126"/>
          <p:cNvSpPr txBox="1"/>
          <p:nvPr/>
        </p:nvSpPr>
        <p:spPr>
          <a:xfrm>
            <a:off x="11887200" y="9326880"/>
            <a:ext cx="585216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0">
                <a:solidFill>
                  <a:srgbClr val="555E5B"/>
                </a:solidFill>
                <a:latin typeface="Montserrat"/>
              </a:rPr>
              <a:t>Moving through the OPD crowd (Webots simulation)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6"/>
          <p:cNvSpPr txBox="1"/>
          <p:nvPr/>
        </p:nvSpPr>
        <p:spPr>
          <a:xfrm>
            <a:off x="548640" y="1417320"/>
            <a:ext cx="171907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1B1F1E"/>
                </a:solidFill>
                <a:latin typeface="Montserrat"/>
                <a:ea typeface="Montserrat"/>
                <a:cs typeface="Montserrat"/>
                <a:sym typeface="Montserrat"/>
              </a:rPr>
              <a:t>ARCHITECTURE</a:t>
            </a:r>
            <a:endParaRPr/>
          </a:p>
        </p:txBody>
      </p:sp>
      <p:pic>
        <p:nvPicPr>
          <p:cNvPr id="116" name="Google Shape;116;p16" title="pptn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8288000" cy="1205517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Rounded Rectangle 116"/>
          <p:cNvSpPr/>
          <p:nvPr/>
        </p:nvSpPr>
        <p:spPr>
          <a:xfrm>
            <a:off x="548640" y="2194560"/>
            <a:ext cx="3017520" cy="1508760"/>
          </a:xfrm>
          <a:prstGeom prst="roundRect">
            <a:avLst>
              <a:gd name="adj" fmla="val 6000"/>
            </a:avLst>
          </a:prstGeom>
          <a:solidFill>
            <a:srgbClr val="F2F5F2"/>
          </a:solidFill>
          <a:ln w="12700">
            <a:solidFill>
              <a:srgbClr val="D3DB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713232" y="2304288"/>
            <a:ext cx="2688336" cy="128930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2000"/>
              </a:lnSpc>
            </a:pPr>
            <a:r>
              <a:rPr sz="1600" b="1">
                <a:solidFill>
                  <a:srgbClr val="0F5C52"/>
                </a:solidFill>
                <a:latin typeface="Montserrat"/>
              </a:rPr>
              <a:t>SENSORS</a:t>
            </a:r>
          </a:p>
          <a:p>
            <a:pPr algn="l">
              <a:lnSpc>
                <a:spcPct val="112000"/>
              </a:lnSpc>
              <a:spcBef>
                <a:spcPts val="400"/>
              </a:spcBef>
            </a:pPr>
            <a:r>
              <a:rPr sz="1500" b="0">
                <a:solidFill>
                  <a:srgbClr val="1B1F1E"/>
                </a:solidFill>
                <a:latin typeface="Montserrat"/>
              </a:rPr>
              <a:t>Stereo RGB camera · depth camera · 360° LiDAR · IMU · ultrasonic</a:t>
            </a:r>
          </a:p>
        </p:txBody>
      </p:sp>
      <p:sp>
        <p:nvSpPr>
          <p:cNvPr id="119" name="Rounded Rectangle 118"/>
          <p:cNvSpPr/>
          <p:nvPr/>
        </p:nvSpPr>
        <p:spPr>
          <a:xfrm>
            <a:off x="4114800" y="2194560"/>
            <a:ext cx="5120640" cy="1508760"/>
          </a:xfrm>
          <a:prstGeom prst="roundRect">
            <a:avLst>
              <a:gd name="adj" fmla="val 6000"/>
            </a:avLst>
          </a:prstGeom>
          <a:solidFill>
            <a:srgbClr val="DDEEE9"/>
          </a:solidFill>
          <a:ln w="12700">
            <a:solidFill>
              <a:srgbClr val="D3DB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4279392" y="2304288"/>
            <a:ext cx="4791455" cy="128930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2000"/>
              </a:lnSpc>
            </a:pPr>
            <a:r>
              <a:rPr sz="1600" b="1">
                <a:solidFill>
                  <a:srgbClr val="0F5C52"/>
                </a:solidFill>
                <a:latin typeface="Montserrat"/>
              </a:rPr>
              <a:t>REFLEX BRAIN · 30 Hz</a:t>
            </a:r>
          </a:p>
          <a:p>
            <a:pPr algn="l">
              <a:lnSpc>
                <a:spcPct val="112000"/>
              </a:lnSpc>
              <a:spcBef>
                <a:spcPts val="400"/>
              </a:spcBef>
            </a:pPr>
            <a:r>
              <a:rPr sz="1500" b="0">
                <a:solidFill>
                  <a:srgbClr val="1B1F1E"/>
                </a:solidFill>
                <a:latin typeface="Montserrat"/>
              </a:rPr>
              <a:t>YOLO11 + depth + LiDAR → people with speed; depth finds what the map lacks · A* on a crowd costmap</a:t>
            </a:r>
          </a:p>
        </p:txBody>
      </p:sp>
      <p:sp>
        <p:nvSpPr>
          <p:cNvPr id="121" name="Rounded Rectangle 120"/>
          <p:cNvSpPr/>
          <p:nvPr/>
        </p:nvSpPr>
        <p:spPr>
          <a:xfrm>
            <a:off x="9784080" y="2194560"/>
            <a:ext cx="3291840" cy="1508760"/>
          </a:xfrm>
          <a:prstGeom prst="roundRect">
            <a:avLst>
              <a:gd name="adj" fmla="val 6000"/>
            </a:avLst>
          </a:prstGeom>
          <a:solidFill>
            <a:srgbClr val="FBECE2"/>
          </a:solidFill>
          <a:ln w="12700">
            <a:solidFill>
              <a:srgbClr val="D3DB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9948672" y="2304288"/>
            <a:ext cx="2962656" cy="128930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2000"/>
              </a:lnSpc>
            </a:pPr>
            <a:r>
              <a:rPr sz="1600" b="1">
                <a:solidFill>
                  <a:srgbClr val="B8550D"/>
                </a:solidFill>
                <a:latin typeface="Montserrat"/>
              </a:rPr>
              <a:t>SAFETY GUARD</a:t>
            </a:r>
          </a:p>
          <a:p>
            <a:pPr algn="l">
              <a:lnSpc>
                <a:spcPct val="112000"/>
              </a:lnSpc>
              <a:spcBef>
                <a:spcPts val="400"/>
              </a:spcBef>
            </a:pPr>
            <a:r>
              <a:rPr sz="1500" b="0">
                <a:solidFill>
                  <a:srgbClr val="1B1F1E"/>
                </a:solidFill>
                <a:latin typeface="Montserrat"/>
              </a:rPr>
              <a:t>Runs on LiDAR, not the AI: stops under 0.6 m. A fist gesture stops it.</a:t>
            </a:r>
          </a:p>
        </p:txBody>
      </p:sp>
      <p:sp>
        <p:nvSpPr>
          <p:cNvPr id="123" name="Rounded Rectangle 122"/>
          <p:cNvSpPr/>
          <p:nvPr/>
        </p:nvSpPr>
        <p:spPr>
          <a:xfrm>
            <a:off x="13624560" y="2194560"/>
            <a:ext cx="4114800" cy="1508760"/>
          </a:xfrm>
          <a:prstGeom prst="roundRect">
            <a:avLst>
              <a:gd name="adj" fmla="val 6000"/>
            </a:avLst>
          </a:prstGeom>
          <a:solidFill>
            <a:srgbClr val="F2F5F2"/>
          </a:solidFill>
          <a:ln w="12700">
            <a:solidFill>
              <a:srgbClr val="D3DB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13789152" y="2304288"/>
            <a:ext cx="3785615" cy="128930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2000"/>
              </a:lnSpc>
            </a:pPr>
            <a:r>
              <a:rPr sz="1600" b="1">
                <a:solidFill>
                  <a:srgbClr val="0F5C52"/>
                </a:solidFill>
                <a:latin typeface="Montserrat"/>
              </a:rPr>
              <a:t>MOTOR CONTROL</a:t>
            </a:r>
          </a:p>
          <a:p>
            <a:pPr algn="l">
              <a:lnSpc>
                <a:spcPct val="112000"/>
              </a:lnSpc>
              <a:spcBef>
                <a:spcPts val="400"/>
              </a:spcBef>
            </a:pPr>
            <a:r>
              <a:rPr sz="1500" b="0">
                <a:solidFill>
                  <a:srgbClr val="1B1F1E"/>
                </a:solidFill>
                <a:latin typeface="Montserrat"/>
              </a:rPr>
              <a:t>Body velocity → four mecanum wheel speeds (inverse kinematics)</a:t>
            </a:r>
          </a:p>
        </p:txBody>
      </p:sp>
      <p:sp>
        <p:nvSpPr>
          <p:cNvPr id="125" name="Rounded Rectangle 124"/>
          <p:cNvSpPr/>
          <p:nvPr/>
        </p:nvSpPr>
        <p:spPr>
          <a:xfrm>
            <a:off x="548640" y="4343400"/>
            <a:ext cx="3017520" cy="1508760"/>
          </a:xfrm>
          <a:prstGeom prst="roundRect">
            <a:avLst>
              <a:gd name="adj" fmla="val 6000"/>
            </a:avLst>
          </a:prstGeom>
          <a:solidFill>
            <a:srgbClr val="F2F5F2"/>
          </a:solidFill>
          <a:ln w="12700">
            <a:solidFill>
              <a:srgbClr val="D3DB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713232" y="4453128"/>
            <a:ext cx="2688336" cy="128930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2000"/>
              </a:lnSpc>
            </a:pPr>
            <a:r>
              <a:rPr sz="1600" b="1">
                <a:solidFill>
                  <a:srgbClr val="0F5C52"/>
                </a:solidFill>
                <a:latin typeface="Montserrat"/>
              </a:rPr>
              <a:t>YOU</a:t>
            </a:r>
          </a:p>
          <a:p>
            <a:pPr algn="l">
              <a:lnSpc>
                <a:spcPct val="112000"/>
              </a:lnSpc>
              <a:spcBef>
                <a:spcPts val="400"/>
              </a:spcBef>
            </a:pPr>
            <a:r>
              <a:rPr sz="1500" b="0">
                <a:solidFill>
                  <a:srgbClr val="1B1F1E"/>
                </a:solidFill>
                <a:latin typeface="Montserrat"/>
              </a:rPr>
              <a:t>Voice (Hindi speech-to-text) · typing · hand gesture</a:t>
            </a:r>
          </a:p>
        </p:txBody>
      </p:sp>
      <p:sp>
        <p:nvSpPr>
          <p:cNvPr id="127" name="Rounded Rectangle 126"/>
          <p:cNvSpPr/>
          <p:nvPr/>
        </p:nvSpPr>
        <p:spPr>
          <a:xfrm>
            <a:off x="4114800" y="4343400"/>
            <a:ext cx="5120640" cy="1508760"/>
          </a:xfrm>
          <a:prstGeom prst="roundRect">
            <a:avLst>
              <a:gd name="adj" fmla="val 6000"/>
            </a:avLst>
          </a:prstGeom>
          <a:solidFill>
            <a:srgbClr val="DDEEE9"/>
          </a:solidFill>
          <a:ln w="12700">
            <a:solidFill>
              <a:srgbClr val="D3DB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4279392" y="4453128"/>
            <a:ext cx="4791455" cy="128930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2000"/>
              </a:lnSpc>
            </a:pPr>
            <a:r>
              <a:rPr sz="1600" b="1">
                <a:solidFill>
                  <a:srgbClr val="0F5C52"/>
                </a:solidFill>
                <a:latin typeface="Montserrat"/>
              </a:rPr>
              <a:t>THINKING BRAIN · LLM + VLM</a:t>
            </a:r>
          </a:p>
          <a:p>
            <a:pPr algn="l">
              <a:lnSpc>
                <a:spcPct val="112000"/>
              </a:lnSpc>
              <a:spcBef>
                <a:spcPts val="400"/>
              </a:spcBef>
            </a:pPr>
            <a:r>
              <a:rPr sz="1500" b="0">
                <a:solidFill>
                  <a:srgbClr val="1B1F1E"/>
                </a:solidFill>
                <a:latin typeface="Montserrat"/>
              </a:rPr>
              <a:t>LLM talks Hinglish and plans; a small VLM (Qwen3.5-2B) describes scenes and reads signs</a:t>
            </a:r>
          </a:p>
        </p:txBody>
      </p:sp>
      <p:sp>
        <p:nvSpPr>
          <p:cNvPr id="129" name="Rounded Rectangle 128"/>
          <p:cNvSpPr/>
          <p:nvPr/>
        </p:nvSpPr>
        <p:spPr>
          <a:xfrm>
            <a:off x="9784080" y="4343400"/>
            <a:ext cx="3291840" cy="1508760"/>
          </a:xfrm>
          <a:prstGeom prst="roundRect">
            <a:avLst>
              <a:gd name="adj" fmla="val 6000"/>
            </a:avLst>
          </a:prstGeom>
          <a:solidFill>
            <a:srgbClr val="F2F5F2"/>
          </a:solidFill>
          <a:ln w="12700">
            <a:solidFill>
              <a:srgbClr val="D3DB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9948672" y="4453128"/>
            <a:ext cx="2962656" cy="128930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2000"/>
              </a:lnSpc>
            </a:pPr>
            <a:r>
              <a:rPr sz="1600" b="1">
                <a:solidFill>
                  <a:srgbClr val="0F5C52"/>
                </a:solidFill>
                <a:latin typeface="Montserrat"/>
              </a:rPr>
              <a:t>BLACK BOX</a:t>
            </a:r>
          </a:p>
          <a:p>
            <a:pPr algn="l">
              <a:lnSpc>
                <a:spcPct val="112000"/>
              </a:lnSpc>
              <a:spcBef>
                <a:spcPts val="400"/>
              </a:spcBef>
            </a:pPr>
            <a:r>
              <a:rPr sz="1500" b="0">
                <a:solidFill>
                  <a:srgbClr val="1B1F1E"/>
                </a:solidFill>
                <a:latin typeface="Montserrat"/>
              </a:rPr>
              <a:t>Every decision: camera frame + reason. Answers “why?”</a:t>
            </a:r>
          </a:p>
        </p:txBody>
      </p:sp>
      <p:sp>
        <p:nvSpPr>
          <p:cNvPr id="131" name="Rounded Rectangle 130"/>
          <p:cNvSpPr/>
          <p:nvPr/>
        </p:nvSpPr>
        <p:spPr>
          <a:xfrm>
            <a:off x="13624560" y="4343400"/>
            <a:ext cx="4114800" cy="1508760"/>
          </a:xfrm>
          <a:prstGeom prst="roundRect">
            <a:avLst>
              <a:gd name="adj" fmla="val 6000"/>
            </a:avLst>
          </a:prstGeom>
          <a:solidFill>
            <a:srgbClr val="F2F5F2"/>
          </a:solidFill>
          <a:ln w="12700">
            <a:solidFill>
              <a:srgbClr val="D3DB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13789152" y="4453128"/>
            <a:ext cx="3785615" cy="128930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2000"/>
              </a:lnSpc>
            </a:pPr>
            <a:r>
              <a:rPr sz="1600" b="1">
                <a:solidFill>
                  <a:srgbClr val="0F5C52"/>
                </a:solidFill>
                <a:latin typeface="Montserrat"/>
              </a:rPr>
              <a:t>RUNS ON</a:t>
            </a:r>
          </a:p>
          <a:p>
            <a:pPr algn="l">
              <a:lnSpc>
                <a:spcPct val="112000"/>
              </a:lnSpc>
              <a:spcBef>
                <a:spcPts val="400"/>
              </a:spcBef>
            </a:pPr>
            <a:r>
              <a:rPr sz="1500" b="0">
                <a:solidFill>
                  <a:srgbClr val="1B1F1E"/>
                </a:solidFill>
                <a:latin typeface="Montserrat"/>
              </a:rPr>
              <a:t>Today: an 8 GB M1 MacBook Air. Robot: Jetson Orin Nano (planned)</a:t>
            </a:r>
          </a:p>
        </p:txBody>
      </p:sp>
      <p:cxnSp>
        <p:nvCxnSpPr>
          <p:cNvPr id="133" name="Connector 132"/>
          <p:cNvCxnSpPr/>
          <p:nvPr/>
        </p:nvCxnSpPr>
        <p:spPr>
          <a:xfrm>
            <a:off x="3566160" y="2948939"/>
            <a:ext cx="548640" cy="0"/>
          </a:xfrm>
          <a:prstGeom prst="line">
            <a:avLst/>
          </a:prstGeom>
          <a:ln w="25400">
            <a:solidFill>
              <a:srgbClr val="555E5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Connector 133"/>
          <p:cNvCxnSpPr/>
          <p:nvPr/>
        </p:nvCxnSpPr>
        <p:spPr>
          <a:xfrm>
            <a:off x="9235440" y="2948939"/>
            <a:ext cx="548640" cy="0"/>
          </a:xfrm>
          <a:prstGeom prst="line">
            <a:avLst/>
          </a:prstGeom>
          <a:ln w="25400">
            <a:solidFill>
              <a:srgbClr val="555E5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Connector 134"/>
          <p:cNvCxnSpPr/>
          <p:nvPr/>
        </p:nvCxnSpPr>
        <p:spPr>
          <a:xfrm>
            <a:off x="13075920" y="2948939"/>
            <a:ext cx="548640" cy="0"/>
          </a:xfrm>
          <a:prstGeom prst="line">
            <a:avLst/>
          </a:prstGeom>
          <a:ln w="25400">
            <a:solidFill>
              <a:srgbClr val="555E5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Connector 135"/>
          <p:cNvCxnSpPr/>
          <p:nvPr/>
        </p:nvCxnSpPr>
        <p:spPr>
          <a:xfrm>
            <a:off x="3566160" y="5097780"/>
            <a:ext cx="548640" cy="0"/>
          </a:xfrm>
          <a:prstGeom prst="line">
            <a:avLst/>
          </a:prstGeom>
          <a:ln w="25400">
            <a:solidFill>
              <a:srgbClr val="555E5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Connector 136"/>
          <p:cNvCxnSpPr/>
          <p:nvPr/>
        </p:nvCxnSpPr>
        <p:spPr>
          <a:xfrm flipH="1">
            <a:off x="9235440" y="5097780"/>
            <a:ext cx="548640" cy="0"/>
          </a:xfrm>
          <a:prstGeom prst="line">
            <a:avLst/>
          </a:prstGeom>
          <a:ln w="25400">
            <a:solidFill>
              <a:srgbClr val="555E5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Connector 137"/>
          <p:cNvCxnSpPr/>
          <p:nvPr/>
        </p:nvCxnSpPr>
        <p:spPr>
          <a:xfrm flipV="1">
            <a:off x="6035040" y="3703320"/>
            <a:ext cx="0" cy="640080"/>
          </a:xfrm>
          <a:prstGeom prst="line">
            <a:avLst/>
          </a:prstGeom>
          <a:ln w="25400">
            <a:solidFill>
              <a:srgbClr val="555E5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Connector 138"/>
          <p:cNvCxnSpPr/>
          <p:nvPr/>
        </p:nvCxnSpPr>
        <p:spPr>
          <a:xfrm>
            <a:off x="7315200" y="3703320"/>
            <a:ext cx="0" cy="640080"/>
          </a:xfrm>
          <a:prstGeom prst="line">
            <a:avLst/>
          </a:prstGeom>
          <a:ln w="25400">
            <a:solidFill>
              <a:srgbClr val="555E5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0" name="TextBox 139"/>
          <p:cNvSpPr txBox="1"/>
          <p:nvPr/>
        </p:nvSpPr>
        <p:spPr>
          <a:xfrm>
            <a:off x="6108192" y="3813048"/>
            <a:ext cx="118872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0">
                <a:solidFill>
                  <a:srgbClr val="555E5B"/>
                </a:solidFill>
                <a:latin typeface="Montserrat"/>
              </a:rPr>
              <a:t>goals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7388352" y="3813048"/>
            <a:ext cx="118872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0">
                <a:solidFill>
                  <a:srgbClr val="555E5B"/>
                </a:solidFill>
                <a:latin typeface="Montserrat"/>
              </a:rPr>
              <a:t>events</a:t>
            </a:r>
          </a:p>
        </p:txBody>
      </p:sp>
      <p:cxnSp>
        <p:nvCxnSpPr>
          <p:cNvPr id="142" name="Connector 141"/>
          <p:cNvCxnSpPr/>
          <p:nvPr/>
        </p:nvCxnSpPr>
        <p:spPr>
          <a:xfrm>
            <a:off x="9235440" y="3566160"/>
            <a:ext cx="1188720" cy="777240"/>
          </a:xfrm>
          <a:prstGeom prst="line">
            <a:avLst/>
          </a:prstGeom>
          <a:ln w="25400">
            <a:solidFill>
              <a:srgbClr val="555E5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3" name="TextBox 142"/>
          <p:cNvSpPr txBox="1"/>
          <p:nvPr/>
        </p:nvSpPr>
        <p:spPr>
          <a:xfrm>
            <a:off x="548640" y="6172200"/>
            <a:ext cx="5577840" cy="35661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2000"/>
              </a:lnSpc>
            </a:pPr>
            <a:r>
              <a:rPr sz="1800" b="1">
                <a:solidFill>
                  <a:srgbClr val="0F5C52"/>
                </a:solidFill>
                <a:latin typeface="Montserrat"/>
              </a:rPr>
              <a:t>TECH STACK</a:t>
            </a:r>
          </a:p>
          <a:p>
            <a:pPr algn="l">
              <a:lnSpc>
                <a:spcPct val="112000"/>
              </a:lnSpc>
              <a:spcBef>
                <a:spcPts val="400"/>
              </a:spcBef>
            </a:pPr>
            <a:r>
              <a:rPr sz="1600" b="1">
                <a:solidFill>
                  <a:srgbClr val="0F5C52"/>
                </a:solidFill>
                <a:latin typeface="Montserrat"/>
              </a:rPr>
              <a:t>•  </a:t>
            </a:r>
            <a:r>
              <a:rPr sz="1600" b="0">
                <a:solidFill>
                  <a:srgbClr val="1B1F1E"/>
                </a:solidFill>
                <a:latin typeface="Montserrat"/>
              </a:rPr>
              <a:t>Webots R2025a (physics, mecanum wheels) · Python 3.10</a:t>
            </a:r>
          </a:p>
          <a:p>
            <a:pPr algn="l">
              <a:lnSpc>
                <a:spcPct val="112000"/>
              </a:lnSpc>
              <a:spcBef>
                <a:spcPts val="400"/>
              </a:spcBef>
            </a:pPr>
            <a:r>
              <a:rPr sz="1600" b="1">
                <a:solidFill>
                  <a:srgbClr val="0F5C52"/>
                </a:solidFill>
                <a:latin typeface="Montserrat"/>
              </a:rPr>
              <a:t>•  </a:t>
            </a:r>
            <a:r>
              <a:rPr sz="1600" b="0">
                <a:solidFill>
                  <a:srgbClr val="1B1F1E"/>
                </a:solidFill>
                <a:latin typeface="Montserrat"/>
              </a:rPr>
              <a:t>YOLO11 + YOLOE open-vocabulary · camera + LiDAR tracker</a:t>
            </a:r>
          </a:p>
          <a:p>
            <a:pPr algn="l">
              <a:lnSpc>
                <a:spcPct val="112000"/>
              </a:lnSpc>
              <a:spcBef>
                <a:spcPts val="400"/>
              </a:spcBef>
            </a:pPr>
            <a:r>
              <a:rPr sz="1600" b="1">
                <a:solidFill>
                  <a:srgbClr val="0F5C52"/>
                </a:solidFill>
                <a:latin typeface="Montserrat"/>
              </a:rPr>
              <a:t>•  </a:t>
            </a:r>
            <a:r>
              <a:rPr sz="1600" b="0">
                <a:solidFill>
                  <a:srgbClr val="1B1F1E"/>
                </a:solidFill>
                <a:latin typeface="Montserrat"/>
              </a:rPr>
              <a:t>Qwen3.5-2B vision-language model on Apple MLX</a:t>
            </a:r>
          </a:p>
          <a:p>
            <a:pPr algn="l">
              <a:lnSpc>
                <a:spcPct val="112000"/>
              </a:lnSpc>
              <a:spcBef>
                <a:spcPts val="400"/>
              </a:spcBef>
            </a:pPr>
            <a:r>
              <a:rPr sz="1600" b="1">
                <a:solidFill>
                  <a:srgbClr val="0F5C52"/>
                </a:solidFill>
                <a:latin typeface="Montserrat"/>
              </a:rPr>
              <a:t>•  </a:t>
            </a:r>
            <a:r>
              <a:rPr sz="1600" b="0">
                <a:solidFill>
                  <a:srgbClr val="1B1F1E"/>
                </a:solidFill>
                <a:latin typeface="Montserrat"/>
              </a:rPr>
              <a:t>LLM agent: Claude API, small local model offline</a:t>
            </a:r>
          </a:p>
          <a:p>
            <a:pPr algn="l">
              <a:lnSpc>
                <a:spcPct val="112000"/>
              </a:lnSpc>
              <a:spcBef>
                <a:spcPts val="400"/>
              </a:spcBef>
            </a:pPr>
            <a:r>
              <a:rPr sz="1600" b="1">
                <a:solidFill>
                  <a:srgbClr val="0F5C52"/>
                </a:solidFill>
                <a:latin typeface="Montserrat"/>
              </a:rPr>
              <a:t>•  </a:t>
            </a:r>
            <a:r>
              <a:rPr sz="1600" b="0">
                <a:solidFill>
                  <a:srgbClr val="1B1F1E"/>
                </a:solidFill>
                <a:latin typeface="Montserrat"/>
              </a:rPr>
              <a:t>whisper.cpp (Hindi speech) · Hindi text-to-speech</a:t>
            </a:r>
          </a:p>
          <a:p>
            <a:pPr algn="l">
              <a:lnSpc>
                <a:spcPct val="112000"/>
              </a:lnSpc>
              <a:spcBef>
                <a:spcPts val="400"/>
              </a:spcBef>
            </a:pPr>
            <a:r>
              <a:rPr sz="1600" b="1">
                <a:solidFill>
                  <a:srgbClr val="0F5C52"/>
                </a:solidFill>
                <a:latin typeface="Montserrat"/>
              </a:rPr>
              <a:t>•  </a:t>
            </a:r>
            <a:r>
              <a:rPr sz="1600" b="0">
                <a:solidFill>
                  <a:srgbClr val="1B1F1E"/>
                </a:solidFill>
                <a:latin typeface="Montserrat"/>
              </a:rPr>
              <a:t>MediaPipe Hands for the gesture stop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6327648" y="6172200"/>
            <a:ext cx="5577840" cy="35661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2000"/>
              </a:lnSpc>
            </a:pPr>
            <a:r>
              <a:rPr sz="1800" b="1">
                <a:solidFill>
                  <a:srgbClr val="0F5C52"/>
                </a:solidFill>
                <a:latin typeface="Montserrat"/>
              </a:rPr>
              <a:t>DATA FLOW</a:t>
            </a:r>
          </a:p>
          <a:p>
            <a:pPr algn="l">
              <a:lnSpc>
                <a:spcPct val="112000"/>
              </a:lnSpc>
              <a:spcBef>
                <a:spcPts val="400"/>
              </a:spcBef>
            </a:pPr>
            <a:r>
              <a:rPr sz="1600" b="1">
                <a:solidFill>
                  <a:srgbClr val="0F5C52"/>
                </a:solidFill>
                <a:latin typeface="Montserrat"/>
              </a:rPr>
              <a:t>•  </a:t>
            </a:r>
            <a:r>
              <a:rPr sz="1600" b="0">
                <a:solidFill>
                  <a:srgbClr val="1B1F1E"/>
                </a:solidFill>
                <a:latin typeface="Montserrat"/>
              </a:rPr>
              <a:t>Camera + depth → people with ID and distance</a:t>
            </a:r>
          </a:p>
          <a:p>
            <a:pPr algn="l">
              <a:lnSpc>
                <a:spcPct val="112000"/>
              </a:lnSpc>
              <a:spcBef>
                <a:spcPts val="400"/>
              </a:spcBef>
            </a:pPr>
            <a:r>
              <a:rPr sz="1600" b="1">
                <a:solidFill>
                  <a:srgbClr val="0F5C52"/>
                </a:solidFill>
                <a:latin typeface="Montserrat"/>
              </a:rPr>
              <a:t>•  </a:t>
            </a:r>
            <a:r>
              <a:rPr sz="1600" b="0">
                <a:solidFill>
                  <a:srgbClr val="1B1F1E"/>
                </a:solidFill>
                <a:latin typeface="Montserrat"/>
              </a:rPr>
              <a:t>Crowd map with each person's next 2 seconds</a:t>
            </a:r>
          </a:p>
          <a:p>
            <a:pPr algn="l">
              <a:lnSpc>
                <a:spcPct val="112000"/>
              </a:lnSpc>
              <a:spcBef>
                <a:spcPts val="400"/>
              </a:spcBef>
            </a:pPr>
            <a:r>
              <a:rPr sz="1600" b="1">
                <a:solidFill>
                  <a:srgbClr val="0F5C52"/>
                </a:solidFill>
                <a:latin typeface="Montserrat"/>
              </a:rPr>
              <a:t>•  </a:t>
            </a:r>
            <a:r>
              <a:rPr sz="1600" b="0">
                <a:solidFill>
                  <a:srgbClr val="1B1F1E"/>
                </a:solidFill>
                <a:latin typeface="Montserrat"/>
              </a:rPr>
              <a:t>Planner picks path and speed (groups, wheelchairs, keep-left)</a:t>
            </a:r>
          </a:p>
          <a:p>
            <a:pPr algn="l">
              <a:lnSpc>
                <a:spcPct val="112000"/>
              </a:lnSpc>
              <a:spcBef>
                <a:spcPts val="400"/>
              </a:spcBef>
            </a:pPr>
            <a:r>
              <a:rPr sz="1600" b="1">
                <a:solidFill>
                  <a:srgbClr val="0F5C52"/>
                </a:solidFill>
                <a:latin typeface="Montserrat"/>
              </a:rPr>
              <a:t>•  </a:t>
            </a:r>
            <a:r>
              <a:rPr sz="1600" b="0">
                <a:solidFill>
                  <a:srgbClr val="1B1F1E"/>
                </a:solidFill>
                <a:latin typeface="Montserrat"/>
              </a:rPr>
              <a:t>Safety guard checks, then the wheels move</a:t>
            </a:r>
          </a:p>
          <a:p>
            <a:pPr algn="l">
              <a:lnSpc>
                <a:spcPct val="112000"/>
              </a:lnSpc>
              <a:spcBef>
                <a:spcPts val="400"/>
              </a:spcBef>
            </a:pPr>
            <a:r>
              <a:rPr sz="1600" b="1">
                <a:solidFill>
                  <a:srgbClr val="0F5C52"/>
                </a:solidFill>
                <a:latin typeface="Montserrat"/>
              </a:rPr>
              <a:t>•  </a:t>
            </a:r>
            <a:r>
              <a:rPr sz="1600" b="0">
                <a:solidFill>
                  <a:srgbClr val="1B1F1E"/>
                </a:solidFill>
                <a:latin typeface="Montserrat"/>
              </a:rPr>
              <a:t>Every decision → black box → the agent can explain it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12106656" y="6172200"/>
            <a:ext cx="5577840" cy="35661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2000"/>
              </a:lnSpc>
            </a:pPr>
            <a:r>
              <a:rPr sz="1800" b="1">
                <a:solidFill>
                  <a:srgbClr val="0F5C52"/>
                </a:solidFill>
                <a:latin typeface="Montserrat"/>
              </a:rPr>
              <a:t>APIS + MEASURED</a:t>
            </a:r>
          </a:p>
          <a:p>
            <a:pPr algn="l">
              <a:lnSpc>
                <a:spcPct val="112000"/>
              </a:lnSpc>
              <a:spcBef>
                <a:spcPts val="400"/>
              </a:spcBef>
            </a:pPr>
            <a:r>
              <a:rPr sz="1600" b="1">
                <a:solidFill>
                  <a:srgbClr val="0F5C52"/>
                </a:solidFill>
                <a:latin typeface="Montserrat"/>
              </a:rPr>
              <a:t>•  </a:t>
            </a:r>
            <a:r>
              <a:rPr sz="1600" b="0">
                <a:solidFill>
                  <a:srgbClr val="1B1F1E"/>
                </a:solidFill>
                <a:latin typeface="Montserrat"/>
              </a:rPr>
              <a:t>API: Claude for conversation only; offline phrasebook without network</a:t>
            </a:r>
          </a:p>
          <a:p>
            <a:pPr algn="l">
              <a:lnSpc>
                <a:spcPct val="112000"/>
              </a:lnSpc>
              <a:spcBef>
                <a:spcPts val="400"/>
              </a:spcBef>
            </a:pPr>
            <a:r>
              <a:rPr sz="1600" b="1">
                <a:solidFill>
                  <a:srgbClr val="0F5C52"/>
                </a:solidFill>
                <a:latin typeface="Montserrat"/>
              </a:rPr>
              <a:t>•  </a:t>
            </a:r>
            <a:r>
              <a:rPr sz="1600" b="0">
                <a:solidFill>
                  <a:srgbClr val="1B1F1E"/>
                </a:solidFill>
                <a:latin typeface="Montserrat"/>
              </a:rPr>
              <a:t>People placed within 0.10 m (median) by camera + LiDAR</a:t>
            </a:r>
          </a:p>
          <a:p>
            <a:pPr algn="l">
              <a:lnSpc>
                <a:spcPct val="112000"/>
              </a:lnSpc>
              <a:spcBef>
                <a:spcPts val="400"/>
              </a:spcBef>
            </a:pPr>
            <a:r>
              <a:rPr sz="1600" b="1">
                <a:solidFill>
                  <a:srgbClr val="0F5C52"/>
                </a:solidFill>
                <a:latin typeface="Montserrat"/>
              </a:rPr>
              <a:t>•  </a:t>
            </a:r>
            <a:r>
              <a:rPr sz="1600" b="0">
                <a:solidFill>
                  <a:srgbClr val="1B1F1E"/>
                </a:solidFill>
                <a:latin typeface="Montserrat"/>
              </a:rPr>
              <a:t>Planner: about 5 ms a plan, replans twice a second</a:t>
            </a:r>
          </a:p>
          <a:p>
            <a:pPr algn="l">
              <a:lnSpc>
                <a:spcPct val="112000"/>
              </a:lnSpc>
              <a:spcBef>
                <a:spcPts val="400"/>
              </a:spcBef>
            </a:pPr>
            <a:r>
              <a:rPr sz="1600" b="1">
                <a:solidFill>
                  <a:srgbClr val="0F5C52"/>
                </a:solidFill>
                <a:latin typeface="Montserrat"/>
              </a:rPr>
              <a:t>•  </a:t>
            </a:r>
            <a:r>
              <a:rPr sz="1600" b="0">
                <a:solidFill>
                  <a:srgbClr val="1B1F1E"/>
                </a:solidFill>
                <a:latin typeface="Montserrat"/>
              </a:rPr>
              <a:t>YOLO11n 9.5 ms a frame on our 8 GB M1 laptop</a:t>
            </a:r>
          </a:p>
          <a:p>
            <a:pPr algn="l">
              <a:lnSpc>
                <a:spcPct val="112000"/>
              </a:lnSpc>
              <a:spcBef>
                <a:spcPts val="400"/>
              </a:spcBef>
            </a:pPr>
            <a:r>
              <a:rPr sz="1600" b="1">
                <a:solidFill>
                  <a:srgbClr val="0F5C52"/>
                </a:solidFill>
                <a:latin typeface="Montserrat"/>
              </a:rPr>
              <a:t>•  </a:t>
            </a:r>
            <a:r>
              <a:rPr sz="1600" b="0">
                <a:solidFill>
                  <a:srgbClr val="1B1F1E"/>
                </a:solidFill>
                <a:latin typeface="Montserrat"/>
              </a:rPr>
              <a:t>Fall classified 0.3 s after it happened · VLM about 3 s an answer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7"/>
          <p:cNvSpPr txBox="1"/>
          <p:nvPr/>
        </p:nvSpPr>
        <p:spPr>
          <a:xfrm>
            <a:off x="548640" y="1417320"/>
            <a:ext cx="171907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1B1F1E"/>
                </a:solidFill>
                <a:latin typeface="Montserrat"/>
                <a:ea typeface="Montserrat"/>
                <a:cs typeface="Montserrat"/>
                <a:sym typeface="Montserrat"/>
              </a:rPr>
              <a:t>MARKET RESEARCH/ANALYSIS</a:t>
            </a:r>
            <a:endParaRPr/>
          </a:p>
        </p:txBody>
      </p:sp>
      <p:pic>
        <p:nvPicPr>
          <p:cNvPr id="125" name="Google Shape;125;p17" title="pptn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8288000" cy="1205517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Rounded Rectangle 125"/>
          <p:cNvSpPr/>
          <p:nvPr/>
        </p:nvSpPr>
        <p:spPr>
          <a:xfrm>
            <a:off x="548640" y="2194560"/>
            <a:ext cx="8503920" cy="3474720"/>
          </a:xfrm>
          <a:prstGeom prst="roundRect">
            <a:avLst>
              <a:gd name="adj" fmla="val 6000"/>
            </a:avLst>
          </a:prstGeom>
          <a:solidFill>
            <a:srgbClr val="F2F5F2"/>
          </a:solidFill>
          <a:ln w="12700">
            <a:solidFill>
              <a:srgbClr val="D3DB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777240" y="2304288"/>
            <a:ext cx="8046720" cy="32918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2000"/>
              </a:lnSpc>
            </a:pPr>
            <a:r>
              <a:rPr sz="1800" b="1">
                <a:solidFill>
                  <a:srgbClr val="0F5C52"/>
                </a:solidFill>
                <a:latin typeface="Montserrat"/>
              </a:rPr>
              <a:t>TARGET USERS</a:t>
            </a:r>
          </a:p>
          <a:p>
            <a:pPr algn="l">
              <a:lnSpc>
                <a:spcPct val="112000"/>
              </a:lnSpc>
              <a:spcBef>
                <a:spcPts val="800"/>
              </a:spcBef>
            </a:pPr>
            <a:r>
              <a:rPr sz="1700" b="1">
                <a:solidFill>
                  <a:srgbClr val="0F5C52"/>
                </a:solidFill>
                <a:latin typeface="Montserrat"/>
              </a:rPr>
              <a:t>•  </a:t>
            </a:r>
            <a:r>
              <a:rPr sz="1700" b="0">
                <a:solidFill>
                  <a:srgbClr val="1B1F1E"/>
                </a:solidFill>
                <a:latin typeface="Montserrat"/>
              </a:rPr>
              <a:t>Patients: elderly, first-time, low-literacy and non-English-speaking visitors</a:t>
            </a:r>
          </a:p>
          <a:p>
            <a:pPr algn="l">
              <a:lnSpc>
                <a:spcPct val="112000"/>
              </a:lnSpc>
              <a:spcBef>
                <a:spcPts val="800"/>
              </a:spcBef>
            </a:pPr>
            <a:r>
              <a:rPr sz="1700" b="1">
                <a:solidFill>
                  <a:srgbClr val="0F5C52"/>
                </a:solidFill>
                <a:latin typeface="Montserrat"/>
              </a:rPr>
              <a:t>•  </a:t>
            </a:r>
            <a:r>
              <a:rPr sz="1700" b="0">
                <a:solidFill>
                  <a:srgbClr val="1B1F1E"/>
                </a:solidFill>
                <a:latin typeface="Montserrat"/>
              </a:rPr>
              <a:t>Hospitals: government medical colleges, district hospitals, AIIMS-type institutes, large private chains</a:t>
            </a:r>
          </a:p>
          <a:p>
            <a:pPr algn="l">
              <a:lnSpc>
                <a:spcPct val="112000"/>
              </a:lnSpc>
              <a:spcBef>
                <a:spcPts val="800"/>
              </a:spcBef>
            </a:pPr>
            <a:r>
              <a:rPr sz="1700" b="1">
                <a:solidFill>
                  <a:srgbClr val="0F5C52"/>
                </a:solidFill>
                <a:latin typeface="Montserrat"/>
              </a:rPr>
              <a:t>•  </a:t>
            </a:r>
            <a:r>
              <a:rPr sz="1700" b="0">
                <a:solidFill>
                  <a:srgbClr val="1B1F1E"/>
                </a:solidFill>
                <a:latin typeface="Montserrat"/>
              </a:rPr>
              <a:t>Staff: help desks and nurses answer fewer “X-ray kahan hai?” questions</a:t>
            </a:r>
          </a:p>
        </p:txBody>
      </p:sp>
      <p:sp>
        <p:nvSpPr>
          <p:cNvPr id="128" name="Rounded Rectangle 127"/>
          <p:cNvSpPr/>
          <p:nvPr/>
        </p:nvSpPr>
        <p:spPr>
          <a:xfrm>
            <a:off x="9235440" y="2194560"/>
            <a:ext cx="8503920" cy="3474720"/>
          </a:xfrm>
          <a:prstGeom prst="roundRect">
            <a:avLst>
              <a:gd name="adj" fmla="val 6000"/>
            </a:avLst>
          </a:prstGeom>
          <a:solidFill>
            <a:srgbClr val="F2F5F2"/>
          </a:solidFill>
          <a:ln w="12700">
            <a:solidFill>
              <a:srgbClr val="D3DB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9464040" y="2304288"/>
            <a:ext cx="804672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2000"/>
              </a:lnSpc>
            </a:pPr>
            <a:r>
              <a:rPr sz="1800" b="1">
                <a:solidFill>
                  <a:srgbClr val="0F5C52"/>
                </a:solidFill>
                <a:latin typeface="Montserrat"/>
              </a:rPr>
              <a:t>MARKET SIZE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9464040" y="2697480"/>
            <a:ext cx="2606040" cy="12344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2000"/>
              </a:lnSpc>
            </a:pPr>
            <a:r>
              <a:rPr sz="4000" b="1">
                <a:solidFill>
                  <a:srgbClr val="B8550D"/>
                </a:solidFill>
                <a:latin typeface="Montserrat"/>
              </a:rPr>
              <a:t>816</a:t>
            </a:r>
          </a:p>
          <a:p>
            <a:pPr algn="l">
              <a:lnSpc>
                <a:spcPct val="112000"/>
              </a:lnSpc>
            </a:pPr>
            <a:r>
              <a:rPr sz="1500" b="0">
                <a:solidFill>
                  <a:srgbClr val="1B1F1E"/>
                </a:solidFill>
                <a:latin typeface="Montserrat"/>
              </a:rPr>
              <a:t>medical colleges (2025–26)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12161520" y="2697480"/>
            <a:ext cx="2606040" cy="12344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2000"/>
              </a:lnSpc>
            </a:pPr>
            <a:r>
              <a:rPr sz="4000" b="1">
                <a:solidFill>
                  <a:srgbClr val="B8550D"/>
                </a:solidFill>
                <a:latin typeface="Montserrat"/>
              </a:rPr>
              <a:t>714</a:t>
            </a:r>
          </a:p>
          <a:p>
            <a:pPr algn="l">
              <a:lnSpc>
                <a:spcPct val="112000"/>
              </a:lnSpc>
            </a:pPr>
            <a:r>
              <a:rPr sz="1500" b="0">
                <a:solidFill>
                  <a:srgbClr val="1B1F1E"/>
                </a:solidFill>
                <a:latin typeface="Montserrat"/>
              </a:rPr>
              <a:t>district hospitals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14859000" y="2697480"/>
            <a:ext cx="2606040" cy="12344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2000"/>
              </a:lnSpc>
            </a:pPr>
            <a:r>
              <a:rPr sz="4000" b="1">
                <a:solidFill>
                  <a:srgbClr val="B8550D"/>
                </a:solidFill>
                <a:latin typeface="Montserrat"/>
              </a:rPr>
              <a:t>1,340</a:t>
            </a:r>
          </a:p>
          <a:p>
            <a:pPr algn="l">
              <a:lnSpc>
                <a:spcPct val="112000"/>
              </a:lnSpc>
            </a:pPr>
            <a:r>
              <a:rPr sz="1500" b="0">
                <a:solidFill>
                  <a:srgbClr val="1B1F1E"/>
                </a:solidFill>
                <a:latin typeface="Montserrat"/>
              </a:rPr>
              <a:t>sub-divisional hospitals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9464040" y="4023360"/>
            <a:ext cx="8046720" cy="1600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2000"/>
              </a:lnSpc>
            </a:pPr>
            <a:r>
              <a:rPr sz="1600" b="1">
                <a:solidFill>
                  <a:srgbClr val="1B1F1E"/>
                </a:solidFill>
                <a:latin typeface="Montserrat"/>
              </a:rPr>
              <a:t>India medical-robot market: </a:t>
            </a:r>
            <a:r>
              <a:rPr sz="1600" b="0">
                <a:solidFill>
                  <a:srgbClr val="1B1F1E"/>
                </a:solidFill>
                <a:latin typeface="Montserrat"/>
              </a:rPr>
              <a:t>USD 191 M (2024) → 450 M (2029), MarketsandMarkets; USD 1.32 B (2024) → 8.12 B (2033) under IMARC's broader definition. Guide robots are a new slice of it.</a:t>
            </a:r>
          </a:p>
        </p:txBody>
      </p:sp>
      <p:sp>
        <p:nvSpPr>
          <p:cNvPr id="134" name="Rounded Rectangle 133"/>
          <p:cNvSpPr/>
          <p:nvPr/>
        </p:nvSpPr>
        <p:spPr>
          <a:xfrm>
            <a:off x="548640" y="5852160"/>
            <a:ext cx="8503920" cy="3657600"/>
          </a:xfrm>
          <a:prstGeom prst="roundRect">
            <a:avLst>
              <a:gd name="adj" fmla="val 6000"/>
            </a:avLst>
          </a:prstGeom>
          <a:solidFill>
            <a:srgbClr val="F2F5F2"/>
          </a:solidFill>
          <a:ln w="12700">
            <a:solidFill>
              <a:srgbClr val="D3DB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777240" y="5961888"/>
            <a:ext cx="8046720" cy="34747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2000"/>
              </a:lnSpc>
            </a:pPr>
            <a:r>
              <a:rPr sz="1800" b="1">
                <a:solidFill>
                  <a:srgbClr val="0F5C52"/>
                </a:solidFill>
                <a:latin typeface="Montserrat"/>
              </a:rPr>
              <a:t>POTENTIAL REVENUE MODEL</a:t>
            </a:r>
          </a:p>
          <a:p>
            <a:pPr algn="l">
              <a:lnSpc>
                <a:spcPct val="112000"/>
              </a:lnSpc>
              <a:spcBef>
                <a:spcPts val="600"/>
              </a:spcBef>
            </a:pPr>
            <a:r>
              <a:rPr sz="1700" b="1">
                <a:solidFill>
                  <a:srgbClr val="0F5C52"/>
                </a:solidFill>
                <a:latin typeface="Montserrat"/>
              </a:rPr>
              <a:t>•  </a:t>
            </a:r>
            <a:r>
              <a:rPr sz="1700" b="0">
                <a:solidFill>
                  <a:srgbClr val="1B1F1E"/>
                </a:solidFill>
                <a:latin typeface="Montserrat"/>
              </a:rPr>
              <a:t>Robot-as-a-Service: about ₹15,000 a month per robot, with maintenance and updates</a:t>
            </a:r>
          </a:p>
          <a:p>
            <a:pPr algn="l">
              <a:lnSpc>
                <a:spcPct val="112000"/>
              </a:lnSpc>
              <a:spcBef>
                <a:spcPts val="600"/>
              </a:spcBef>
            </a:pPr>
            <a:r>
              <a:rPr sz="1700" b="1">
                <a:solidFill>
                  <a:srgbClr val="0F5C52"/>
                </a:solidFill>
                <a:latin typeface="Montserrat"/>
              </a:rPr>
              <a:t>•  </a:t>
            </a:r>
            <a:r>
              <a:rPr sz="1700" b="0">
                <a:solidFill>
                  <a:srgbClr val="1B1F1E"/>
                </a:solidFill>
                <a:latin typeface="Montserrat"/>
              </a:rPr>
              <a:t>Sale + annual maintenance contract for large hospitals</a:t>
            </a:r>
          </a:p>
          <a:p>
            <a:pPr algn="l">
              <a:lnSpc>
                <a:spcPct val="112000"/>
              </a:lnSpc>
              <a:spcBef>
                <a:spcPts val="600"/>
              </a:spcBef>
            </a:pPr>
            <a:r>
              <a:rPr sz="1700" b="1">
                <a:solidFill>
                  <a:srgbClr val="0F5C52"/>
                </a:solidFill>
                <a:latin typeface="Montserrat"/>
              </a:rPr>
              <a:t>•  </a:t>
            </a:r>
            <a:r>
              <a:rPr sz="1700" b="0">
                <a:solidFill>
                  <a:srgbClr val="1B1F1E"/>
                </a:solidFill>
                <a:latin typeface="Montserrat"/>
              </a:rPr>
              <a:t>Licence the Saathi brain to robot makers</a:t>
            </a:r>
          </a:p>
          <a:p>
            <a:pPr algn="l">
              <a:lnSpc>
                <a:spcPct val="112000"/>
              </a:lnSpc>
              <a:spcBef>
                <a:spcPts val="600"/>
              </a:spcBef>
            </a:pPr>
            <a:r>
              <a:rPr sz="1700" b="1">
                <a:solidFill>
                  <a:srgbClr val="0F5C52"/>
                </a:solidFill>
                <a:latin typeface="Montserrat"/>
              </a:rPr>
              <a:t>•  </a:t>
            </a:r>
            <a:r>
              <a:rPr sz="1700" b="0">
                <a:solidFill>
                  <a:srgbClr val="1B1F1E"/>
                </a:solidFill>
                <a:latin typeface="Montserrat"/>
              </a:rPr>
              <a:t>Crowd-flow analytics for hospital admins (busy hours, where patients get lost)</a:t>
            </a:r>
          </a:p>
          <a:p>
            <a:pPr algn="l">
              <a:lnSpc>
                <a:spcPct val="112000"/>
              </a:lnSpc>
              <a:spcBef>
                <a:spcPts val="600"/>
              </a:spcBef>
            </a:pPr>
            <a:r>
              <a:rPr sz="1700" b="1">
                <a:solidFill>
                  <a:srgbClr val="0F5C52"/>
                </a:solidFill>
                <a:latin typeface="Montserrat"/>
              </a:rPr>
              <a:t>•  </a:t>
            </a:r>
            <a:r>
              <a:rPr sz="1700" b="0">
                <a:solidFill>
                  <a:srgbClr val="1B1F1E"/>
                </a:solidFill>
                <a:latin typeface="Montserrat"/>
              </a:rPr>
              <a:t>Pilots funded through CSR and the National Health Mission</a:t>
            </a:r>
          </a:p>
        </p:txBody>
      </p:sp>
      <p:sp>
        <p:nvSpPr>
          <p:cNvPr id="136" name="Rounded Rectangle 135"/>
          <p:cNvSpPr/>
          <p:nvPr/>
        </p:nvSpPr>
        <p:spPr>
          <a:xfrm>
            <a:off x="9235440" y="5852160"/>
            <a:ext cx="8503920" cy="3657600"/>
          </a:xfrm>
          <a:prstGeom prst="roundRect">
            <a:avLst>
              <a:gd name="adj" fmla="val 6000"/>
            </a:avLst>
          </a:prstGeom>
          <a:solidFill>
            <a:srgbClr val="F2F5F2"/>
          </a:solidFill>
          <a:ln w="12700">
            <a:solidFill>
              <a:srgbClr val="D3DB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9464040" y="5961888"/>
            <a:ext cx="8046720" cy="34747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2000"/>
              </a:lnSpc>
            </a:pPr>
            <a:r>
              <a:rPr sz="1800" b="1">
                <a:solidFill>
                  <a:srgbClr val="0F5C52"/>
                </a:solidFill>
                <a:latin typeface="Montserrat"/>
              </a:rPr>
              <a:t>EXPECTED GROWTH</a:t>
            </a:r>
          </a:p>
          <a:p>
            <a:pPr algn="l">
              <a:lnSpc>
                <a:spcPct val="112000"/>
              </a:lnSpc>
              <a:spcBef>
                <a:spcPts val="600"/>
              </a:spcBef>
            </a:pPr>
            <a:r>
              <a:rPr sz="1700" b="1">
                <a:solidFill>
                  <a:srgbClr val="0F5C52"/>
                </a:solidFill>
                <a:latin typeface="Montserrat"/>
              </a:rPr>
              <a:t>•  </a:t>
            </a:r>
            <a:r>
              <a:rPr sz="1700" b="0">
                <a:solidFill>
                  <a:srgbClr val="1B1F1E"/>
                </a:solidFill>
                <a:latin typeface="Montserrat"/>
              </a:rPr>
              <a:t>Pilot in one OPD → state rollout (NHM / CSR) → private chains</a:t>
            </a:r>
          </a:p>
          <a:p>
            <a:pPr algn="l">
              <a:lnSpc>
                <a:spcPct val="112000"/>
              </a:lnSpc>
              <a:spcBef>
                <a:spcPts val="600"/>
              </a:spcBef>
            </a:pPr>
            <a:r>
              <a:rPr sz="1700" b="1">
                <a:solidFill>
                  <a:srgbClr val="0F5C52"/>
                </a:solidFill>
                <a:latin typeface="Montserrat"/>
              </a:rPr>
              <a:t>•  </a:t>
            </a:r>
            <a:r>
              <a:rPr sz="1700" b="0">
                <a:solidFill>
                  <a:srgbClr val="1B1F1E"/>
                </a:solidFill>
                <a:latin typeface="Montserrat"/>
              </a:rPr>
              <a:t>Beyond hospitals: railway stations, airports, pilgrimage sites</a:t>
            </a:r>
          </a:p>
          <a:p>
            <a:pPr algn="l">
              <a:lnSpc>
                <a:spcPct val="112000"/>
              </a:lnSpc>
              <a:spcBef>
                <a:spcPts val="600"/>
              </a:spcBef>
            </a:pPr>
            <a:r>
              <a:rPr sz="1700" b="1">
                <a:solidFill>
                  <a:srgbClr val="0F5C52"/>
                </a:solidFill>
                <a:latin typeface="Montserrat"/>
              </a:rPr>
              <a:t>•  </a:t>
            </a:r>
            <a:r>
              <a:rPr sz="1700" b="0">
                <a:solidFill>
                  <a:srgbClr val="1B1F1E"/>
                </a:solidFill>
                <a:latin typeface="Montserrat"/>
              </a:rPr>
              <a:t>The medical-robot market is forecast to grow 18.7–20.6% a year (reports above)</a:t>
            </a:r>
          </a:p>
          <a:p>
            <a:pPr algn="l">
              <a:lnSpc>
                <a:spcPct val="112000"/>
              </a:lnSpc>
              <a:spcBef>
                <a:spcPts val="600"/>
              </a:spcBef>
            </a:pPr>
            <a:r>
              <a:rPr sz="1700" b="1">
                <a:solidFill>
                  <a:srgbClr val="0F5C52"/>
                </a:solidFill>
                <a:latin typeface="Montserrat"/>
              </a:rPr>
              <a:t>•  </a:t>
            </a:r>
            <a:r>
              <a:rPr sz="1700" b="0">
                <a:solidFill>
                  <a:srgbClr val="1B1F1E"/>
                </a:solidFill>
                <a:latin typeface="Montserrat"/>
              </a:rPr>
              <a:t>Every robot's black box adds data that makes the next one smarter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548640" y="9710928"/>
            <a:ext cx="1719072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>
                <a:solidFill>
                  <a:srgbClr val="555E5B"/>
                </a:solidFill>
                <a:latin typeface="Montserrat"/>
              </a:rPr>
              <a:t>Sources: Health Dynamics of India 2022-23 (MoHFW, data as of 31 Mar 2023) · NMC approvals 2025-26 (The Tribune) · MarketsandMarkets and IMARC, India medical robots market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8"/>
          <p:cNvSpPr txBox="1"/>
          <p:nvPr/>
        </p:nvSpPr>
        <p:spPr>
          <a:xfrm>
            <a:off x="548640" y="1417320"/>
            <a:ext cx="171907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1B1F1E"/>
                </a:solidFill>
                <a:latin typeface="Montserrat"/>
                <a:ea typeface="Montserrat"/>
                <a:cs typeface="Montserrat"/>
                <a:sym typeface="Montserrat"/>
              </a:rPr>
              <a:t>FUTURE SCOPE</a:t>
            </a:r>
            <a:endParaRPr/>
          </a:p>
        </p:txBody>
      </p:sp>
      <p:pic>
        <p:nvPicPr>
          <p:cNvPr id="134" name="Google Shape;134;p18" title="pptn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8288000" cy="120551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5" name="Connector 134"/>
          <p:cNvCxnSpPr/>
          <p:nvPr/>
        </p:nvCxnSpPr>
        <p:spPr>
          <a:xfrm>
            <a:off x="822960" y="2788920"/>
            <a:ext cx="16642080" cy="0"/>
          </a:xfrm>
          <a:prstGeom prst="line">
            <a:avLst/>
          </a:prstGeom>
          <a:ln w="38100">
            <a:solidFill>
              <a:srgbClr val="D3DBD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6" name="Oval 135"/>
          <p:cNvSpPr/>
          <p:nvPr/>
        </p:nvSpPr>
        <p:spPr>
          <a:xfrm>
            <a:off x="685800" y="2606040"/>
            <a:ext cx="365760" cy="365760"/>
          </a:xfrm>
          <a:prstGeom prst="ellipse">
            <a:avLst/>
          </a:prstGeom>
          <a:solidFill>
            <a:srgbClr val="B855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548640" y="3200400"/>
            <a:ext cx="3291840" cy="30175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2000"/>
              </a:lnSpc>
            </a:pPr>
            <a:r>
              <a:rPr sz="1700" b="1">
                <a:solidFill>
                  <a:srgbClr val="B8550D"/>
                </a:solidFill>
                <a:latin typeface="Montserrat"/>
              </a:rPr>
              <a:t>BUILT · OCT 2026</a:t>
            </a:r>
          </a:p>
          <a:p>
            <a:pPr algn="l">
              <a:lnSpc>
                <a:spcPct val="112000"/>
              </a:lnSpc>
              <a:spcBef>
                <a:spcPts val="500"/>
              </a:spcBef>
            </a:pPr>
            <a:r>
              <a:rPr sz="1700" b="0">
                <a:solidFill>
                  <a:srgbClr val="1B1F1E"/>
                </a:solidFill>
                <a:latin typeface="Montserrat"/>
              </a:rPr>
              <a:t>Physics rover in a Webots OPD; crowd-aware planner; camera + LiDAR + depth; fall alert; VLM; A/B on 200 crowds</a:t>
            </a:r>
          </a:p>
        </p:txBody>
      </p:sp>
      <p:sp>
        <p:nvSpPr>
          <p:cNvPr id="138" name="Oval 137"/>
          <p:cNvSpPr/>
          <p:nvPr/>
        </p:nvSpPr>
        <p:spPr>
          <a:xfrm>
            <a:off x="4160520" y="2606040"/>
            <a:ext cx="365760" cy="365760"/>
          </a:xfrm>
          <a:prstGeom prst="ellipse">
            <a:avLst/>
          </a:prstGeom>
          <a:solidFill>
            <a:srgbClr val="0F5C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4023359" y="3200400"/>
            <a:ext cx="3291840" cy="30175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2000"/>
              </a:lnSpc>
            </a:pPr>
            <a:r>
              <a:rPr sz="1700" b="1">
                <a:solidFill>
                  <a:srgbClr val="0F5C52"/>
                </a:solidFill>
                <a:latin typeface="Montserrat"/>
              </a:rPr>
              <a:t>BY 24 OCT 2026</a:t>
            </a:r>
          </a:p>
          <a:p>
            <a:pPr algn="l">
              <a:lnSpc>
                <a:spcPct val="112000"/>
              </a:lnSpc>
              <a:spcBef>
                <a:spcPts val="500"/>
              </a:spcBef>
            </a:pPr>
            <a:r>
              <a:rPr sz="1700" b="0">
                <a:solidFill>
                  <a:srgbClr val="1B1F1E"/>
                </a:solidFill>
                <a:latin typeface="Montserrat"/>
              </a:rPr>
              <a:t>Saathi Parivaar with 2 robots, Hindi voice agent, walks at the patient's pace, gesture stop, demo video</a:t>
            </a:r>
          </a:p>
        </p:txBody>
      </p:sp>
      <p:sp>
        <p:nvSpPr>
          <p:cNvPr id="140" name="Oval 139"/>
          <p:cNvSpPr/>
          <p:nvPr/>
        </p:nvSpPr>
        <p:spPr>
          <a:xfrm>
            <a:off x="7635240" y="2606040"/>
            <a:ext cx="365760" cy="365760"/>
          </a:xfrm>
          <a:prstGeom prst="ellipse">
            <a:avLst/>
          </a:prstGeom>
          <a:solidFill>
            <a:srgbClr val="0F5C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TextBox 140"/>
          <p:cNvSpPr txBox="1"/>
          <p:nvPr/>
        </p:nvSpPr>
        <p:spPr>
          <a:xfrm>
            <a:off x="7498079" y="3200400"/>
            <a:ext cx="3291840" cy="30175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2000"/>
              </a:lnSpc>
            </a:pPr>
            <a:r>
              <a:rPr sz="1700" b="1">
                <a:solidFill>
                  <a:srgbClr val="0F5C52"/>
                </a:solidFill>
                <a:latin typeface="Montserrat"/>
              </a:rPr>
              <a:t>20–21 NOV 2026</a:t>
            </a:r>
          </a:p>
          <a:p>
            <a:pPr algn="l">
              <a:lnSpc>
                <a:spcPct val="112000"/>
              </a:lnSpc>
              <a:spcBef>
                <a:spcPts val="500"/>
              </a:spcBef>
            </a:pPr>
            <a:r>
              <a:rPr sz="1700" b="0">
                <a:solidFill>
                  <a:srgbClr val="1B1F1E"/>
                </a:solidFill>
                <a:latin typeface="Montserrat"/>
              </a:rPr>
              <a:t>Manali finale: Saathi Parivaar with 3 robots and its 200-seed test, live and fully offline on a laptop</a:t>
            </a:r>
          </a:p>
        </p:txBody>
      </p:sp>
      <p:sp>
        <p:nvSpPr>
          <p:cNvPr id="142" name="Oval 141"/>
          <p:cNvSpPr/>
          <p:nvPr/>
        </p:nvSpPr>
        <p:spPr>
          <a:xfrm>
            <a:off x="11109959" y="2606040"/>
            <a:ext cx="365760" cy="365760"/>
          </a:xfrm>
          <a:prstGeom prst="ellipse">
            <a:avLst/>
          </a:prstGeom>
          <a:solidFill>
            <a:srgbClr val="0F5C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TextBox 142"/>
          <p:cNvSpPr txBox="1"/>
          <p:nvPr/>
        </p:nvSpPr>
        <p:spPr>
          <a:xfrm>
            <a:off x="10972799" y="3200400"/>
            <a:ext cx="3291840" cy="30175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2000"/>
              </a:lnSpc>
            </a:pPr>
            <a:r>
              <a:rPr sz="1700" b="1">
                <a:solidFill>
                  <a:srgbClr val="0F5C52"/>
                </a:solidFill>
                <a:latin typeface="Montserrat"/>
              </a:rPr>
              <a:t>2027</a:t>
            </a:r>
          </a:p>
          <a:p>
            <a:pPr algn="l">
              <a:lnSpc>
                <a:spcPct val="112000"/>
              </a:lnSpc>
              <a:spcBef>
                <a:spcPts val="500"/>
              </a:spcBef>
            </a:pPr>
            <a:r>
              <a:rPr sz="1700" b="0">
                <a:solidFill>
                  <a:srgbClr val="1B1F1E"/>
                </a:solidFill>
                <a:latin typeface="Montserrat"/>
              </a:rPr>
              <a:t>Build the real rover: Jetson Orin Nano, team design, face screen, mic, speaker, e-stop. Pilot in one OPD with consent and face blurring</a:t>
            </a:r>
          </a:p>
        </p:txBody>
      </p:sp>
      <p:sp>
        <p:nvSpPr>
          <p:cNvPr id="144" name="Oval 143"/>
          <p:cNvSpPr/>
          <p:nvPr/>
        </p:nvSpPr>
        <p:spPr>
          <a:xfrm>
            <a:off x="14584680" y="2606040"/>
            <a:ext cx="365760" cy="365760"/>
          </a:xfrm>
          <a:prstGeom prst="ellipse">
            <a:avLst/>
          </a:prstGeom>
          <a:solidFill>
            <a:srgbClr val="0F5C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TextBox 144"/>
          <p:cNvSpPr txBox="1"/>
          <p:nvPr/>
        </p:nvSpPr>
        <p:spPr>
          <a:xfrm>
            <a:off x="14447519" y="3200400"/>
            <a:ext cx="3291840" cy="30175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2000"/>
              </a:lnSpc>
            </a:pPr>
            <a:r>
              <a:rPr sz="1700" b="1">
                <a:solidFill>
                  <a:srgbClr val="0F5C52"/>
                </a:solidFill>
                <a:latin typeface="Montserrat"/>
              </a:rPr>
              <a:t>NEXT</a:t>
            </a:r>
          </a:p>
          <a:p>
            <a:pPr algn="l">
              <a:lnSpc>
                <a:spcPct val="112000"/>
              </a:lnSpc>
              <a:spcBef>
                <a:spcPts val="500"/>
              </a:spcBef>
            </a:pPr>
            <a:r>
              <a:rPr sz="1700" b="0">
                <a:solidFill>
                  <a:srgbClr val="1B1F1E"/>
                </a:solidFill>
                <a:latin typeface="Montserrat"/>
              </a:rPr>
              <a:t>More Indian languages (Bhashini, IndicWhisper), token/queue integration, robot fleets, stations and airports</a:t>
            </a:r>
          </a:p>
        </p:txBody>
      </p:sp>
      <p:sp>
        <p:nvSpPr>
          <p:cNvPr id="146" name="Rounded Rectangle 145"/>
          <p:cNvSpPr/>
          <p:nvPr/>
        </p:nvSpPr>
        <p:spPr>
          <a:xfrm>
            <a:off x="548640" y="6446520"/>
            <a:ext cx="17190720" cy="3108960"/>
          </a:xfrm>
          <a:prstGeom prst="roundRect">
            <a:avLst>
              <a:gd name="adj" fmla="val 6000"/>
            </a:avLst>
          </a:prstGeom>
          <a:solidFill>
            <a:srgbClr val="F2F5F2"/>
          </a:solidFill>
          <a:ln w="12700">
            <a:solidFill>
              <a:srgbClr val="D3DB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TextBox 146"/>
          <p:cNvSpPr txBox="1"/>
          <p:nvPr/>
        </p:nvSpPr>
        <p:spPr>
          <a:xfrm>
            <a:off x="822960" y="6583680"/>
            <a:ext cx="8046720" cy="2834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2000"/>
              </a:lnSpc>
            </a:pPr>
            <a:r>
              <a:rPr sz="1800" b="1">
                <a:solidFill>
                  <a:srgbClr val="0F5C52"/>
                </a:solidFill>
                <a:latin typeface="Montserrat"/>
              </a:rPr>
              <a:t>ALSO ON THE ROADMAP</a:t>
            </a:r>
          </a:p>
          <a:p>
            <a:pPr algn="l">
              <a:lnSpc>
                <a:spcPct val="112000"/>
              </a:lnSpc>
              <a:spcBef>
                <a:spcPts val="600"/>
              </a:spcBef>
            </a:pPr>
            <a:r>
              <a:rPr sz="1700" b="1">
                <a:solidFill>
                  <a:srgbClr val="0F5C52"/>
                </a:solidFill>
                <a:latin typeface="Montserrat"/>
              </a:rPr>
              <a:t>•  </a:t>
            </a:r>
            <a:r>
              <a:rPr sz="1700" b="0">
                <a:solidFill>
                  <a:srgbClr val="1B1F1E"/>
                </a:solidFill>
                <a:latin typeface="Montserrat"/>
              </a:rPr>
              <a:t>Staff mobile app: send Saathi, see where it is, read its black box</a:t>
            </a:r>
          </a:p>
          <a:p>
            <a:pPr algn="l">
              <a:lnSpc>
                <a:spcPct val="112000"/>
              </a:lnSpc>
              <a:spcBef>
                <a:spcPts val="600"/>
              </a:spcBef>
            </a:pPr>
            <a:r>
              <a:rPr sz="1700" b="1">
                <a:solidFill>
                  <a:srgbClr val="0F5C52"/>
                </a:solidFill>
                <a:latin typeface="Montserrat"/>
              </a:rPr>
              <a:t>•  </a:t>
            </a:r>
            <a:r>
              <a:rPr sz="1700" b="0">
                <a:solidFill>
                  <a:srgbClr val="1B1F1E"/>
                </a:solidFill>
                <a:latin typeface="Montserrat"/>
              </a:rPr>
              <a:t>Fine-tune YOLO on Indian hospital scenes: wheelchairs, stretchers, crowds at counters</a:t>
            </a:r>
          </a:p>
          <a:p>
            <a:pPr algn="l">
              <a:lnSpc>
                <a:spcPct val="112000"/>
              </a:lnSpc>
              <a:spcBef>
                <a:spcPts val="600"/>
              </a:spcBef>
            </a:pPr>
            <a:r>
              <a:rPr sz="1700" b="1">
                <a:solidFill>
                  <a:srgbClr val="0F5C52"/>
                </a:solidFill>
                <a:latin typeface="Montserrat"/>
              </a:rPr>
              <a:t>•  </a:t>
            </a:r>
            <a:r>
              <a:rPr sz="1700" b="0">
                <a:solidFill>
                  <a:srgbClr val="1B1F1E"/>
                </a:solidFill>
                <a:latin typeface="Montserrat"/>
              </a:rPr>
              <a:t>Crowd heatmaps that tell admins where patients get lost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9326880" y="6583680"/>
            <a:ext cx="8138160" cy="2834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2000"/>
              </a:lnSpc>
            </a:pPr>
            <a:r>
              <a:rPr sz="1800" b="1">
                <a:solidFill>
                  <a:srgbClr val="0F5C52"/>
                </a:solidFill>
                <a:latin typeface="Montserrat"/>
              </a:rPr>
              <a:t>WHY IT SCALES</a:t>
            </a:r>
          </a:p>
          <a:p>
            <a:pPr algn="l">
              <a:lnSpc>
                <a:spcPct val="112000"/>
              </a:lnSpc>
              <a:spcBef>
                <a:spcPts val="600"/>
              </a:spcBef>
            </a:pPr>
            <a:r>
              <a:rPr sz="1700" b="1">
                <a:solidFill>
                  <a:srgbClr val="0F5C52"/>
                </a:solidFill>
                <a:latin typeface="Montserrat"/>
              </a:rPr>
              <a:t>•  </a:t>
            </a:r>
            <a:r>
              <a:rPr sz="1700" b="0">
                <a:solidFill>
                  <a:srgbClr val="1B1F1E"/>
                </a:solidFill>
                <a:latin typeface="Montserrat"/>
              </a:rPr>
              <a:t>The brain is software: the same code runs in Webots and on the real robot</a:t>
            </a:r>
          </a:p>
          <a:p>
            <a:pPr algn="l">
              <a:lnSpc>
                <a:spcPct val="112000"/>
              </a:lnSpc>
              <a:spcBef>
                <a:spcPts val="600"/>
              </a:spcBef>
            </a:pPr>
            <a:r>
              <a:rPr sz="1700" b="1">
                <a:solidFill>
                  <a:srgbClr val="0F5C52"/>
                </a:solidFill>
                <a:latin typeface="Montserrat"/>
              </a:rPr>
              <a:t>•  </a:t>
            </a:r>
            <a:r>
              <a:rPr sz="1700" b="0">
                <a:solidFill>
                  <a:srgbClr val="1B1F1E"/>
                </a:solidFill>
                <a:latin typeface="Montserrat"/>
              </a:rPr>
              <a:t>Hindi first, then any Indian language with the same agent</a:t>
            </a:r>
          </a:p>
          <a:p>
            <a:pPr algn="l">
              <a:lnSpc>
                <a:spcPct val="112000"/>
              </a:lnSpc>
              <a:spcBef>
                <a:spcPts val="600"/>
              </a:spcBef>
            </a:pPr>
            <a:r>
              <a:rPr sz="1700" b="1">
                <a:solidFill>
                  <a:srgbClr val="0F5C52"/>
                </a:solidFill>
                <a:latin typeface="Montserrat"/>
              </a:rPr>
              <a:t>•  </a:t>
            </a:r>
            <a:r>
              <a:rPr sz="1700" b="0">
                <a:solidFill>
                  <a:srgbClr val="1B1F1E"/>
                </a:solidFill>
                <a:latin typeface="Montserrat"/>
              </a:rPr>
              <a:t>Hospitals, stations, airports and melas share one problem: crowds and lost people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9"/>
          <p:cNvSpPr txBox="1"/>
          <p:nvPr/>
        </p:nvSpPr>
        <p:spPr>
          <a:xfrm>
            <a:off x="548640" y="1417320"/>
            <a:ext cx="171907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1B1F1E"/>
                </a:solidFill>
                <a:latin typeface="Montserrat"/>
                <a:ea typeface="Montserrat"/>
                <a:cs typeface="Montserrat"/>
                <a:sym typeface="Montserrat"/>
              </a:rPr>
              <a:t>EXTRA · SAATHI PARIVAAR: EK YAAD, KAI AANKHEIN</a:t>
            </a:r>
            <a:endParaRPr/>
          </a:p>
        </p:txBody>
      </p:sp>
      <p:pic>
        <p:nvPicPr>
          <p:cNvPr id="143" name="Google Shape;143;p19" title="pptn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8288000" cy="1205517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TextBox 143"/>
          <p:cNvSpPr txBox="1"/>
          <p:nvPr/>
        </p:nvSpPr>
        <p:spPr>
          <a:xfrm>
            <a:off x="548640" y="2103120"/>
            <a:ext cx="10607040" cy="8229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2000"/>
              </a:lnSpc>
            </a:pPr>
            <a:r>
              <a:rPr sz="1800" b="1">
                <a:solidFill>
                  <a:srgbClr val="1B1F1E"/>
                </a:solidFill>
                <a:latin typeface="Montserrat"/>
              </a:rPr>
              <a:t>A mother says “Mera beta kho gaya, laal t-shirt, 6 saal”. </a:t>
            </a:r>
            <a:r>
              <a:rPr sz="1800" b="0">
                <a:solidFill>
                  <a:srgbClr val="1B1F1E"/>
                </a:solidFill>
                <a:latin typeface="Montserrat"/>
              </a:rPr>
              <a:t>Every Saathi in the hospital answers from one shared memory of people. Building now for the finale.</a:t>
            </a:r>
          </a:p>
        </p:txBody>
      </p:sp>
      <p:sp>
        <p:nvSpPr>
          <p:cNvPr id="145" name="Rounded Rectangle 144"/>
          <p:cNvSpPr/>
          <p:nvPr/>
        </p:nvSpPr>
        <p:spPr>
          <a:xfrm>
            <a:off x="548640" y="3017520"/>
            <a:ext cx="2514600" cy="2286000"/>
          </a:xfrm>
          <a:prstGeom prst="roundRect">
            <a:avLst>
              <a:gd name="adj" fmla="val 6000"/>
            </a:avLst>
          </a:prstGeom>
          <a:solidFill>
            <a:srgbClr val="F2F5F2"/>
          </a:solidFill>
          <a:ln w="12700">
            <a:solidFill>
              <a:srgbClr val="D3DB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685800" y="3108960"/>
            <a:ext cx="2240280" cy="21488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2000"/>
              </a:lnSpc>
            </a:pPr>
            <a:r>
              <a:rPr sz="1600" b="1">
                <a:solidFill>
                  <a:srgbClr val="0F5C52"/>
                </a:solidFill>
                <a:latin typeface="Montserrat"/>
              </a:rPr>
              <a:t>1  REMEMBER</a:t>
            </a:r>
          </a:p>
          <a:p>
            <a:pPr algn="l">
              <a:lnSpc>
                <a:spcPct val="112000"/>
              </a:lnSpc>
              <a:spcBef>
                <a:spcPts val="400"/>
              </a:spcBef>
            </a:pPr>
            <a:r>
              <a:rPr sz="1400" b="0">
                <a:solidFill>
                  <a:srgbClr val="1B1F1E"/>
                </a:solidFill>
                <a:latin typeface="Montserrat"/>
              </a:rPr>
              <a:t>Each robot logs who it saw, where, when and which way they walked. Clothes only: no face is stored.</a:t>
            </a:r>
          </a:p>
        </p:txBody>
      </p:sp>
      <p:sp>
        <p:nvSpPr>
          <p:cNvPr id="147" name="Rounded Rectangle 146"/>
          <p:cNvSpPr/>
          <p:nvPr/>
        </p:nvSpPr>
        <p:spPr>
          <a:xfrm>
            <a:off x="3246120" y="3017520"/>
            <a:ext cx="2514600" cy="2286000"/>
          </a:xfrm>
          <a:prstGeom prst="roundRect">
            <a:avLst>
              <a:gd name="adj" fmla="val 6000"/>
            </a:avLst>
          </a:prstGeom>
          <a:solidFill>
            <a:srgbClr val="F2F5F2"/>
          </a:solidFill>
          <a:ln w="12700">
            <a:solidFill>
              <a:srgbClr val="D3DB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TextBox 147"/>
          <p:cNvSpPr txBox="1"/>
          <p:nvPr/>
        </p:nvSpPr>
        <p:spPr>
          <a:xfrm>
            <a:off x="3383280" y="3108960"/>
            <a:ext cx="2240280" cy="21488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2000"/>
              </a:lnSpc>
            </a:pPr>
            <a:r>
              <a:rPr sz="1600" b="1">
                <a:solidFill>
                  <a:srgbClr val="0F5C52"/>
                </a:solidFill>
                <a:latin typeface="Montserrat"/>
              </a:rPr>
              <a:t>2  ASK</a:t>
            </a:r>
          </a:p>
          <a:p>
            <a:pPr algn="l">
              <a:lnSpc>
                <a:spcPct val="112000"/>
              </a:lnSpc>
              <a:spcBef>
                <a:spcPts val="400"/>
              </a:spcBef>
            </a:pPr>
            <a:r>
              <a:rPr sz="1400" b="0">
                <a:solidFill>
                  <a:srgbClr val="1B1F1E"/>
                </a:solidFill>
                <a:latin typeface="Montserrat"/>
              </a:rPr>
              <a:t>Her words search every robot's memory: “Saathi-2 saw him 3 min ago at the pharmacy, walking to the corridor.” She taps his photo.</a:t>
            </a:r>
          </a:p>
        </p:txBody>
      </p:sp>
      <p:sp>
        <p:nvSpPr>
          <p:cNvPr id="149" name="Rounded Rectangle 148"/>
          <p:cNvSpPr/>
          <p:nvPr/>
        </p:nvSpPr>
        <p:spPr>
          <a:xfrm>
            <a:off x="5943600" y="3017520"/>
            <a:ext cx="2514600" cy="2286000"/>
          </a:xfrm>
          <a:prstGeom prst="roundRect">
            <a:avLst>
              <a:gd name="adj" fmla="val 6000"/>
            </a:avLst>
          </a:prstGeom>
          <a:solidFill>
            <a:srgbClr val="F2F5F2"/>
          </a:solidFill>
          <a:ln w="12700">
            <a:solidFill>
              <a:srgbClr val="D3DB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6080760" y="3108960"/>
            <a:ext cx="2240280" cy="21488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2000"/>
              </a:lnSpc>
            </a:pPr>
            <a:r>
              <a:rPr sz="1600" b="1">
                <a:solidFill>
                  <a:srgbClr val="0F5C52"/>
                </a:solidFill>
                <a:latin typeface="Montserrat"/>
              </a:rPr>
              <a:t>3  WHERE NOW?</a:t>
            </a:r>
          </a:p>
          <a:p>
            <a:pPr algn="l">
              <a:lnSpc>
                <a:spcPct val="112000"/>
              </a:lnSpc>
              <a:spcBef>
                <a:spcPts val="400"/>
              </a:spcBef>
            </a:pPr>
            <a:r>
              <a:rPr sz="1400" b="0">
                <a:solidFill>
                  <a:srgbClr val="1B1F1E"/>
                </a:solidFill>
                <a:latin typeface="Montserrat"/>
              </a:rPr>
              <a:t>From his last motion Saathi works out where he can be now, and rules out places the robots checked and found empty.</a:t>
            </a:r>
          </a:p>
        </p:txBody>
      </p:sp>
      <p:sp>
        <p:nvSpPr>
          <p:cNvPr id="151" name="Rounded Rectangle 150"/>
          <p:cNvSpPr/>
          <p:nvPr/>
        </p:nvSpPr>
        <p:spPr>
          <a:xfrm>
            <a:off x="8641080" y="3017520"/>
            <a:ext cx="2514600" cy="2286000"/>
          </a:xfrm>
          <a:prstGeom prst="roundRect">
            <a:avLst>
              <a:gd name="adj" fmla="val 6000"/>
            </a:avLst>
          </a:prstGeom>
          <a:solidFill>
            <a:srgbClr val="F2F5F2"/>
          </a:solidFill>
          <a:ln w="12700">
            <a:solidFill>
              <a:srgbClr val="D3DB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TextBox 151"/>
          <p:cNvSpPr txBox="1"/>
          <p:nvPr/>
        </p:nvSpPr>
        <p:spPr>
          <a:xfrm>
            <a:off x="8778240" y="3108960"/>
            <a:ext cx="2240280" cy="21488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2000"/>
              </a:lnSpc>
            </a:pPr>
            <a:r>
              <a:rPr sz="1600" b="1">
                <a:solidFill>
                  <a:srgbClr val="0F5C52"/>
                </a:solidFill>
                <a:latin typeface="Montserrat"/>
              </a:rPr>
              <a:t>4  SEARCH AS A TEAM</a:t>
            </a:r>
          </a:p>
          <a:p>
            <a:pPr algn="l">
              <a:lnSpc>
                <a:spcPct val="112000"/>
              </a:lnSpc>
              <a:spcBef>
                <a:spcPts val="400"/>
              </a:spcBef>
            </a:pPr>
            <a:r>
              <a:rPr sz="1400" b="0">
                <a:solidFill>
                  <a:srgbClr val="1B1F1E"/>
                </a:solidFill>
                <a:latin typeface="Montserrat"/>
              </a:rPr>
              <a:t>Robots split the likely places; one stays with the mother. Once they meet, his record is deleted.</a:t>
            </a:r>
          </a:p>
        </p:txBody>
      </p:sp>
      <p:pic>
        <p:nvPicPr>
          <p:cNvPr id="153" name="Picture 152" descr="clip_child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5533574"/>
            <a:ext cx="6309360" cy="2036202"/>
          </a:xfrm>
          <a:prstGeom prst="rect">
            <a:avLst/>
          </a:prstGeom>
          <a:ln w="9525">
            <a:solidFill>
              <a:srgbClr val="D3DBD6"/>
            </a:solidFill>
          </a:ln>
        </p:spPr>
      </p:pic>
      <p:sp>
        <p:nvSpPr>
          <p:cNvPr id="154" name="TextBox 153"/>
          <p:cNvSpPr txBox="1"/>
          <p:nvPr/>
        </p:nvSpPr>
        <p:spPr>
          <a:xfrm>
            <a:off x="7040880" y="5486400"/>
            <a:ext cx="4114800" cy="23774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1">
                <a:solidFill>
                  <a:srgbClr val="0F5C52"/>
                </a:solidFill>
                <a:latin typeface="Montserrat"/>
              </a:rPr>
              <a:t>TESTED ON SAATHI'S OWN CAMERA</a:t>
            </a:r>
          </a:p>
          <a:p>
            <a:pPr algn="l">
              <a:lnSpc>
                <a:spcPct val="112000"/>
              </a:lnSpc>
              <a:spcBef>
                <a:spcPts val="300"/>
              </a:spcBef>
            </a:pPr>
            <a:r>
              <a:rPr sz="1400" b="0">
                <a:solidFill>
                  <a:srgbClr val="1B1F1E"/>
                </a:solidFill>
                <a:latin typeface="Montserrat"/>
              </a:rPr>
              <a:t>“Small child in a red shirt”: the top 8 of 96 people seen are all him. A woman in green and a man in blue: 24 of 24 right. No look-alikes in this hall yet; the finale test adds them.</a:t>
            </a:r>
          </a:p>
        </p:txBody>
      </p:sp>
      <p:sp>
        <p:nvSpPr>
          <p:cNvPr id="155" name="Rounded Rectangle 154"/>
          <p:cNvSpPr/>
          <p:nvPr/>
        </p:nvSpPr>
        <p:spPr>
          <a:xfrm>
            <a:off x="11521440" y="2103120"/>
            <a:ext cx="6217920" cy="5806440"/>
          </a:xfrm>
          <a:prstGeom prst="roundRect">
            <a:avLst>
              <a:gd name="adj" fmla="val 6000"/>
            </a:avLst>
          </a:prstGeom>
          <a:solidFill>
            <a:srgbClr val="F2F5F2"/>
          </a:solidFill>
          <a:ln w="12700">
            <a:solidFill>
              <a:srgbClr val="D3DB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11750040" y="2194560"/>
            <a:ext cx="5806440" cy="56692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2000"/>
              </a:lnSpc>
            </a:pPr>
            <a:r>
              <a:rPr sz="1600" b="1">
                <a:solidFill>
                  <a:srgbClr val="0F5C52"/>
                </a:solidFill>
                <a:latin typeface="Montserrat"/>
              </a:rPr>
              <a:t>WHAT EXISTS → WHAT SAATHI ADDS</a:t>
            </a:r>
          </a:p>
          <a:p>
            <a:pPr algn="l">
              <a:lnSpc>
                <a:spcPct val="112000"/>
              </a:lnSpc>
              <a:spcBef>
                <a:spcPts val="800"/>
              </a:spcBef>
            </a:pPr>
            <a:r>
              <a:rPr sz="1300" b="0">
                <a:solidFill>
                  <a:srgbClr val="555E5B"/>
                </a:solidFill>
                <a:latin typeface="Montserrat"/>
              </a:rPr>
              <a:t>NVIDIA ReMEmbR (2024): a robot recalls where it saw things</a:t>
            </a:r>
          </a:p>
          <a:p>
            <a:pPr algn="l">
              <a:lnSpc>
                <a:spcPct val="112000"/>
              </a:lnSpc>
              <a:spcBef>
                <a:spcPts val="100"/>
              </a:spcBef>
            </a:pPr>
            <a:r>
              <a:rPr sz="1500" b="1">
                <a:solidFill>
                  <a:srgbClr val="1B1F1E"/>
                </a:solidFill>
                <a:latin typeface="Montserrat"/>
              </a:rPr>
              <a:t>→ Where a person is now, from a fresh sighting</a:t>
            </a:r>
          </a:p>
          <a:p>
            <a:pPr algn="l">
              <a:lnSpc>
                <a:spcPct val="112000"/>
              </a:lnSpc>
              <a:spcBef>
                <a:spcPts val="800"/>
              </a:spcBef>
            </a:pPr>
            <a:r>
              <a:rPr sz="1300" b="0">
                <a:solidFill>
                  <a:srgbClr val="555E5B"/>
                </a:solidFill>
                <a:latin typeface="Montserrat"/>
              </a:rPr>
              <a:t>HUMEMBR (IROS 2026): finds known people by face and routine</a:t>
            </a:r>
          </a:p>
          <a:p>
            <a:pPr algn="l">
              <a:lnSpc>
                <a:spcPct val="112000"/>
              </a:lnSpc>
              <a:spcBef>
                <a:spcPts val="100"/>
              </a:spcBef>
            </a:pPr>
            <a:r>
              <a:rPr sz="1500" b="1">
                <a:solidFill>
                  <a:srgbClr val="1B1F1E"/>
                </a:solidFill>
                <a:latin typeface="Montserrat"/>
              </a:rPr>
              <a:t>→ Strangers, by clothes only; no face stored</a:t>
            </a:r>
          </a:p>
          <a:p>
            <a:pPr algn="l">
              <a:lnSpc>
                <a:spcPct val="112000"/>
              </a:lnSpc>
              <a:spcBef>
                <a:spcPts val="800"/>
              </a:spcBef>
            </a:pPr>
            <a:r>
              <a:rPr sz="1300" b="0">
                <a:solidFill>
                  <a:srgbClr val="555E5B"/>
                </a:solidFill>
                <a:latin typeface="Montserrat"/>
              </a:rPr>
              <a:t>Kumbh 2025 khoya-paya: face recognition on fixed cameras</a:t>
            </a:r>
          </a:p>
          <a:p>
            <a:pPr algn="l">
              <a:lnSpc>
                <a:spcPct val="112000"/>
              </a:lnSpc>
              <a:spcBef>
                <a:spcPts val="100"/>
              </a:spcBef>
            </a:pPr>
            <a:r>
              <a:rPr sz="1500" b="1">
                <a:solidFill>
                  <a:srgbClr val="1B1F1E"/>
                </a:solidFill>
                <a:latin typeface="Montserrat"/>
              </a:rPr>
              <a:t>→ Robots also remember where they looked and saw no one</a:t>
            </a:r>
          </a:p>
          <a:p>
            <a:pPr algn="l">
              <a:lnSpc>
                <a:spcPct val="112000"/>
              </a:lnSpc>
              <a:spcBef>
                <a:spcPts val="800"/>
              </a:spcBef>
            </a:pPr>
            <a:r>
              <a:rPr sz="1300" b="0">
                <a:solidFill>
                  <a:srgbClr val="555E5B"/>
                </a:solidFill>
                <a:latin typeface="Montserrat"/>
              </a:rPr>
              <a:t>Lost-child robots (Japan, 2017): share spoken descriptions</a:t>
            </a:r>
          </a:p>
          <a:p>
            <a:pPr algn="l">
              <a:lnSpc>
                <a:spcPct val="112000"/>
              </a:lnSpc>
              <a:spcBef>
                <a:spcPts val="100"/>
              </a:spcBef>
            </a:pPr>
            <a:r>
              <a:rPr sz="1500" b="1">
                <a:solidFill>
                  <a:srgbClr val="1B1F1E"/>
                </a:solidFill>
                <a:latin typeface="Montserrat"/>
              </a:rPr>
              <a:t>→ A team that splits the search; one robot always stays</a:t>
            </a:r>
          </a:p>
          <a:p>
            <a:pPr algn="l">
              <a:lnSpc>
                <a:spcPct val="112000"/>
              </a:lnSpc>
              <a:spcBef>
                <a:spcPts val="1400"/>
              </a:spcBef>
            </a:pPr>
            <a:r>
              <a:rPr sz="1600" b="1">
                <a:solidFill>
                  <a:srgbClr val="0F5C52"/>
                </a:solidFill>
                <a:latin typeface="Montserrat"/>
              </a:rPr>
              <a:t>WHY INDIA</a:t>
            </a:r>
          </a:p>
          <a:p>
            <a:pPr algn="l">
              <a:lnSpc>
                <a:spcPct val="112000"/>
              </a:lnSpc>
              <a:spcBef>
                <a:spcPts val="400"/>
              </a:spcBef>
            </a:pPr>
            <a:r>
              <a:rPr sz="1400" b="1">
                <a:solidFill>
                  <a:srgbClr val="0F5C52"/>
                </a:solidFill>
                <a:latin typeface="Montserrat"/>
              </a:rPr>
              <a:t>•  </a:t>
            </a:r>
            <a:r>
              <a:rPr sz="1400" b="0">
                <a:solidFill>
                  <a:srgbClr val="1B1F1E"/>
                </a:solidFill>
                <a:latin typeface="Montserrat"/>
              </a:rPr>
              <a:t>98% of 400 older patients at AIIMS Delhi's geriatric OPD usually come alone (preprint, 2026). The robots become the family they didn't bring.</a:t>
            </a:r>
          </a:p>
          <a:p>
            <a:pPr algn="l">
              <a:lnSpc>
                <a:spcPct val="112000"/>
              </a:lnSpc>
              <a:spcBef>
                <a:spcPts val="400"/>
              </a:spcBef>
            </a:pPr>
            <a:r>
              <a:rPr sz="1400" b="1">
                <a:solidFill>
                  <a:srgbClr val="0F5C52"/>
                </a:solidFill>
                <a:latin typeface="Montserrat"/>
              </a:rPr>
              <a:t>•  </a:t>
            </a:r>
            <a:r>
              <a:rPr sz="1400" b="0">
                <a:solidFill>
                  <a:srgbClr val="1B1F1E"/>
                </a:solidFill>
                <a:latin typeface="Montserrat"/>
              </a:rPr>
              <a:t>People rest on OPD floors. Memory tells a fall from rest, so nurses are not paged all day.</a:t>
            </a:r>
          </a:p>
        </p:txBody>
      </p:sp>
      <p:sp>
        <p:nvSpPr>
          <p:cNvPr id="157" name="Rounded Rectangle 156"/>
          <p:cNvSpPr/>
          <p:nvPr/>
        </p:nvSpPr>
        <p:spPr>
          <a:xfrm>
            <a:off x="548640" y="8092440"/>
            <a:ext cx="17190720" cy="1481328"/>
          </a:xfrm>
          <a:prstGeom prst="roundRect">
            <a:avLst>
              <a:gd name="adj" fmla="val 6000"/>
            </a:avLst>
          </a:prstGeom>
          <a:solidFill>
            <a:srgbClr val="DDEE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TextBox 157"/>
          <p:cNvSpPr txBox="1"/>
          <p:nvPr/>
        </p:nvSpPr>
        <p:spPr>
          <a:xfrm>
            <a:off x="777240" y="8156448"/>
            <a:ext cx="365760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1">
                <a:solidFill>
                  <a:srgbClr val="0F5C52"/>
                </a:solidFill>
                <a:latin typeface="Montserrat"/>
              </a:rPr>
              <a:t>ONE MEMORY, FIVE JOBS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777240" y="8503920"/>
            <a:ext cx="3291840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1">
                <a:solidFill>
                  <a:srgbClr val="1B1F1E"/>
                </a:solidFill>
                <a:latin typeface="Montserrat"/>
              </a:rPr>
              <a:t>Khoya-Paya</a:t>
            </a:r>
          </a:p>
          <a:p>
            <a:pPr algn="l">
              <a:lnSpc>
                <a:spcPct val="112000"/>
              </a:lnSpc>
            </a:pPr>
            <a:r>
              <a:rPr sz="1300" b="0">
                <a:solidFill>
                  <a:srgbClr val="555E5B"/>
                </a:solidFill>
                <a:latin typeface="Montserrat"/>
              </a:rPr>
              <a:t>finds a lost child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4160520" y="8503920"/>
            <a:ext cx="3291840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1">
                <a:solidFill>
                  <a:srgbClr val="1B1F1E"/>
                </a:solidFill>
                <a:latin typeface="Montserrat"/>
              </a:rPr>
              <a:t>Bichhadne se pehle</a:t>
            </a:r>
          </a:p>
          <a:p>
            <a:pPr algn="l">
              <a:lnSpc>
                <a:spcPct val="112000"/>
              </a:lnSpc>
            </a:pPr>
            <a:r>
              <a:rPr sz="1300" b="0">
                <a:solidFill>
                  <a:srgbClr val="555E5B"/>
                </a:solidFill>
                <a:latin typeface="Montserrat"/>
              </a:rPr>
              <a:t>spots a child drifting from family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7543800" y="8503920"/>
            <a:ext cx="3291840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1">
                <a:solidFill>
                  <a:srgbClr val="1B1F1E"/>
                </a:solidFill>
                <a:latin typeface="Montserrat"/>
              </a:rPr>
              <a:t>Vaada</a:t>
            </a:r>
          </a:p>
          <a:p>
            <a:pPr algn="l">
              <a:lnSpc>
                <a:spcPct val="112000"/>
              </a:lnSpc>
            </a:pPr>
            <a:r>
              <a:rPr sz="1300" b="0">
                <a:solidFill>
                  <a:srgbClr val="555E5B"/>
                </a:solidFill>
                <a:latin typeface="Montserrat"/>
              </a:rPr>
              <a:t>fetches you before your token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10927080" y="8503920"/>
            <a:ext cx="3291840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1">
                <a:solidFill>
                  <a:srgbClr val="1B1F1E"/>
                </a:solidFill>
                <a:latin typeface="Montserrat"/>
              </a:rPr>
              <a:t>Doosri raay</a:t>
            </a:r>
          </a:p>
          <a:p>
            <a:pPr algn="l">
              <a:lnSpc>
                <a:spcPct val="112000"/>
              </a:lnSpc>
            </a:pPr>
            <a:r>
              <a:rPr sz="1300" b="0">
                <a:solidFill>
                  <a:srgbClr val="555E5B"/>
                </a:solidFill>
                <a:latin typeface="Montserrat"/>
              </a:rPr>
              <a:t>fell, or resting on the floor?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14310360" y="8503920"/>
            <a:ext cx="3291840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1">
                <a:solidFill>
                  <a:srgbClr val="1B1F1E"/>
                </a:solidFill>
                <a:latin typeface="Montserrat"/>
              </a:rPr>
              <a:t>Ek ruke, ek bulaye</a:t>
            </a:r>
          </a:p>
          <a:p>
            <a:pPr algn="l">
              <a:lnSpc>
                <a:spcPct val="112000"/>
              </a:lnSpc>
            </a:pPr>
            <a:r>
              <a:rPr sz="1300" b="0">
                <a:solidFill>
                  <a:srgbClr val="555E5B"/>
                </a:solidFill>
                <a:latin typeface="Montserrat"/>
              </a:rPr>
              <a:t>one stays, one fetches help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777240" y="9189720"/>
            <a:ext cx="16733520" cy="34747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0">
                <a:solidFill>
                  <a:srgbClr val="1B1F1E"/>
                </a:solidFill>
                <a:latin typeface="Montserrat"/>
              </a:rPr>
              <a:t>Privacy: clothes, not faces · deleted after a reunion · wiped daily · every search logged     Plan: 2 robots by 24 Oct · 3 robots and a 200-seed test (1 vs 3 robots, memory on/off) at the finale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548640" y="9710928"/>
            <a:ext cx="1719072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>
                <a:solidFill>
                  <a:srgbClr val="555E5B"/>
                </a:solidFill>
                <a:latin typeface="Montserrat"/>
              </a:rPr>
              <a:t>Prior work, to our knowledge (our search, Oct 2026): ReMEmbR arXiv 2409.13682 · HUMEMBR arXiv 2606.30404 · Kumbh 2025 Digital Khoya-Paya Kendra · Wada et al., IEICE CNR2017-12 · AIIMS geriatric OPD: Research Square preprint, Aug 2026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8" name="Google Shape;148;p20"/>
          <p:cNvGrpSpPr/>
          <p:nvPr/>
        </p:nvGrpSpPr>
        <p:grpSpPr>
          <a:xfrm>
            <a:off x="4239144" y="5736501"/>
            <a:ext cx="8898075" cy="2077107"/>
            <a:chOff x="0" y="180975"/>
            <a:chExt cx="11864100" cy="2769476"/>
          </a:xfrm>
        </p:grpSpPr>
        <p:sp>
          <p:nvSpPr>
            <p:cNvPr id="149" name="Google Shape;149;p20"/>
            <p:cNvSpPr txBox="1"/>
            <p:nvPr/>
          </p:nvSpPr>
          <p:spPr>
            <a:xfrm>
              <a:off x="0" y="180975"/>
              <a:ext cx="118641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7666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0" name="Google Shape;150;p20"/>
            <p:cNvSpPr txBox="1"/>
            <p:nvPr/>
          </p:nvSpPr>
          <p:spPr>
            <a:xfrm>
              <a:off x="0" y="2581151"/>
              <a:ext cx="118641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7666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1" name="Google Shape;151;p20"/>
          <p:cNvGrpSpPr/>
          <p:nvPr/>
        </p:nvGrpSpPr>
        <p:grpSpPr>
          <a:xfrm>
            <a:off x="2554002" y="5409216"/>
            <a:ext cx="12268350" cy="1305429"/>
            <a:chOff x="0" y="19050"/>
            <a:chExt cx="16357800" cy="1740572"/>
          </a:xfrm>
        </p:grpSpPr>
        <p:sp>
          <p:nvSpPr>
            <p:cNvPr id="152" name="Google Shape;152;p20"/>
            <p:cNvSpPr txBox="1"/>
            <p:nvPr/>
          </p:nvSpPr>
          <p:spPr>
            <a:xfrm>
              <a:off x="0" y="19050"/>
              <a:ext cx="163578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4091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3" name="Google Shape;153;p20"/>
            <p:cNvSpPr txBox="1"/>
            <p:nvPr/>
          </p:nvSpPr>
          <p:spPr>
            <a:xfrm>
              <a:off x="0" y="1390322"/>
              <a:ext cx="163578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701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4" name="Google Shape;154;p20"/>
          <p:cNvGrpSpPr/>
          <p:nvPr/>
        </p:nvGrpSpPr>
        <p:grpSpPr>
          <a:xfrm>
            <a:off x="1873714" y="4696929"/>
            <a:ext cx="13628822" cy="4488047"/>
            <a:chOff x="2753902" y="4797891"/>
            <a:chExt cx="13628822" cy="4488047"/>
          </a:xfrm>
        </p:grpSpPr>
        <p:sp>
          <p:nvSpPr>
            <p:cNvPr id="155" name="Google Shape;155;p20"/>
            <p:cNvSpPr txBox="1"/>
            <p:nvPr/>
          </p:nvSpPr>
          <p:spPr>
            <a:xfrm rot="-348051">
              <a:off x="2847493" y="5401630"/>
              <a:ext cx="12071717" cy="246242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5499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29088" u="none" cap="none" strike="noStrike">
                  <a:solidFill>
                    <a:srgbClr val="1D1D1F"/>
                  </a:solidFill>
                  <a:latin typeface="Caveat"/>
                  <a:ea typeface="Caveat"/>
                  <a:cs typeface="Caveat"/>
                  <a:sym typeface="Caveat"/>
                </a:rPr>
                <a:t>Thank</a:t>
              </a:r>
              <a:endParaRPr>
                <a:latin typeface="Caveat"/>
                <a:ea typeface="Caveat"/>
                <a:cs typeface="Caveat"/>
                <a:sym typeface="Caveat"/>
              </a:endParaRPr>
            </a:p>
          </p:txBody>
        </p:sp>
        <p:sp>
          <p:nvSpPr>
            <p:cNvPr id="156" name="Google Shape;156;p20"/>
            <p:cNvSpPr txBox="1"/>
            <p:nvPr/>
          </p:nvSpPr>
          <p:spPr>
            <a:xfrm>
              <a:off x="4695023" y="6732039"/>
              <a:ext cx="11687700" cy="25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5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30167" u="none" cap="none" strike="noStrike">
                  <a:solidFill>
                    <a:srgbClr val="1D1D1F"/>
                  </a:solidFill>
                  <a:latin typeface="Caveat"/>
                  <a:ea typeface="Caveat"/>
                  <a:cs typeface="Caveat"/>
                  <a:sym typeface="Caveat"/>
                </a:rPr>
                <a:t>you!</a:t>
              </a:r>
              <a:endParaRPr>
                <a:latin typeface="Caveat"/>
                <a:ea typeface="Caveat"/>
                <a:cs typeface="Caveat"/>
                <a:sym typeface="Caveat"/>
              </a:endParaRPr>
            </a:p>
          </p:txBody>
        </p:sp>
      </p:grpSp>
      <p:pic>
        <p:nvPicPr>
          <p:cNvPr id="157" name="Google Shape;157;p20" title="download (2).jpg"/>
          <p:cNvPicPr preferRelativeResize="0"/>
          <p:nvPr/>
        </p:nvPicPr>
        <p:blipFill rotWithShape="1">
          <a:blip r:embed="rId3">
            <a:alphaModFix/>
          </a:blip>
          <a:srcRect b="0" l="38928" r="16455" t="0"/>
          <a:stretch/>
        </p:blipFill>
        <p:spPr>
          <a:xfrm rot="-5400000">
            <a:off x="7123100" y="-7111200"/>
            <a:ext cx="4088375" cy="183266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20" title="Group 48097831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8675" y="296224"/>
            <a:ext cx="7240346" cy="791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20" title="Logo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2520575" y="296231"/>
            <a:ext cx="5599601" cy="791925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TextBox 159"/>
          <p:cNvSpPr txBox="1"/>
          <p:nvPr/>
        </p:nvSpPr>
        <p:spPr>
          <a:xfrm>
            <a:off x="13807440" y="4526280"/>
            <a:ext cx="3931920" cy="2560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2000"/>
              </a:lnSpc>
            </a:pPr>
            <a:r>
              <a:rPr sz="3400" b="1">
                <a:solidFill>
                  <a:srgbClr val="0F5C52"/>
                </a:solidFill>
                <a:latin typeface="Montserrat"/>
              </a:rPr>
              <a:t>SAATHI</a:t>
            </a:r>
          </a:p>
          <a:p>
            <a:pPr algn="l">
              <a:lnSpc>
                <a:spcPct val="112000"/>
              </a:lnSpc>
              <a:spcBef>
                <a:spcPts val="200"/>
              </a:spcBef>
            </a:pPr>
            <a:r>
              <a:rPr sz="2000" b="1">
                <a:solidFill>
                  <a:srgbClr val="1B1F1E"/>
                </a:solidFill>
                <a:latin typeface="Montserrat"/>
              </a:rPr>
              <a:t>Raasta bhi, saath bhi.</a:t>
            </a:r>
          </a:p>
          <a:p>
            <a:pPr algn="l">
              <a:lnSpc>
                <a:spcPct val="112000"/>
              </a:lnSpc>
              <a:spcBef>
                <a:spcPts val="200"/>
              </a:spcBef>
            </a:pPr>
            <a:r>
              <a:rPr sz="1500" b="0">
                <a:solidFill>
                  <a:srgbClr val="555E5B"/>
                </a:solidFill>
                <a:latin typeface="Montserrat"/>
              </a:rPr>
              <a:t>The way, and the company.</a:t>
            </a:r>
          </a:p>
          <a:p>
            <a:pPr algn="l">
              <a:lnSpc>
                <a:spcPct val="112000"/>
              </a:lnSpc>
              <a:spcBef>
                <a:spcPts val="1000"/>
              </a:spcBef>
            </a:pPr>
            <a:r>
              <a:rPr sz="1500" b="1">
                <a:solidFill>
                  <a:srgbClr val="1B1F1E"/>
                </a:solidFill>
                <a:latin typeface="Montserrat"/>
              </a:rPr>
              <a:t>Team Glitch</a:t>
            </a:r>
          </a:p>
          <a:p>
            <a:pPr algn="l">
              <a:lnSpc>
                <a:spcPct val="112000"/>
              </a:lnSpc>
              <a:spcBef>
                <a:spcPts val="200"/>
              </a:spcBef>
            </a:pPr>
            <a:r>
              <a:rPr sz="1300" b="0">
                <a:solidFill>
                  <a:srgbClr val="555E5B"/>
                </a:solidFill>
                <a:latin typeface="Montserrat"/>
              </a:rPr>
              <a:t>Ayush Kumar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39" name="Google Shape;139;p19"/>
          <p:cNvSpPr txBox="1"/>
          <p:nvPr/>
        </p:nvSpPr>
        <p:spPr>
          <a:xfrm>
            <a:off x="548640" y="1417320"/>
            <a:ext cx="171907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1B1F1E"/>
                </a:solidFill>
                <a:latin typeface="Montserrat"/>
                <a:ea typeface="Montserrat"/>
                <a:cs typeface="Montserrat"/>
                <a:sym typeface="Montserrat"/>
              </a:rPr>
              <a:t>EXTRA · PS-01 CHECKLIST: EVERY LINE, WITH PROOF</a:t>
            </a:r>
            <a:endParaRPr/>
          </a:p>
        </p:txBody>
      </p:sp>
      <p:pic>
        <p:nvPicPr>
          <p:cNvPr id="143" name="Google Shape;143;p19" title="pptnlogo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18288000" cy="1205517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44" name="Table 143"/>
          <p:cNvGraphicFramePr>
            <a:graphicFrameLocks noGrp="1"/>
          </p:cNvGraphicFramePr>
          <p:nvPr/>
        </p:nvGraphicFramePr>
        <p:xfrm>
          <a:off x="548640" y="2103120"/>
          <a:ext cx="17190720" cy="62362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37760"/>
                <a:gridCol w="6400800"/>
                <a:gridCol w="5852160"/>
              </a:tblGrid>
              <a:tr h="566928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Montserrat"/>
                        </a:rPr>
                        <a:t>PS-01 asks for</a:t>
                      </a:r>
                    </a:p>
                  </a:txBody>
                  <a:tcPr marL="109728" marR="109728" marT="45720" marB="45720">
                    <a:solidFill>
                      <a:srgbClr val="0F5C5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Montserrat"/>
                        </a:rPr>
                        <a:t>What Saathi does</a:t>
                      </a:r>
                    </a:p>
                  </a:txBody>
                  <a:tcPr marL="109728" marR="109728" marT="45720" marB="45720">
                    <a:solidFill>
                      <a:srgbClr val="0F5C5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Montserrat"/>
                        </a:rPr>
                        <a:t>Proof from our runs</a:t>
                      </a:r>
                    </a:p>
                  </a:txBody>
                  <a:tcPr marL="109728" marR="109728" marT="45720" marB="45720">
                    <a:solidFill>
                      <a:srgbClr val="0F5C5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0F5C52"/>
                          </a:solidFill>
                          <a:latin typeface="Montserrat"/>
                        </a:rPr>
                        <a:t>✓  Understand surroundings with AI vision</a:t>
                      </a:r>
                    </a:p>
                  </a:txBody>
                  <a:tcPr marL="109728" marR="109728" marT="45720" marB="45720">
                    <a:solidFill>
                      <a:srgbClr val="F2F5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B1F1E"/>
                          </a:solidFill>
                          <a:latin typeface="Montserrat"/>
                        </a:rPr>
                        <a:t>YOLO11 + depth camera + 360° LiDAR; people on a floor map</a:t>
                      </a:r>
                    </a:p>
                  </a:txBody>
                  <a:tcPr marL="109728" marR="109728" marT="45720" marB="45720">
                    <a:solidFill>
                      <a:srgbClr val="F2F5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B1F1E"/>
                          </a:solidFill>
                          <a:latin typeface="Montserrat"/>
                        </a:rPr>
                        <a:t>People placed within 0.10 m (median)</a:t>
                      </a:r>
                    </a:p>
                  </a:txBody>
                  <a:tcPr marL="109728" marR="109728" marT="45720" marB="45720">
                    <a:solidFill>
                      <a:srgbClr val="F2F5F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0F5C52"/>
                          </a:solidFill>
                          <a:latin typeface="Montserrat"/>
                        </a:rPr>
                        <a:t>✓  Identify relevant people and objects</a:t>
                      </a:r>
                    </a:p>
                  </a:txBody>
                  <a:tcPr marL="109728" marR="10972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B1F1E"/>
                          </a:solidFill>
                          <a:latin typeface="Montserrat"/>
                        </a:rPr>
                        <a:t>Tracks people; YOLOE names objects by text</a:t>
                      </a:r>
                    </a:p>
                  </a:txBody>
                  <a:tcPr marL="109728" marR="10972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B1F1E"/>
                          </a:solidFill>
                          <a:latin typeface="Montserrat"/>
                        </a:rPr>
                        <a:t>“cardboard box” and “yellow caution sign” named on sight</a:t>
                      </a:r>
                    </a:p>
                  </a:txBody>
                  <a:tcPr marL="109728" marR="109728" marT="45720" marB="45720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0F5C52"/>
                          </a:solidFill>
                          <a:latin typeface="Montserrat"/>
                        </a:rPr>
                        <a:t>✓  Navigate autonomously to an objective</a:t>
                      </a:r>
                    </a:p>
                  </a:txBody>
                  <a:tcPr marL="109728" marR="109728" marT="45720" marB="45720">
                    <a:solidFill>
                      <a:srgbClr val="F2F5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B1F1E"/>
                          </a:solidFill>
                          <a:latin typeface="Montserrat"/>
                        </a:rPr>
                        <a:t>A* on a crowd costmap; goals by name or by sight</a:t>
                      </a:r>
                    </a:p>
                  </a:txBody>
                  <a:tcPr marL="109728" marR="109728" marT="45720" marB="45720">
                    <a:solidFill>
                      <a:srgbClr val="F2F5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B1F1E"/>
                          </a:solidFill>
                          <a:latin typeface="Montserrat"/>
                        </a:rPr>
                        <a:t>Found a dustbin by camera, reached it in 12 s</a:t>
                      </a:r>
                    </a:p>
                  </a:txBody>
                  <a:tcPr marL="109728" marR="109728" marT="45720" marB="45720">
                    <a:solidFill>
                      <a:srgbClr val="F2F5F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0F5C52"/>
                          </a:solidFill>
                          <a:latin typeface="Montserrat"/>
                        </a:rPr>
                        <a:t>✓  Detect and avoid obstacles</a:t>
                      </a:r>
                    </a:p>
                  </a:txBody>
                  <a:tcPr marL="109728" marR="10972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B1F1E"/>
                          </a:solidFill>
                          <a:latin typeface="Montserrat"/>
                        </a:rPr>
                        <a:t>Depth camera finds what the map does not have</a:t>
                      </a:r>
                    </a:p>
                  </a:txBody>
                  <a:tcPr marL="109728" marR="10972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B1F1E"/>
                          </a:solidFill>
                          <a:latin typeface="Montserrat"/>
                        </a:rPr>
                        <a:t>Map-only robot hit 2 unmapped objects; Saathi 0</a:t>
                      </a:r>
                    </a:p>
                  </a:txBody>
                  <a:tcPr marL="109728" marR="109728" marT="45720" marB="45720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0F5C52"/>
                          </a:solidFill>
                          <a:latin typeface="Montserrat"/>
                        </a:rPr>
                        <a:t>✓  Real-time decision making</a:t>
                      </a:r>
                    </a:p>
                  </a:txBody>
                  <a:tcPr marL="109728" marR="109728" marT="45720" marB="45720">
                    <a:solidFill>
                      <a:srgbClr val="F2F5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B1F1E"/>
                          </a:solidFill>
                          <a:latin typeface="Montserrat"/>
                        </a:rPr>
                        <a:t>30 Hz reflex loop, replans twice a second</a:t>
                      </a:r>
                    </a:p>
                  </a:txBody>
                  <a:tcPr marL="109728" marR="109728" marT="45720" marB="45720">
                    <a:solidFill>
                      <a:srgbClr val="F2F5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B1F1E"/>
                          </a:solidFill>
                          <a:latin typeface="Montserrat"/>
                        </a:rPr>
                        <a:t>200 crowds: 73% fewer near-misses than a normal robot</a:t>
                      </a:r>
                    </a:p>
                  </a:txBody>
                  <a:tcPr marL="109728" marR="109728" marT="45720" marB="45720">
                    <a:solidFill>
                      <a:srgbClr val="F2F5F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0F5C52"/>
                          </a:solidFill>
                          <a:latin typeface="Montserrat"/>
                        </a:rPr>
                        <a:t>✓  Object detection, image classification</a:t>
                      </a:r>
                    </a:p>
                  </a:txBody>
                  <a:tcPr marL="109728" marR="10972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B1F1E"/>
                          </a:solidFill>
                          <a:latin typeface="Montserrat"/>
                        </a:rPr>
                        <a:t>YOLO11 people; YOLOE posture: “person lying on the floor”</a:t>
                      </a:r>
                    </a:p>
                  </a:txBody>
                  <a:tcPr marL="109728" marR="10972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B1F1E"/>
                          </a:solidFill>
                          <a:latin typeface="Montserrat"/>
                        </a:rPr>
                        <a:t>Fall classified 0.3 s after it happened</a:t>
                      </a:r>
                    </a:p>
                  </a:txBody>
                  <a:tcPr marL="109728" marR="109728" marT="45720" marB="45720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0F5C52"/>
                          </a:solidFill>
                          <a:latin typeface="Montserrat"/>
                        </a:rPr>
                        <a:t>✓  Scene understanding</a:t>
                      </a:r>
                    </a:p>
                  </a:txBody>
                  <a:tcPr marL="109728" marR="109728" marT="45720" marB="45720">
                    <a:solidFill>
                      <a:srgbClr val="F2F5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B1F1E"/>
                          </a:solidFill>
                          <a:latin typeface="Montserrat"/>
                        </a:rPr>
                        <a:t>Conversations and queues from tracks; signs read</a:t>
                      </a:r>
                    </a:p>
                  </a:txBody>
                  <a:tcPr marL="109728" marR="109728" marT="45720" marB="45720">
                    <a:solidFill>
                      <a:srgbClr val="F2F5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B1F1E"/>
                          </a:solidFill>
                          <a:latin typeface="Montserrat"/>
                        </a:rPr>
                        <a:t>Cut through a conversation in 0 of 200 crowds</a:t>
                      </a:r>
                    </a:p>
                  </a:txBody>
                  <a:tcPr marL="109728" marR="109728" marT="45720" marB="45720">
                    <a:solidFill>
                      <a:srgbClr val="F2F5F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0F5C52"/>
                          </a:solidFill>
                          <a:latin typeface="Montserrat"/>
                        </a:rPr>
                        <a:t>✓  Vision-language models</a:t>
                      </a:r>
                    </a:p>
                  </a:txBody>
                  <a:tcPr marL="109728" marR="10972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B1F1E"/>
                          </a:solidFill>
                          <a:latin typeface="Montserrat"/>
                        </a:rPr>
                        <a:t>Qwen3.5-2B (Apple MLX) describes the scene</a:t>
                      </a:r>
                    </a:p>
                  </a:txBody>
                  <a:tcPr marL="109728" marR="10972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B1F1E"/>
                          </a:solidFill>
                          <a:latin typeface="Montserrat"/>
                        </a:rPr>
                        <a:t>Its description goes with the nurse alert</a:t>
                      </a:r>
                    </a:p>
                  </a:txBody>
                  <a:tcPr marL="109728" marR="109728" marT="45720" marB="45720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0F5C52"/>
                          </a:solidFill>
                          <a:latin typeface="Montserrat"/>
                        </a:rPr>
                        <a:t>✓  Motor control</a:t>
                      </a:r>
                    </a:p>
                  </a:txBody>
                  <a:tcPr marL="109728" marR="109728" marT="45720" marB="45720">
                    <a:solidFill>
                      <a:srgbClr val="F2F5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B1F1E"/>
                          </a:solidFill>
                          <a:latin typeface="Montserrat"/>
                        </a:rPr>
                        <a:t>Physics mecanum base, speed command per wheel</a:t>
                      </a:r>
                    </a:p>
                  </a:txBody>
                  <a:tcPr marL="109728" marR="109728" marT="45720" marB="45720">
                    <a:solidFill>
                      <a:srgbClr val="F2F5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B1F1E"/>
                          </a:solidFill>
                          <a:latin typeface="Montserrat"/>
                        </a:rPr>
                        <a:t>Forward, sideways and turning within 7% of the command</a:t>
                      </a:r>
                    </a:p>
                  </a:txBody>
                  <a:tcPr marL="109728" marR="109728" marT="45720" marB="45720">
                    <a:solidFill>
                      <a:srgbClr val="F2F5F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0F5C52"/>
                          </a:solidFill>
                          <a:latin typeface="Montserrat"/>
                        </a:rPr>
                        <a:t>✓  Real or simulated environment</a:t>
                      </a:r>
                    </a:p>
                  </a:txBody>
                  <a:tcPr marL="109728" marR="10972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B1F1E"/>
                          </a:solidFill>
                          <a:latin typeface="Montserrat"/>
                        </a:rPr>
                        <a:t>Realistic Webots OPD hall, Hindi + English signs</a:t>
                      </a:r>
                    </a:p>
                  </a:txBody>
                  <a:tcPr marL="109728" marR="10972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B1F1E"/>
                          </a:solidFill>
                          <a:latin typeface="Montserrat"/>
                        </a:rPr>
                        <a:t>Deterministic: every run gives the same numbers</a:t>
                      </a:r>
                    </a:p>
                  </a:txBody>
                  <a:tcPr marL="109728" marR="109728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39" name="Google Shape;139;p19"/>
          <p:cNvSpPr txBox="1"/>
          <p:nvPr/>
        </p:nvSpPr>
        <p:spPr>
          <a:xfrm>
            <a:off x="548640" y="1417320"/>
            <a:ext cx="171907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1B1F1E"/>
                </a:solidFill>
                <a:latin typeface="Montserrat"/>
                <a:ea typeface="Montserrat"/>
                <a:cs typeface="Montserrat"/>
                <a:sym typeface="Montserrat"/>
              </a:rPr>
              <a:t>EXTRA · WORKING PROTOTYPE (SIMULATION)</a:t>
            </a:r>
            <a:endParaRPr/>
          </a:p>
        </p:txBody>
      </p:sp>
      <p:pic>
        <p:nvPicPr>
          <p:cNvPr id="143" name="Google Shape;143;p19" title="pptnlogo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18288000" cy="12055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Picture 143" descr="dashboard_006.0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196846"/>
            <a:ext cx="11338560" cy="6377940"/>
          </a:xfrm>
          <a:prstGeom prst="rect">
            <a:avLst/>
          </a:prstGeom>
          <a:ln w="9525">
            <a:solidFill>
              <a:srgbClr val="D3DBD6"/>
            </a:solidFill>
          </a:ln>
        </p:spPr>
      </p:pic>
      <p:sp>
        <p:nvSpPr>
          <p:cNvPr id="145" name="TextBox 144"/>
          <p:cNvSpPr txBox="1"/>
          <p:nvPr/>
        </p:nvSpPr>
        <p:spPr>
          <a:xfrm>
            <a:off x="548640" y="8641080"/>
            <a:ext cx="11338560" cy="8229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0">
                <a:solidFill>
                  <a:srgbClr val="555E5B"/>
                </a:solidFill>
                <a:latin typeface="Montserrat"/>
              </a:rPr>
              <a:t>One frame of our Webots run: chase camera, Saathi's camera with YOLO boxes and distances, depth camera, front CCTV, map, 360° LiDAR, and its thinking log.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12252960" y="2194560"/>
            <a:ext cx="5486400" cy="7498079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2000"/>
              </a:lnSpc>
            </a:pPr>
            <a:r>
              <a:rPr sz="1800" b="1">
                <a:solidFill>
                  <a:srgbClr val="0F5C52"/>
                </a:solidFill>
                <a:latin typeface="Montserrat"/>
              </a:rPr>
              <a:t>BUILT AND RUNNING</a:t>
            </a:r>
          </a:p>
          <a:p>
            <a:pPr algn="l">
              <a:lnSpc>
                <a:spcPct val="112000"/>
              </a:lnSpc>
              <a:spcBef>
                <a:spcPts val="500"/>
              </a:spcBef>
            </a:pPr>
            <a:r>
              <a:rPr sz="1600" b="1">
                <a:solidFill>
                  <a:srgbClr val="0F5C52"/>
                </a:solidFill>
                <a:latin typeface="Montserrat"/>
              </a:rPr>
              <a:t>•  </a:t>
            </a:r>
            <a:r>
              <a:rPr sz="1600" b="0">
                <a:solidFill>
                  <a:srgbClr val="1B1F1E"/>
                </a:solidFill>
                <a:latin typeface="Montserrat"/>
              </a:rPr>
              <a:t>OPD hall with Hindi + English signs, token display, pharmacy queue, animated people</a:t>
            </a:r>
          </a:p>
          <a:p>
            <a:pPr algn="l">
              <a:lnSpc>
                <a:spcPct val="112000"/>
              </a:lnSpc>
              <a:spcBef>
                <a:spcPts val="500"/>
              </a:spcBef>
            </a:pPr>
            <a:r>
              <a:rPr sz="1600" b="1">
                <a:solidFill>
                  <a:srgbClr val="0F5C52"/>
                </a:solidFill>
                <a:latin typeface="Montserrat"/>
              </a:rPr>
              <a:t>•  </a:t>
            </a:r>
            <a:r>
              <a:rPr sz="1600" b="0">
                <a:solidFill>
                  <a:srgbClr val="1B1F1E"/>
                </a:solidFill>
                <a:latin typeface="Montserrat"/>
              </a:rPr>
              <a:t>Plans its own way to any department (A* on a crowd costmap)</a:t>
            </a:r>
          </a:p>
          <a:p>
            <a:pPr algn="l">
              <a:lnSpc>
                <a:spcPct val="112000"/>
              </a:lnSpc>
              <a:spcBef>
                <a:spcPts val="500"/>
              </a:spcBef>
            </a:pPr>
            <a:r>
              <a:rPr sz="1600" b="1">
                <a:solidFill>
                  <a:srgbClr val="0F5C52"/>
                </a:solidFill>
                <a:latin typeface="Montserrat"/>
              </a:rPr>
              <a:t>•  </a:t>
            </a:r>
            <a:r>
              <a:rPr sz="1600" b="0">
                <a:solidFill>
                  <a:srgbClr val="1B1F1E"/>
                </a:solidFill>
                <a:latin typeface="Montserrat"/>
              </a:rPr>
              <a:t>Sees people with camera + depth + 360° LiDAR, tracks them on the floor</a:t>
            </a:r>
          </a:p>
          <a:p>
            <a:pPr algn="l">
              <a:lnSpc>
                <a:spcPct val="112000"/>
              </a:lnSpc>
              <a:spcBef>
                <a:spcPts val="500"/>
              </a:spcBef>
            </a:pPr>
            <a:r>
              <a:rPr sz="1600" b="1">
                <a:solidFill>
                  <a:srgbClr val="0F5C52"/>
                </a:solidFill>
                <a:latin typeface="Montserrat"/>
              </a:rPr>
              <a:t>•  </a:t>
            </a:r>
            <a:r>
              <a:rPr sz="1600" b="0">
                <a:solidFill>
                  <a:srgbClr val="1B1F1E"/>
                </a:solidFill>
                <a:latin typeface="Montserrat"/>
              </a:rPr>
              <a:t>Slows, waits, slides sideways to let people pass, and thinks aloud</a:t>
            </a:r>
          </a:p>
          <a:p>
            <a:pPr algn="l">
              <a:lnSpc>
                <a:spcPct val="112000"/>
              </a:lnSpc>
              <a:spcBef>
                <a:spcPts val="500"/>
              </a:spcBef>
            </a:pPr>
            <a:r>
              <a:rPr sz="1600" b="1">
                <a:solidFill>
                  <a:srgbClr val="0F5C52"/>
                </a:solidFill>
                <a:latin typeface="Montserrat"/>
              </a:rPr>
              <a:t>•  </a:t>
            </a:r>
            <a:r>
              <a:rPr sz="1600" b="0">
                <a:solidFill>
                  <a:srgbClr val="1B1F1E"/>
                </a:solidFill>
                <a:latin typeface="Montserrat"/>
              </a:rPr>
              <a:t>Sees obstacles that are not on its map, finds things it is asked for, spots falls</a:t>
            </a:r>
          </a:p>
          <a:p>
            <a:pPr algn="l">
              <a:lnSpc>
                <a:spcPct val="112000"/>
              </a:lnSpc>
              <a:spcBef>
                <a:spcPts val="500"/>
              </a:spcBef>
            </a:pPr>
            <a:r>
              <a:rPr sz="1600" b="1">
                <a:solidFill>
                  <a:srgbClr val="0F5C52"/>
                </a:solidFill>
                <a:latin typeface="Montserrat"/>
              </a:rPr>
              <a:t>•  </a:t>
            </a:r>
            <a:r>
              <a:rPr sz="1600" b="0">
                <a:solidFill>
                  <a:srgbClr val="1B1F1E"/>
                </a:solidFill>
                <a:latin typeface="Montserrat"/>
              </a:rPr>
              <a:t>Black box: every decision saved with its camera frame</a:t>
            </a:r>
          </a:p>
          <a:p>
            <a:pPr algn="l">
              <a:lnSpc>
                <a:spcPct val="112000"/>
              </a:lnSpc>
              <a:spcBef>
                <a:spcPts val="500"/>
              </a:spcBef>
            </a:pPr>
            <a:r>
              <a:rPr sz="1600" b="1">
                <a:solidFill>
                  <a:srgbClr val="0F5C52"/>
                </a:solidFill>
                <a:latin typeface="Montserrat"/>
              </a:rPr>
              <a:t>•  </a:t>
            </a:r>
            <a:r>
              <a:rPr sz="1600" b="0">
                <a:solidFill>
                  <a:srgbClr val="1B1F1E"/>
                </a:solidFill>
                <a:latin typeface="Montserrat"/>
              </a:rPr>
              <a:t>Physics mecanum base driven by wheel speed commands</a:t>
            </a:r>
          </a:p>
          <a:p>
            <a:pPr algn="l">
              <a:lnSpc>
                <a:spcPct val="112000"/>
              </a:lnSpc>
              <a:spcBef>
                <a:spcPts val="1600"/>
              </a:spcBef>
            </a:pPr>
            <a:r>
              <a:rPr sz="1800" b="1">
                <a:solidFill>
                  <a:srgbClr val="0F5C52"/>
                </a:solidFill>
                <a:latin typeface="Montserrat"/>
              </a:rPr>
              <a:t>BUILDING NEXT (BY 24 OCT)</a:t>
            </a:r>
          </a:p>
          <a:p>
            <a:pPr algn="l">
              <a:lnSpc>
                <a:spcPct val="112000"/>
              </a:lnSpc>
              <a:spcBef>
                <a:spcPts val="500"/>
              </a:spcBef>
            </a:pPr>
            <a:r>
              <a:rPr sz="1600" b="1">
                <a:solidFill>
                  <a:srgbClr val="0F5C52"/>
                </a:solidFill>
                <a:latin typeface="Montserrat"/>
              </a:rPr>
              <a:t>•  </a:t>
            </a:r>
            <a:r>
              <a:rPr sz="1600" b="0">
                <a:solidFill>
                  <a:srgbClr val="1B1F1E"/>
                </a:solidFill>
                <a:latin typeface="Montserrat"/>
              </a:rPr>
              <a:t>Saathi Parivaar: 2 robots share one memory (Khoya-Paya demo)</a:t>
            </a:r>
          </a:p>
          <a:p>
            <a:pPr algn="l">
              <a:lnSpc>
                <a:spcPct val="112000"/>
              </a:lnSpc>
              <a:spcBef>
                <a:spcPts val="500"/>
              </a:spcBef>
            </a:pPr>
            <a:r>
              <a:rPr sz="1600" b="1">
                <a:solidFill>
                  <a:srgbClr val="0F5C52"/>
                </a:solidFill>
                <a:latin typeface="Montserrat"/>
              </a:rPr>
              <a:t>•  </a:t>
            </a:r>
            <a:r>
              <a:rPr sz="1600" b="0">
                <a:solidFill>
                  <a:srgbClr val="1B1F1E"/>
                </a:solidFill>
                <a:latin typeface="Montserrat"/>
              </a:rPr>
              <a:t>Hindi voice agent: speech in, Hindi voice out</a:t>
            </a:r>
          </a:p>
          <a:p>
            <a:pPr algn="l">
              <a:lnSpc>
                <a:spcPct val="112000"/>
              </a:lnSpc>
              <a:spcBef>
                <a:spcPts val="500"/>
              </a:spcBef>
            </a:pPr>
            <a:r>
              <a:rPr sz="1600" b="1">
                <a:solidFill>
                  <a:srgbClr val="0F5C52"/>
                </a:solidFill>
                <a:latin typeface="Montserrat"/>
              </a:rPr>
              <a:t>•  </a:t>
            </a:r>
            <a:r>
              <a:rPr sz="1600" b="0">
                <a:solidFill>
                  <a:srgbClr val="1B1F1E"/>
                </a:solidFill>
                <a:latin typeface="Montserrat"/>
              </a:rPr>
              <a:t>Walks at the patient's pace; eyes that look at the person</a:t>
            </a:r>
          </a:p>
          <a:p>
            <a:pPr algn="l">
              <a:lnSpc>
                <a:spcPct val="112000"/>
              </a:lnSpc>
              <a:spcBef>
                <a:spcPts val="500"/>
              </a:spcBef>
            </a:pPr>
            <a:r>
              <a:rPr sz="1600" b="1">
                <a:solidFill>
                  <a:srgbClr val="0F5C52"/>
                </a:solidFill>
                <a:latin typeface="Montserrat"/>
              </a:rPr>
              <a:t>•  </a:t>
            </a:r>
            <a:r>
              <a:rPr sz="1600" b="0">
                <a:solidFill>
                  <a:srgbClr val="1B1F1E"/>
                </a:solidFill>
                <a:latin typeface="Montserrat"/>
              </a:rPr>
              <a:t>Gesture stop from a webcam</a:t>
            </a:r>
          </a:p>
          <a:p>
            <a:pPr algn="l">
              <a:lnSpc>
                <a:spcPct val="112000"/>
              </a:lnSpc>
              <a:spcBef>
                <a:spcPts val="1600"/>
              </a:spcBef>
            </a:pPr>
            <a:r>
              <a:rPr sz="1500" b="0">
                <a:solidFill>
                  <a:srgbClr val="555E5B"/>
                </a:solidFill>
                <a:latin typeface="Montserrat"/>
              </a:rPr>
              <a:t>Demo video and GitHub repo: in the prototype round (18–24 Oct)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39" name="Google Shape;139;p19"/>
          <p:cNvSpPr txBox="1"/>
          <p:nvPr/>
        </p:nvSpPr>
        <p:spPr>
          <a:xfrm>
            <a:off x="548640" y="1417320"/>
            <a:ext cx="171907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1B1F1E"/>
                </a:solidFill>
                <a:latin typeface="Montserrat"/>
                <a:ea typeface="Montserrat"/>
                <a:cs typeface="Montserrat"/>
                <a:sym typeface="Montserrat"/>
              </a:rPr>
              <a:t>EXTRA · RESULTS: 200 CROWDS, TWO ROBOTS</a:t>
            </a:r>
            <a:endParaRPr/>
          </a:p>
        </p:txBody>
      </p:sp>
      <p:pic>
        <p:nvPicPr>
          <p:cNvPr id="143" name="Google Shape;143;p19" title="pptnlogo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18288000" cy="12055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Picture 143" descr="ab_ch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106248"/>
            <a:ext cx="17190720" cy="4885783"/>
          </a:xfrm>
          <a:prstGeom prst="rect">
            <a:avLst/>
          </a:prstGeom>
        </p:spPr>
      </p:pic>
      <p:sp>
        <p:nvSpPr>
          <p:cNvPr id="145" name="Rounded Rectangle 144"/>
          <p:cNvSpPr/>
          <p:nvPr/>
        </p:nvSpPr>
        <p:spPr>
          <a:xfrm>
            <a:off x="548640" y="7132320"/>
            <a:ext cx="4160520" cy="1783080"/>
          </a:xfrm>
          <a:prstGeom prst="roundRect">
            <a:avLst>
              <a:gd name="adj" fmla="val 6000"/>
            </a:avLst>
          </a:prstGeom>
          <a:solidFill>
            <a:srgbClr val="DDEE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731520" y="7223760"/>
            <a:ext cx="3840480" cy="1645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2000"/>
              </a:lnSpc>
            </a:pPr>
            <a:r>
              <a:rPr sz="3200" b="1">
                <a:solidFill>
                  <a:srgbClr val="0F5C52"/>
                </a:solidFill>
                <a:latin typeface="Montserrat"/>
              </a:rPr>
              <a:t>73% fewer</a:t>
            </a:r>
          </a:p>
          <a:p>
            <a:pPr algn="l">
              <a:lnSpc>
                <a:spcPct val="112000"/>
              </a:lnSpc>
              <a:spcBef>
                <a:spcPts val="200"/>
              </a:spcBef>
            </a:pPr>
            <a:r>
              <a:rPr sz="1500" b="0">
                <a:solidFill>
                  <a:srgbClr val="1B1F1E"/>
                </a:solidFill>
                <a:latin typeface="Montserrat"/>
              </a:rPr>
              <a:t>near-misses: 3.79 → 1.00 per trip</a:t>
            </a:r>
          </a:p>
        </p:txBody>
      </p:sp>
      <p:sp>
        <p:nvSpPr>
          <p:cNvPr id="147" name="Rounded Rectangle 146"/>
          <p:cNvSpPr/>
          <p:nvPr/>
        </p:nvSpPr>
        <p:spPr>
          <a:xfrm>
            <a:off x="4892040" y="7132320"/>
            <a:ext cx="4160520" cy="1783080"/>
          </a:xfrm>
          <a:prstGeom prst="roundRect">
            <a:avLst>
              <a:gd name="adj" fmla="val 6000"/>
            </a:avLst>
          </a:prstGeom>
          <a:solidFill>
            <a:srgbClr val="DDEE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TextBox 147"/>
          <p:cNvSpPr txBox="1"/>
          <p:nvPr/>
        </p:nvSpPr>
        <p:spPr>
          <a:xfrm>
            <a:off x="5074920" y="7223760"/>
            <a:ext cx="3840480" cy="1645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2000"/>
              </a:lnSpc>
            </a:pPr>
            <a:r>
              <a:rPr sz="3200" b="1">
                <a:solidFill>
                  <a:srgbClr val="0F5C52"/>
                </a:solidFill>
                <a:latin typeface="Montserrat"/>
              </a:rPr>
              <a:t>0 of 200</a:t>
            </a:r>
          </a:p>
          <a:p>
            <a:pPr algn="l">
              <a:lnSpc>
                <a:spcPct val="112000"/>
              </a:lnSpc>
              <a:spcBef>
                <a:spcPts val="200"/>
              </a:spcBef>
            </a:pPr>
            <a:r>
              <a:rPr sz="1500" b="0">
                <a:solidFill>
                  <a:srgbClr val="1B1F1E"/>
                </a:solidFill>
                <a:latin typeface="Montserrat"/>
              </a:rPr>
              <a:t>trips cut through a conversation (normal robot: 26%)</a:t>
            </a:r>
          </a:p>
        </p:txBody>
      </p:sp>
      <p:sp>
        <p:nvSpPr>
          <p:cNvPr id="149" name="Rounded Rectangle 148"/>
          <p:cNvSpPr/>
          <p:nvPr/>
        </p:nvSpPr>
        <p:spPr>
          <a:xfrm>
            <a:off x="9235440" y="7132320"/>
            <a:ext cx="4160520" cy="1783080"/>
          </a:xfrm>
          <a:prstGeom prst="roundRect">
            <a:avLst>
              <a:gd name="adj" fmla="val 6000"/>
            </a:avLst>
          </a:prstGeom>
          <a:solidFill>
            <a:srgbClr val="DDEE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9418319" y="7223760"/>
            <a:ext cx="3840480" cy="1645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2000"/>
              </a:lnSpc>
            </a:pPr>
            <a:r>
              <a:rPr sz="3200" b="1">
                <a:solidFill>
                  <a:srgbClr val="0F5C52"/>
                </a:solidFill>
                <a:latin typeface="Montserrat"/>
              </a:rPr>
              <a:t>199/200</a:t>
            </a:r>
          </a:p>
          <a:p>
            <a:pPr algn="l">
              <a:lnSpc>
                <a:spcPct val="112000"/>
              </a:lnSpc>
              <a:spcBef>
                <a:spcPts val="200"/>
              </a:spcBef>
            </a:pPr>
            <a:r>
              <a:rPr sz="1500" b="0">
                <a:solidFill>
                  <a:srgbClr val="1B1F1E"/>
                </a:solidFill>
                <a:latin typeface="Montserrat"/>
              </a:rPr>
              <a:t>trips reached the goal (normal robot: 185/200)</a:t>
            </a:r>
          </a:p>
        </p:txBody>
      </p:sp>
      <p:sp>
        <p:nvSpPr>
          <p:cNvPr id="151" name="Rounded Rectangle 150"/>
          <p:cNvSpPr/>
          <p:nvPr/>
        </p:nvSpPr>
        <p:spPr>
          <a:xfrm>
            <a:off x="13578840" y="7132320"/>
            <a:ext cx="4160520" cy="1783080"/>
          </a:xfrm>
          <a:prstGeom prst="roundRect">
            <a:avLst>
              <a:gd name="adj" fmla="val 6000"/>
            </a:avLst>
          </a:prstGeom>
          <a:solidFill>
            <a:srgbClr val="F2F5F2"/>
          </a:solidFill>
          <a:ln w="12700">
            <a:solidFill>
              <a:srgbClr val="D3DB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TextBox 151"/>
          <p:cNvSpPr txBox="1"/>
          <p:nvPr/>
        </p:nvSpPr>
        <p:spPr>
          <a:xfrm>
            <a:off x="13761719" y="7223760"/>
            <a:ext cx="3840480" cy="1645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2000"/>
              </a:lnSpc>
            </a:pPr>
            <a:r>
              <a:rPr sz="3200" b="1">
                <a:solidFill>
                  <a:srgbClr val="B8550D"/>
                </a:solidFill>
                <a:latin typeface="Montserrat"/>
              </a:rPr>
              <a:t>+5 s</a:t>
            </a:r>
          </a:p>
          <a:p>
            <a:pPr algn="l">
              <a:lnSpc>
                <a:spcPct val="112000"/>
              </a:lnSpc>
              <a:spcBef>
                <a:spcPts val="200"/>
              </a:spcBef>
            </a:pPr>
            <a:r>
              <a:rPr sz="1500" b="0">
                <a:solidFill>
                  <a:srgbClr val="1B1F1E"/>
                </a:solidFill>
                <a:latin typeface="Montserrat"/>
              </a:rPr>
              <a:t>the price: median trip 19 s → 24 s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48640" y="9710928"/>
            <a:ext cx="1719072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>
                <a:solidFill>
                  <a:srgbClr val="555E5B"/>
                </a:solidFill>
                <a:latin typeface="Montserrat"/>
              </a:rPr>
              <a:t>Method: each seed builds an OPD crowd (8–12 walkers, two talking pairs, a pharmacy queue) and a trip from the entrance to a random department. Both robots get people's true positions. Normal robot = the same A* planner treating people as obstacles where they are now, fixed speed, same 0.6 m stop. The trip Saathi missed: a very crowded crossing where it kept waiting rather than push through.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39" name="Google Shape;139;p19"/>
          <p:cNvSpPr txBox="1"/>
          <p:nvPr/>
        </p:nvSpPr>
        <p:spPr>
          <a:xfrm>
            <a:off x="548640" y="1417320"/>
            <a:ext cx="171907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1B1F1E"/>
                </a:solidFill>
                <a:latin typeface="Montserrat"/>
                <a:ea typeface="Montserrat"/>
                <a:cs typeface="Montserrat"/>
                <a:sym typeface="Montserrat"/>
              </a:rPr>
              <a:t>EXTRA · SAME CROWD, TWO ROBOTS (WEBOTS)</a:t>
            </a:r>
            <a:endParaRPr/>
          </a:p>
        </p:txBody>
      </p:sp>
      <p:pic>
        <p:nvPicPr>
          <p:cNvPr id="143" name="Google Shape;143;p19" title="pptnlogo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18288000" cy="12055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Picture 143" descr="trajectori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103120"/>
            <a:ext cx="9509760" cy="5349240"/>
          </a:xfrm>
          <a:prstGeom prst="rect">
            <a:avLst/>
          </a:prstGeom>
        </p:spPr>
      </p:pic>
      <p:sp>
        <p:nvSpPr>
          <p:cNvPr id="145" name="Rounded Rectangle 144"/>
          <p:cNvSpPr/>
          <p:nvPr/>
        </p:nvSpPr>
        <p:spPr>
          <a:xfrm>
            <a:off x="10332720" y="2148840"/>
            <a:ext cx="7406640" cy="457200"/>
          </a:xfrm>
          <a:prstGeom prst="roundRect">
            <a:avLst>
              <a:gd name="adj" fmla="val 15000"/>
            </a:avLst>
          </a:prstGeom>
          <a:solidFill>
            <a:srgbClr val="555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10469880" y="2194560"/>
            <a:ext cx="7132320" cy="3657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12000"/>
              </a:lnSpc>
            </a:pPr>
            <a:r>
              <a:rPr sz="1600" b="1">
                <a:solidFill>
                  <a:srgbClr val="FFFFFF"/>
                </a:solidFill>
                <a:latin typeface="Montserrat"/>
              </a:rPr>
              <a:t>NORMAL ROBOT: cuts through the conversation</a:t>
            </a:r>
          </a:p>
        </p:txBody>
      </p:sp>
      <p:pic>
        <p:nvPicPr>
          <p:cNvPr id="147" name="Picture 146" descr="side_baseline_raw.jpg"/>
          <p:cNvPicPr>
            <a:picLocks noChangeAspect="1"/>
          </p:cNvPicPr>
          <p:nvPr/>
        </p:nvPicPr>
        <p:blipFill>
          <a:blip r:embed="rId4"/>
          <a:srcRect t="13237" b="13237"/>
          <a:stretch>
            <a:fillRect/>
          </a:stretch>
        </p:blipFill>
        <p:spPr>
          <a:xfrm>
            <a:off x="10332720" y="2697480"/>
            <a:ext cx="7406640" cy="3063240"/>
          </a:xfrm>
          <a:prstGeom prst="rect">
            <a:avLst/>
          </a:prstGeom>
          <a:ln w="9525">
            <a:solidFill>
              <a:srgbClr val="D3DBD6"/>
            </a:solidFill>
          </a:ln>
        </p:spPr>
      </p:pic>
      <p:sp>
        <p:nvSpPr>
          <p:cNvPr id="148" name="Rounded Rectangle 147"/>
          <p:cNvSpPr/>
          <p:nvPr/>
        </p:nvSpPr>
        <p:spPr>
          <a:xfrm>
            <a:off x="10332720" y="5852160"/>
            <a:ext cx="7406640" cy="457200"/>
          </a:xfrm>
          <a:prstGeom prst="roundRect">
            <a:avLst>
              <a:gd name="adj" fmla="val 15000"/>
            </a:avLst>
          </a:prstGeom>
          <a:solidFill>
            <a:srgbClr val="0F5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TextBox 148"/>
          <p:cNvSpPr txBox="1"/>
          <p:nvPr/>
        </p:nvSpPr>
        <p:spPr>
          <a:xfrm>
            <a:off x="10469880" y="5897880"/>
            <a:ext cx="7132320" cy="3657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12000"/>
              </a:lnSpc>
            </a:pPr>
            <a:r>
              <a:rPr sz="1600" b="1">
                <a:solidFill>
                  <a:srgbClr val="FFFFFF"/>
                </a:solidFill>
                <a:latin typeface="Montserrat"/>
              </a:rPr>
              <a:t>SAATHI: goes around it</a:t>
            </a:r>
          </a:p>
        </p:txBody>
      </p:sp>
      <p:pic>
        <p:nvPicPr>
          <p:cNvPr id="150" name="Picture 149" descr="side_saathi_raw.jpg"/>
          <p:cNvPicPr>
            <a:picLocks noChangeAspect="1"/>
          </p:cNvPicPr>
          <p:nvPr/>
        </p:nvPicPr>
        <p:blipFill>
          <a:blip r:embed="rId5"/>
          <a:srcRect t="13237" b="13237"/>
          <a:stretch>
            <a:fillRect/>
          </a:stretch>
        </p:blipFill>
        <p:spPr>
          <a:xfrm>
            <a:off x="10332720" y="6400800"/>
            <a:ext cx="7406640" cy="3063240"/>
          </a:xfrm>
          <a:prstGeom prst="rect">
            <a:avLst/>
          </a:prstGeom>
          <a:ln w="9525">
            <a:solidFill>
              <a:srgbClr val="D3DBD6"/>
            </a:solidFill>
          </a:ln>
        </p:spPr>
      </p:pic>
      <p:graphicFrame>
        <p:nvGraphicFramePr>
          <p:cNvPr id="151" name="Table 150"/>
          <p:cNvGraphicFramePr>
            <a:graphicFrameLocks noGrp="1"/>
          </p:cNvGraphicFramePr>
          <p:nvPr/>
        </p:nvGraphicFramePr>
        <p:xfrm>
          <a:off x="548640" y="7589520"/>
          <a:ext cx="9509760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1828800"/>
                <a:gridCol w="1463040"/>
                <a:gridCol w="2926080"/>
              </a:tblGrid>
              <a:tr h="384048">
                <a:tc>
                  <a:txBody>
                    <a:bodyPr/>
                    <a:lstStyle/>
                    <a:p/>
                  </a:txBody>
                  <a:tcPr marL="91440" marR="91440" marT="36576" marB="36576">
                    <a:solidFill>
                      <a:srgbClr val="0F5C5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Montserrat"/>
                        </a:rPr>
                        <a:t>Normal robot</a:t>
                      </a:r>
                    </a:p>
                  </a:txBody>
                  <a:tcPr marL="91440" marR="91440" marT="36576" marB="36576">
                    <a:solidFill>
                      <a:srgbClr val="0F5C5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Montserrat"/>
                        </a:rPr>
                        <a:t>Saathi</a:t>
                      </a:r>
                    </a:p>
                  </a:txBody>
                  <a:tcPr marL="91440" marR="91440" marT="36576" marB="36576">
                    <a:solidFill>
                      <a:srgbClr val="0F5C5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Montserrat"/>
                        </a:rPr>
                        <a:t>Saathi, camera + LiDAR only</a:t>
                      </a:r>
                    </a:p>
                  </a:txBody>
                  <a:tcPr marL="91440" marR="91440" marT="36576" marB="36576">
                    <a:solidFill>
                      <a:srgbClr val="0F5C5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B1F1E"/>
                          </a:solidFill>
                          <a:latin typeface="Montserrat"/>
                        </a:rPr>
                        <a:t>Near-misses</a:t>
                      </a:r>
                    </a:p>
                  </a:txBody>
                  <a:tcPr marL="91440" marR="91440" marT="36576" marB="36576">
                    <a:solidFill>
                      <a:srgbClr val="F2F5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B1F1E"/>
                          </a:solidFill>
                          <a:latin typeface="Montserrat"/>
                        </a:rPr>
                        <a:t>4</a:t>
                      </a:r>
                    </a:p>
                  </a:txBody>
                  <a:tcPr marL="91440" marR="91440" marT="36576" marB="36576">
                    <a:solidFill>
                      <a:srgbClr val="F2F5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B1F1E"/>
                          </a:solidFill>
                          <a:latin typeface="Montserrat"/>
                        </a:rPr>
                        <a:t>0</a:t>
                      </a:r>
                    </a:p>
                  </a:txBody>
                  <a:tcPr marL="91440" marR="91440" marT="36576" marB="36576">
                    <a:solidFill>
                      <a:srgbClr val="F2F5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B1F1E"/>
                          </a:solidFill>
                          <a:latin typeface="Montserrat"/>
                        </a:rPr>
                        <a:t>1</a:t>
                      </a:r>
                    </a:p>
                  </a:txBody>
                  <a:tcPr marL="91440" marR="91440" marT="36576" marB="36576">
                    <a:solidFill>
                      <a:srgbClr val="F2F5F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B1F1E"/>
                          </a:solidFill>
                          <a:latin typeface="Montserrat"/>
                        </a:rPr>
                        <a:t>Cut through the conversation</a:t>
                      </a:r>
                    </a:p>
                  </a:txBody>
                  <a:tcPr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B1F1E"/>
                          </a:solidFill>
                          <a:latin typeface="Montserrat"/>
                        </a:rPr>
                        <a:t>yes</a:t>
                      </a:r>
                    </a:p>
                  </a:txBody>
                  <a:tcPr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B1F1E"/>
                          </a:solidFill>
                          <a:latin typeface="Montserrat"/>
                        </a:rPr>
                        <a:t>no</a:t>
                      </a:r>
                    </a:p>
                  </a:txBody>
                  <a:tcPr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B1F1E"/>
                          </a:solidFill>
                          <a:latin typeface="Montserrat"/>
                        </a:rPr>
                        <a:t>no</a:t>
                      </a:r>
                    </a:p>
                  </a:txBody>
                  <a:tcPr marL="91440" marR="91440" marT="36576" marB="36576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B1F1E"/>
                          </a:solidFill>
                          <a:latin typeface="Montserrat"/>
                        </a:rPr>
                        <a:t>Time to Radiology</a:t>
                      </a:r>
                    </a:p>
                  </a:txBody>
                  <a:tcPr marL="91440" marR="91440" marT="36576" marB="36576">
                    <a:solidFill>
                      <a:srgbClr val="F2F5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B1F1E"/>
                          </a:solidFill>
                          <a:latin typeface="Montserrat"/>
                        </a:rPr>
                        <a:t>22 s</a:t>
                      </a:r>
                    </a:p>
                  </a:txBody>
                  <a:tcPr marL="91440" marR="91440" marT="36576" marB="36576">
                    <a:solidFill>
                      <a:srgbClr val="F2F5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B1F1E"/>
                          </a:solidFill>
                          <a:latin typeface="Montserrat"/>
                        </a:rPr>
                        <a:t>25 s</a:t>
                      </a:r>
                    </a:p>
                  </a:txBody>
                  <a:tcPr marL="91440" marR="91440" marT="36576" marB="36576">
                    <a:solidFill>
                      <a:srgbClr val="F2F5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B1F1E"/>
                          </a:solidFill>
                          <a:latin typeface="Montserrat"/>
                        </a:rPr>
                        <a:t>29 s</a:t>
                      </a:r>
                    </a:p>
                  </a:txBody>
                  <a:tcPr marL="91440" marR="91440" marT="36576" marB="36576">
                    <a:solidFill>
                      <a:srgbClr val="F2F5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39" name="Google Shape;139;p19"/>
          <p:cNvSpPr txBox="1"/>
          <p:nvPr/>
        </p:nvSpPr>
        <p:spPr>
          <a:xfrm>
            <a:off x="548640" y="1417320"/>
            <a:ext cx="171907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1B1F1E"/>
                </a:solidFill>
                <a:latin typeface="Montserrat"/>
                <a:ea typeface="Montserrat"/>
                <a:cs typeface="Montserrat"/>
                <a:sym typeface="Montserrat"/>
              </a:rPr>
              <a:t>EXTRA · FROM PIXELS TO DECISIONS</a:t>
            </a:r>
            <a:endParaRPr/>
          </a:p>
        </p:txBody>
      </p:sp>
      <p:pic>
        <p:nvPicPr>
          <p:cNvPr id="143" name="Google Shape;143;p19" title="pptnlogo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18288000" cy="12055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Picture 143" descr="dashboard_005.0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196846"/>
            <a:ext cx="11338560" cy="6377940"/>
          </a:xfrm>
          <a:prstGeom prst="rect">
            <a:avLst/>
          </a:prstGeom>
          <a:ln w="9525">
            <a:solidFill>
              <a:srgbClr val="D3DBD6"/>
            </a:solidFill>
          </a:ln>
        </p:spPr>
      </p:pic>
      <p:sp>
        <p:nvSpPr>
          <p:cNvPr id="145" name="TextBox 144"/>
          <p:cNvSpPr txBox="1"/>
          <p:nvPr/>
        </p:nvSpPr>
        <p:spPr>
          <a:xfrm>
            <a:off x="548640" y="8641080"/>
            <a:ext cx="11338560" cy="8229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0">
                <a:solidFill>
                  <a:srgbClr val="555E5B"/>
                </a:solidFill>
                <a:latin typeface="Montserrat"/>
              </a:rPr>
              <a:t>Saathi driving on its own sensors. Map: grey dots are where people really are, teal rings are where Saathi thinks they are.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12252960" y="2194560"/>
            <a:ext cx="5486400" cy="42062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2000"/>
              </a:lnSpc>
            </a:pPr>
            <a:r>
              <a:rPr sz="1800" b="1">
                <a:solidFill>
                  <a:srgbClr val="0F5C52"/>
                </a:solidFill>
                <a:latin typeface="Montserrat"/>
              </a:rPr>
              <a:t>HOW IT SEES</a:t>
            </a:r>
          </a:p>
          <a:p>
            <a:pPr algn="l">
              <a:lnSpc>
                <a:spcPct val="112000"/>
              </a:lnSpc>
              <a:spcBef>
                <a:spcPts val="500"/>
              </a:spcBef>
            </a:pPr>
            <a:r>
              <a:rPr sz="1600" b="1">
                <a:solidFill>
                  <a:srgbClr val="0F5C52"/>
                </a:solidFill>
                <a:latin typeface="Montserrat"/>
              </a:rPr>
              <a:t>•  </a:t>
            </a:r>
            <a:r>
              <a:rPr sz="1600" b="0">
                <a:solidFill>
                  <a:srgbClr val="1B1F1E"/>
                </a:solidFill>
                <a:latin typeface="Montserrat"/>
              </a:rPr>
              <a:t>YOLO11 finds people in the camera image</a:t>
            </a:r>
          </a:p>
          <a:p>
            <a:pPr algn="l">
              <a:lnSpc>
                <a:spcPct val="112000"/>
              </a:lnSpc>
              <a:spcBef>
                <a:spcPts val="500"/>
              </a:spcBef>
            </a:pPr>
            <a:r>
              <a:rPr sz="1600" b="1">
                <a:solidFill>
                  <a:srgbClr val="0F5C52"/>
                </a:solidFill>
                <a:latin typeface="Montserrat"/>
              </a:rPr>
              <a:t>•  </a:t>
            </a:r>
            <a:r>
              <a:rPr sz="1600" b="0">
                <a:solidFill>
                  <a:srgbClr val="1B1F1E"/>
                </a:solidFill>
                <a:latin typeface="Montserrat"/>
              </a:rPr>
              <a:t>The depth camera gives each one's distance</a:t>
            </a:r>
          </a:p>
          <a:p>
            <a:pPr algn="l">
              <a:lnSpc>
                <a:spcPct val="112000"/>
              </a:lnSpc>
              <a:spcBef>
                <a:spcPts val="500"/>
              </a:spcBef>
            </a:pPr>
            <a:r>
              <a:rPr sz="1600" b="1">
                <a:solidFill>
                  <a:srgbClr val="0F5C52"/>
                </a:solidFill>
                <a:latin typeface="Montserrat"/>
              </a:rPr>
              <a:t>•  </a:t>
            </a:r>
            <a:r>
              <a:rPr sz="1600" b="0">
                <a:solidFill>
                  <a:srgbClr val="1B1F1E"/>
                </a:solidFill>
                <a:latin typeface="Montserrat"/>
              </a:rPr>
              <a:t>The 360° LiDAR adds people beside and behind</a:t>
            </a:r>
          </a:p>
          <a:p>
            <a:pPr algn="l">
              <a:lnSpc>
                <a:spcPct val="112000"/>
              </a:lnSpc>
              <a:spcBef>
                <a:spcPts val="500"/>
              </a:spcBef>
            </a:pPr>
            <a:r>
              <a:rPr sz="1600" b="1">
                <a:solidFill>
                  <a:srgbClr val="0F5C52"/>
                </a:solidFill>
                <a:latin typeface="Montserrat"/>
              </a:rPr>
              <a:t>•  </a:t>
            </a:r>
            <a:r>
              <a:rPr sz="1600" b="0">
                <a:solidFill>
                  <a:srgbClr val="1B1F1E"/>
                </a:solidFill>
                <a:latin typeface="Montserrat"/>
              </a:rPr>
              <a:t>A floor tracker keeps IDs and walking speeds</a:t>
            </a:r>
          </a:p>
          <a:p>
            <a:pPr algn="l">
              <a:lnSpc>
                <a:spcPct val="112000"/>
              </a:lnSpc>
              <a:spcBef>
                <a:spcPts val="500"/>
              </a:spcBef>
            </a:pPr>
            <a:r>
              <a:rPr sz="1600" b="1">
                <a:solidFill>
                  <a:srgbClr val="0F5C52"/>
                </a:solidFill>
                <a:latin typeface="Montserrat"/>
              </a:rPr>
              <a:t>•  </a:t>
            </a:r>
            <a:r>
              <a:rPr sz="1600" b="0">
                <a:solidFill>
                  <a:srgbClr val="1B1F1E"/>
                </a:solidFill>
                <a:latin typeface="Montserrat"/>
              </a:rPr>
              <a:t>The planner predicts 2 s ahead and picks the path</a:t>
            </a:r>
          </a:p>
        </p:txBody>
      </p:sp>
      <p:sp>
        <p:nvSpPr>
          <p:cNvPr id="147" name="Rounded Rectangle 146"/>
          <p:cNvSpPr/>
          <p:nvPr/>
        </p:nvSpPr>
        <p:spPr>
          <a:xfrm>
            <a:off x="12252960" y="6400800"/>
            <a:ext cx="5486400" cy="3017520"/>
          </a:xfrm>
          <a:prstGeom prst="roundRect">
            <a:avLst>
              <a:gd name="adj" fmla="val 6000"/>
            </a:avLst>
          </a:prstGeom>
          <a:solidFill>
            <a:srgbClr val="DDEE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TextBox 147"/>
          <p:cNvSpPr txBox="1"/>
          <p:nvPr/>
        </p:nvSpPr>
        <p:spPr>
          <a:xfrm>
            <a:off x="12435840" y="6492240"/>
            <a:ext cx="5120640" cy="2834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2000"/>
              </a:lnSpc>
            </a:pPr>
            <a:r>
              <a:rPr sz="3600" b="1">
                <a:solidFill>
                  <a:srgbClr val="0F5C52"/>
                </a:solidFill>
                <a:latin typeface="Montserrat"/>
              </a:rPr>
              <a:t>0.10 m</a:t>
            </a:r>
          </a:p>
          <a:p>
            <a:pPr algn="l">
              <a:lnSpc>
                <a:spcPct val="112000"/>
              </a:lnSpc>
            </a:pPr>
            <a:r>
              <a:rPr sz="1500" b="0">
                <a:solidFill>
                  <a:srgbClr val="1B1F1E"/>
                </a:solidFill>
                <a:latin typeface="Montserrat"/>
              </a:rPr>
              <a:t>median error placing people on the floor (0.32 m for 9 in 10)</a:t>
            </a:r>
          </a:p>
          <a:p>
            <a:pPr algn="l">
              <a:lnSpc>
                <a:spcPct val="112000"/>
              </a:lnSpc>
              <a:spcBef>
                <a:spcPts val="800"/>
              </a:spcBef>
            </a:pPr>
            <a:r>
              <a:rPr sz="1500" b="0">
                <a:solidFill>
                  <a:srgbClr val="1B1F1E"/>
                </a:solidFill>
                <a:latin typeface="Montserrat"/>
              </a:rPr>
              <a:t>Drove to Radiology on its own eyes: 1 near-misses, no conversation cut, 29 s (25 s with perfect positions).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39" name="Google Shape;139;p19"/>
          <p:cNvSpPr txBox="1"/>
          <p:nvPr/>
        </p:nvSpPr>
        <p:spPr>
          <a:xfrm>
            <a:off x="548640" y="1417320"/>
            <a:ext cx="171907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1B1F1E"/>
                </a:solidFill>
                <a:latin typeface="Montserrat"/>
                <a:ea typeface="Montserrat"/>
                <a:cs typeface="Montserrat"/>
                <a:sym typeface="Montserrat"/>
              </a:rPr>
              <a:t>EXTRA · UNKNOWN OBSTACLES, AND FINDING THINGS BY SIGHT</a:t>
            </a:r>
            <a:endParaRPr/>
          </a:p>
        </p:txBody>
      </p:sp>
      <p:pic>
        <p:nvPicPr>
          <p:cNvPr id="143" name="Google Shape;143;p19" title="pptnlogo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18288000" cy="1205517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TextBox 143"/>
          <p:cNvSpPr txBox="1"/>
          <p:nvPr/>
        </p:nvSpPr>
        <p:spPr>
          <a:xfrm>
            <a:off x="548640" y="2103120"/>
            <a:ext cx="17190720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2000"/>
              </a:lnSpc>
            </a:pPr>
            <a:r>
              <a:rPr sz="1800" b="1">
                <a:solidFill>
                  <a:srgbClr val="0F5C52"/>
                </a:solidFill>
                <a:latin typeface="Montserrat"/>
              </a:rPr>
              <a:t>OBSTACLES NOT ON THE MAP: a “wet floor” board and a cardboard box. Map-only: hit 2. With depth vision: hit 0.</a:t>
            </a:r>
          </a:p>
        </p:txBody>
      </p:sp>
      <p:pic>
        <p:nvPicPr>
          <p:cNvPr id="145" name="Picture 144" descr="obstacle_ob_maponly.jpg"/>
          <p:cNvPicPr>
            <a:picLocks noChangeAspect="1"/>
          </p:cNvPicPr>
          <p:nvPr/>
        </p:nvPicPr>
        <p:blipFill>
          <a:blip r:embed="rId3"/>
          <a:srcRect l="9" r="9"/>
          <a:stretch>
            <a:fillRect/>
          </a:stretch>
        </p:blipFill>
        <p:spPr>
          <a:xfrm>
            <a:off x="548640" y="2606040"/>
            <a:ext cx="5623560" cy="3163824"/>
          </a:xfrm>
          <a:prstGeom prst="rect">
            <a:avLst/>
          </a:prstGeom>
          <a:ln w="9525">
            <a:solidFill>
              <a:srgbClr val="D3DBD6"/>
            </a:solidFill>
          </a:ln>
        </p:spPr>
      </p:pic>
      <p:pic>
        <p:nvPicPr>
          <p:cNvPr id="146" name="Picture 145" descr="obstacle_ob_vision.jpg"/>
          <p:cNvPicPr>
            <a:picLocks noChangeAspect="1"/>
          </p:cNvPicPr>
          <p:nvPr/>
        </p:nvPicPr>
        <p:blipFill>
          <a:blip r:embed="rId4"/>
          <a:srcRect l="9" r="9"/>
          <a:stretch>
            <a:fillRect/>
          </a:stretch>
        </p:blipFill>
        <p:spPr>
          <a:xfrm>
            <a:off x="6355080" y="2606040"/>
            <a:ext cx="5623560" cy="3163824"/>
          </a:xfrm>
          <a:prstGeom prst="rect">
            <a:avLst/>
          </a:prstGeom>
          <a:ln w="9525">
            <a:solidFill>
              <a:srgbClr val="D3DBD6"/>
            </a:solidFill>
          </a:ln>
        </p:spPr>
      </p:pic>
      <p:pic>
        <p:nvPicPr>
          <p:cNvPr id="147" name="Picture 146" descr="found_box.jpg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12161520" y="2606040"/>
            <a:ext cx="3657600" cy="2743200"/>
          </a:xfrm>
          <a:prstGeom prst="rect">
            <a:avLst/>
          </a:prstGeom>
          <a:ln w="9525">
            <a:solidFill>
              <a:srgbClr val="D3DBD6"/>
            </a:solidFill>
          </a:ln>
        </p:spPr>
      </p:pic>
      <p:sp>
        <p:nvSpPr>
          <p:cNvPr id="148" name="TextBox 147"/>
          <p:cNvSpPr txBox="1"/>
          <p:nvPr/>
        </p:nvSpPr>
        <p:spPr>
          <a:xfrm>
            <a:off x="15956280" y="2651760"/>
            <a:ext cx="1783080" cy="31089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0F5C52"/>
                </a:solidFill>
                <a:latin typeface="Montserrat"/>
              </a:rPr>
              <a:t>At 15 s:</a:t>
            </a:r>
          </a:p>
          <a:p>
            <a:pPr algn="l">
              <a:lnSpc>
                <a:spcPct val="112000"/>
              </a:lnSpc>
              <a:spcBef>
                <a:spcPts val="200"/>
              </a:spcBef>
            </a:pPr>
            <a:r>
              <a:rPr sz="1400" b="0">
                <a:solidFill>
                  <a:srgbClr val="1B1F1E"/>
                </a:solidFill>
                <a:latin typeface="Montserrat"/>
              </a:rPr>
              <a:t>“Found a cardboard box that is not on my map: going around it”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548640" y="6035040"/>
            <a:ext cx="17190720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2000"/>
              </a:lnSpc>
            </a:pPr>
            <a:r>
              <a:rPr sz="1800" b="1">
                <a:solidFill>
                  <a:srgbClr val="0F5C52"/>
                </a:solidFill>
                <a:latin typeface="Montserrat"/>
              </a:rPr>
              <a:t>FIND IT BY SIGHT: “dustbin dhoondo”, and the dustbin is not on Saathi's map</a:t>
            </a:r>
          </a:p>
        </p:txBody>
      </p:sp>
      <p:pic>
        <p:nvPicPr>
          <p:cNvPr id="150" name="Picture 149" descr="dustbin.jpg"/>
          <p:cNvPicPr>
            <a:picLocks noChangeAspect="1"/>
          </p:cNvPicPr>
          <p:nvPr/>
        </p:nvPicPr>
        <p:blipFill>
          <a:blip r:embed="rId6"/>
          <a:srcRect l="36" r="36"/>
          <a:stretch>
            <a:fillRect/>
          </a:stretch>
        </p:blipFill>
        <p:spPr>
          <a:xfrm>
            <a:off x="548640" y="6537960"/>
            <a:ext cx="4215384" cy="3163824"/>
          </a:xfrm>
          <a:prstGeom prst="rect">
            <a:avLst/>
          </a:prstGeom>
          <a:ln w="9525">
            <a:solidFill>
              <a:srgbClr val="D3DBD6"/>
            </a:solidFill>
          </a:ln>
        </p:spPr>
      </p:pic>
      <p:pic>
        <p:nvPicPr>
          <p:cNvPr id="151" name="Picture 150" descr="arrive.jpg"/>
          <p:cNvPicPr>
            <a:picLocks noChangeAspect="1"/>
          </p:cNvPicPr>
          <p:nvPr/>
        </p:nvPicPr>
        <p:blipFill>
          <a:blip r:embed="rId7"/>
          <a:srcRect l="9" r="9"/>
          <a:stretch>
            <a:fillRect/>
          </a:stretch>
        </p:blipFill>
        <p:spPr>
          <a:xfrm>
            <a:off x="4937760" y="6537960"/>
            <a:ext cx="5623560" cy="3163824"/>
          </a:xfrm>
          <a:prstGeom prst="rect">
            <a:avLst/>
          </a:prstGeom>
          <a:ln w="9525">
            <a:solidFill>
              <a:srgbClr val="D3DBD6"/>
            </a:solidFill>
          </a:ln>
        </p:spPr>
      </p:pic>
      <p:sp>
        <p:nvSpPr>
          <p:cNvPr id="152" name="TextBox 151"/>
          <p:cNvSpPr txBox="1"/>
          <p:nvPr/>
        </p:nvSpPr>
        <p:spPr>
          <a:xfrm>
            <a:off x="10881360" y="6537960"/>
            <a:ext cx="6858000" cy="31089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2000"/>
              </a:lnSpc>
              <a:spcBef>
                <a:spcPts val="600"/>
              </a:spcBef>
            </a:pPr>
            <a:r>
              <a:rPr sz="1600" b="1">
                <a:solidFill>
                  <a:srgbClr val="0F5C52"/>
                </a:solidFill>
                <a:latin typeface="Montserrat"/>
              </a:rPr>
              <a:t>•  </a:t>
            </a:r>
            <a:r>
              <a:rPr sz="1600" b="0">
                <a:solidFill>
                  <a:srgbClr val="1B1F1E"/>
                </a:solidFill>
                <a:latin typeface="Montserrat"/>
              </a:rPr>
              <a:t>Turns on the spot and asks YOLOE for “dustbin” about 3 times a second</a:t>
            </a:r>
          </a:p>
          <a:p>
            <a:pPr algn="l">
              <a:lnSpc>
                <a:spcPct val="112000"/>
              </a:lnSpc>
              <a:spcBef>
                <a:spcPts val="600"/>
              </a:spcBef>
            </a:pPr>
            <a:r>
              <a:rPr sz="1600" b="1">
                <a:solidFill>
                  <a:srgbClr val="0F5C52"/>
                </a:solidFill>
                <a:latin typeface="Montserrat"/>
              </a:rPr>
              <a:t>•  </a:t>
            </a:r>
            <a:r>
              <a:rPr sz="1600" b="0">
                <a:solidFill>
                  <a:srgbClr val="1B1F1E"/>
                </a:solidFill>
                <a:latin typeface="Montserrat"/>
              </a:rPr>
              <a:t>Sees it 7.5 m away after 1.6 s; the depth camera puts it on the floor map</a:t>
            </a:r>
          </a:p>
          <a:p>
            <a:pPr algn="l">
              <a:lnSpc>
                <a:spcPct val="112000"/>
              </a:lnSpc>
              <a:spcBef>
                <a:spcPts val="600"/>
              </a:spcBef>
            </a:pPr>
            <a:r>
              <a:rPr sz="1600" b="1">
                <a:solidFill>
                  <a:srgbClr val="0F5C52"/>
                </a:solidFill>
                <a:latin typeface="Montserrat"/>
              </a:rPr>
              <a:t>•  </a:t>
            </a:r>
            <a:r>
              <a:rPr sz="1600" b="0">
                <a:solidFill>
                  <a:srgbClr val="1B1F1E"/>
                </a:solidFill>
                <a:latin typeface="Montserrat"/>
              </a:rPr>
              <a:t>Plans there through the crowd and arrives at 12.4 s</a:t>
            </a:r>
          </a:p>
          <a:p>
            <a:pPr algn="l">
              <a:lnSpc>
                <a:spcPct val="112000"/>
              </a:lnSpc>
              <a:spcBef>
                <a:spcPts val="600"/>
              </a:spcBef>
            </a:pPr>
            <a:r>
              <a:rPr sz="1600" b="1">
                <a:solidFill>
                  <a:srgbClr val="0F5C52"/>
                </a:solidFill>
                <a:latin typeface="Montserrat"/>
              </a:rPr>
              <a:t>•  </a:t>
            </a:r>
            <a:r>
              <a:rPr sz="1600" b="0">
                <a:solidFill>
                  <a:srgbClr val="1B1F1E"/>
                </a:solidFill>
                <a:latin typeface="Montserrat"/>
              </a:rPr>
              <a:t>The same works for any word: “water cooler”, “wheelchair”, “sign board”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39" name="Google Shape;139;p19"/>
          <p:cNvSpPr txBox="1"/>
          <p:nvPr/>
        </p:nvSpPr>
        <p:spPr>
          <a:xfrm>
            <a:off x="548640" y="1417320"/>
            <a:ext cx="171907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1B1F1E"/>
                </a:solidFill>
                <a:latin typeface="Montserrat"/>
                <a:ea typeface="Montserrat"/>
                <a:cs typeface="Montserrat"/>
                <a:sym typeface="Montserrat"/>
              </a:rPr>
              <a:t>EXTRA · A FALL: CLASSIFY, ALERT, STAY, DESCRIBE</a:t>
            </a:r>
            <a:endParaRPr/>
          </a:p>
        </p:txBody>
      </p:sp>
      <p:pic>
        <p:nvPicPr>
          <p:cNvPr id="143" name="Google Shape;143;p19" title="pptnlogo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18288000" cy="12055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Picture 143" descr="fall.jpg"/>
          <p:cNvPicPr>
            <a:picLocks noChangeAspect="1"/>
          </p:cNvPicPr>
          <p:nvPr/>
        </p:nvPicPr>
        <p:blipFill>
          <a:blip r:embed="rId3"/>
          <a:srcRect t="0" b="0"/>
          <a:stretch>
            <a:fillRect/>
          </a:stretch>
        </p:blipFill>
        <p:spPr>
          <a:xfrm>
            <a:off x="548640" y="2194560"/>
            <a:ext cx="7680960" cy="5760720"/>
          </a:xfrm>
          <a:prstGeom prst="rect">
            <a:avLst/>
          </a:prstGeom>
          <a:ln w="9525">
            <a:solidFill>
              <a:srgbClr val="D3DBD6"/>
            </a:solidFill>
          </a:ln>
        </p:spPr>
      </p:pic>
      <p:sp>
        <p:nvSpPr>
          <p:cNvPr id="145" name="TextBox 144"/>
          <p:cNvSpPr txBox="1"/>
          <p:nvPr/>
        </p:nvSpPr>
        <p:spPr>
          <a:xfrm>
            <a:off x="548640" y="8046720"/>
            <a:ext cx="7680960" cy="7315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0">
                <a:solidFill>
                  <a:srgbClr val="555E5B"/>
                </a:solidFill>
                <a:latin typeface="Montserrat"/>
              </a:rPr>
              <a:t>Saathi's camera 0.3 s after the fall: YOLOE says “person lying on the floor”.</a:t>
            </a:r>
          </a:p>
        </p:txBody>
      </p:sp>
      <p:pic>
        <p:nvPicPr>
          <p:cNvPr id="146" name="Picture 145" descr="stay.jpg"/>
          <p:cNvPicPr>
            <a:picLocks noChangeAspect="1"/>
          </p:cNvPicPr>
          <p:nvPr/>
        </p:nvPicPr>
        <p:blipFill>
          <a:blip r:embed="rId4"/>
          <a:srcRect t="10889" b="10889"/>
          <a:stretch>
            <a:fillRect/>
          </a:stretch>
        </p:blipFill>
        <p:spPr>
          <a:xfrm>
            <a:off x="8595360" y="2194560"/>
            <a:ext cx="9144000" cy="4023360"/>
          </a:xfrm>
          <a:prstGeom prst="rect">
            <a:avLst/>
          </a:prstGeom>
          <a:ln w="9525">
            <a:solidFill>
              <a:srgbClr val="D3DBD6"/>
            </a:solidFill>
          </a:ln>
        </p:spPr>
      </p:pic>
      <p:sp>
        <p:nvSpPr>
          <p:cNvPr id="147" name="Rounded Rectangle 146"/>
          <p:cNvSpPr/>
          <p:nvPr/>
        </p:nvSpPr>
        <p:spPr>
          <a:xfrm>
            <a:off x="8595360" y="6400800"/>
            <a:ext cx="9144000" cy="3108960"/>
          </a:xfrm>
          <a:prstGeom prst="roundRect">
            <a:avLst>
              <a:gd name="adj" fmla="val 6000"/>
            </a:avLst>
          </a:prstGeom>
          <a:solidFill>
            <a:srgbClr val="DDEE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TextBox 147"/>
          <p:cNvSpPr txBox="1"/>
          <p:nvPr/>
        </p:nvSpPr>
        <p:spPr>
          <a:xfrm>
            <a:off x="8823960" y="6492240"/>
            <a:ext cx="8686800" cy="2926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2000"/>
              </a:lnSpc>
            </a:pPr>
            <a:r>
              <a:rPr sz="1800" b="1">
                <a:solidFill>
                  <a:srgbClr val="0F5C52"/>
                </a:solidFill>
                <a:latin typeface="Montserrat"/>
              </a:rPr>
              <a:t>ALERT TO THE NURSE STATION</a:t>
            </a:r>
          </a:p>
          <a:p>
            <a:pPr algn="l">
              <a:lnSpc>
                <a:spcPct val="112000"/>
              </a:lnSpc>
              <a:spcBef>
                <a:spcPts val="400"/>
              </a:spcBef>
            </a:pPr>
            <a:r>
              <a:rPr sz="1600" b="0">
                <a:solidFill>
                  <a:srgbClr val="1B1F1E"/>
                </a:solidFill>
                <a:latin typeface="Montserrat"/>
              </a:rPr>
              <a:t>Patient fallen near the middle of the hall, 5 m from Lab (at 5.4 s)</a:t>
            </a:r>
          </a:p>
          <a:p>
            <a:pPr algn="l">
              <a:lnSpc>
                <a:spcPct val="112000"/>
              </a:lnSpc>
              <a:spcBef>
                <a:spcPts val="600"/>
              </a:spcBef>
            </a:pPr>
            <a:r>
              <a:rPr sz="1600" b="1">
                <a:solidFill>
                  <a:srgbClr val="1B1F1E"/>
                </a:solidFill>
                <a:latin typeface="Montserrat"/>
              </a:rPr>
              <a:t>VLM, in its own process: </a:t>
            </a:r>
            <a:r>
              <a:rPr sz="1600" b="0">
                <a:solidFill>
                  <a:srgbClr val="1B1F1E"/>
                </a:solidFill>
                <a:latin typeface="Montserrat"/>
              </a:rPr>
              <a:t>“In the hospital OPD hall, a man is lying on the floor, possibly injured or unwell, while others walk past or stand nearby.”</a:t>
            </a:r>
          </a:p>
          <a:p>
            <a:pPr algn="l">
              <a:lnSpc>
                <a:spcPct val="112000"/>
              </a:lnSpc>
              <a:spcBef>
                <a:spcPts val="600"/>
              </a:spcBef>
            </a:pPr>
            <a:r>
              <a:rPr sz="1500" b="0">
                <a:solidFill>
                  <a:srgbClr val="555E5B"/>
                </a:solidFill>
                <a:latin typeface="Montserrat"/>
              </a:rPr>
              <a:t>Then Saathi goes to them, stays until the nurse takes over, and finishes its trip (42 s).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39" name="Google Shape;139;p19"/>
          <p:cNvSpPr txBox="1"/>
          <p:nvPr/>
        </p:nvSpPr>
        <p:spPr>
          <a:xfrm>
            <a:off x="548640" y="1417320"/>
            <a:ext cx="171907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1B1F1E"/>
                </a:solidFill>
                <a:latin typeface="Montserrat"/>
                <a:ea typeface="Montserrat"/>
                <a:cs typeface="Montserrat"/>
                <a:sym typeface="Montserrat"/>
              </a:rPr>
              <a:t>EXTRA · BLACK BOX: “TUM RUKE KYUN?”</a:t>
            </a:r>
            <a:endParaRPr/>
          </a:p>
        </p:txBody>
      </p:sp>
      <p:pic>
        <p:nvPicPr>
          <p:cNvPr id="143" name="Google Shape;143;p19" title="pptnlogo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18288000" cy="12055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Picture 143" descr="blackbox.jp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548640" y="2194560"/>
            <a:ext cx="8778240" cy="6583680"/>
          </a:xfrm>
          <a:prstGeom prst="rect">
            <a:avLst/>
          </a:prstGeom>
          <a:ln w="9525">
            <a:solidFill>
              <a:srgbClr val="D3DBD6"/>
            </a:solidFill>
          </a:ln>
        </p:spPr>
      </p:pic>
      <p:sp>
        <p:nvSpPr>
          <p:cNvPr id="145" name="TextBox 144"/>
          <p:cNvSpPr txBox="1"/>
          <p:nvPr/>
        </p:nvSpPr>
        <p:spPr>
          <a:xfrm>
            <a:off x="548640" y="8869680"/>
            <a:ext cx="8778240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0">
                <a:solidFill>
                  <a:srgbClr val="555E5B"/>
                </a:solidFill>
                <a:latin typeface="Montserrat"/>
              </a:rPr>
              <a:t>Saved by Saathi at 5.3 s: the camera frame of that decision, with what it saw.</a:t>
            </a:r>
          </a:p>
        </p:txBody>
      </p:sp>
      <p:sp>
        <p:nvSpPr>
          <p:cNvPr id="146" name="Rounded Rectangle 145"/>
          <p:cNvSpPr/>
          <p:nvPr/>
        </p:nvSpPr>
        <p:spPr>
          <a:xfrm>
            <a:off x="9966960" y="2286000"/>
            <a:ext cx="7772400" cy="1005840"/>
          </a:xfrm>
          <a:prstGeom prst="roundRect">
            <a:avLst>
              <a:gd name="adj" fmla="val 6000"/>
            </a:avLst>
          </a:prstGeom>
          <a:solidFill>
            <a:srgbClr val="F2F5F2"/>
          </a:solidFill>
          <a:ln w="12700">
            <a:solidFill>
              <a:srgbClr val="D3DB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TextBox 146"/>
          <p:cNvSpPr txBox="1"/>
          <p:nvPr/>
        </p:nvSpPr>
        <p:spPr>
          <a:xfrm>
            <a:off x="10195560" y="2395728"/>
            <a:ext cx="7315200" cy="8229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2000"/>
              </a:lnSpc>
            </a:pPr>
            <a:r>
              <a:rPr sz="1800" b="1">
                <a:solidFill>
                  <a:srgbClr val="555E5B"/>
                </a:solidFill>
                <a:latin typeface="Montserrat"/>
              </a:rPr>
              <a:t>You:  </a:t>
            </a:r>
            <a:r>
              <a:rPr sz="1800" b="0">
                <a:solidFill>
                  <a:srgbClr val="1B1F1E"/>
                </a:solidFill>
                <a:latin typeface="Montserrat"/>
              </a:rPr>
              <a:t>Saathi, 0:05 pe tum dheeme kyun hue?</a:t>
            </a:r>
          </a:p>
        </p:txBody>
      </p:sp>
      <p:sp>
        <p:nvSpPr>
          <p:cNvPr id="148" name="Rounded Rectangle 147"/>
          <p:cNvSpPr/>
          <p:nvPr/>
        </p:nvSpPr>
        <p:spPr>
          <a:xfrm>
            <a:off x="9966960" y="3520440"/>
            <a:ext cx="7772400" cy="2377440"/>
          </a:xfrm>
          <a:prstGeom prst="roundRect">
            <a:avLst>
              <a:gd name="adj" fmla="val 6000"/>
            </a:avLst>
          </a:prstGeom>
          <a:solidFill>
            <a:srgbClr val="DDEE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TextBox 148"/>
          <p:cNvSpPr txBox="1"/>
          <p:nvPr/>
        </p:nvSpPr>
        <p:spPr>
          <a:xfrm>
            <a:off x="10195560" y="3630168"/>
            <a:ext cx="7315200" cy="21945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2000"/>
              </a:lnSpc>
            </a:pPr>
            <a:r>
              <a:rPr sz="1800" b="1">
                <a:solidFill>
                  <a:srgbClr val="0F5C52"/>
                </a:solidFill>
                <a:latin typeface="Montserrat"/>
              </a:rPr>
              <a:t>Saathi:  </a:t>
            </a:r>
            <a:r>
              <a:rPr sz="1800" b="0">
                <a:solidFill>
                  <a:srgbClr val="1B1F1E"/>
                </a:solidFill>
                <a:latin typeface="Montserrat"/>
              </a:rPr>
              <a:t>0:05 pe P14 mere raaste ki taraf aa rahe the. Main 0.51 m/s pe tha, isliye dheema hua, phir side khisak ke unhe jaane diya. Ye raha us pal ka camera frame.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9966960" y="6172200"/>
            <a:ext cx="7772400" cy="32918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2000"/>
              </a:lnSpc>
            </a:pPr>
            <a:r>
              <a:rPr sz="1800" b="1">
                <a:solidFill>
                  <a:srgbClr val="0F5C52"/>
                </a:solidFill>
                <a:latin typeface="Montserrat"/>
              </a:rPr>
              <a:t>WHAT THE BLACK BOX KEEPS</a:t>
            </a:r>
          </a:p>
          <a:p>
            <a:pPr algn="l">
              <a:lnSpc>
                <a:spcPct val="112000"/>
              </a:lnSpc>
              <a:spcBef>
                <a:spcPts val="500"/>
              </a:spcBef>
            </a:pPr>
            <a:r>
              <a:rPr sz="1600" b="1">
                <a:solidFill>
                  <a:srgbClr val="0F5C52"/>
                </a:solidFill>
                <a:latin typeface="Montserrat"/>
              </a:rPr>
              <a:t>•  </a:t>
            </a:r>
            <a:r>
              <a:rPr sz="1600" b="0">
                <a:solidFill>
                  <a:srgbClr val="1B1F1E"/>
                </a:solidFill>
                <a:latin typeface="Montserrat"/>
              </a:rPr>
              <a:t>Time 5.28 s · decision: Slowing for P14</a:t>
            </a:r>
          </a:p>
          <a:p>
            <a:pPr algn="l">
              <a:lnSpc>
                <a:spcPct val="112000"/>
              </a:lnSpc>
              <a:spcBef>
                <a:spcPts val="500"/>
              </a:spcBef>
            </a:pPr>
            <a:r>
              <a:rPr sz="1600" b="1">
                <a:solidFill>
                  <a:srgbClr val="0F5C52"/>
                </a:solidFill>
                <a:latin typeface="Montserrat"/>
              </a:rPr>
              <a:t>•  </a:t>
            </a:r>
            <a:r>
              <a:rPr sz="1600" b="0">
                <a:solidFill>
                  <a:srgbClr val="1B1F1E"/>
                </a:solidFill>
                <a:latin typeface="Montserrat"/>
              </a:rPr>
              <a:t>Speed 0.51 m/s · people in view: P8, P2, P18, P14, P4, P19</a:t>
            </a:r>
          </a:p>
          <a:p>
            <a:pPr algn="l">
              <a:lnSpc>
                <a:spcPct val="112000"/>
              </a:lnSpc>
              <a:spcBef>
                <a:spcPts val="500"/>
              </a:spcBef>
            </a:pPr>
            <a:r>
              <a:rPr sz="1600" b="1">
                <a:solidFill>
                  <a:srgbClr val="0F5C52"/>
                </a:solidFill>
                <a:latin typeface="Montserrat"/>
              </a:rPr>
              <a:t>•  </a:t>
            </a:r>
            <a:r>
              <a:rPr sz="1600" b="0">
                <a:solidFill>
                  <a:srgbClr val="1B1F1E"/>
                </a:solidFill>
                <a:latin typeface="Montserrat"/>
              </a:rPr>
              <a:t>The camera frame, with every box and distance</a:t>
            </a:r>
          </a:p>
          <a:p>
            <a:pPr algn="l">
              <a:lnSpc>
                <a:spcPct val="112000"/>
              </a:lnSpc>
              <a:spcBef>
                <a:spcPts val="500"/>
              </a:spcBef>
            </a:pPr>
            <a:r>
              <a:rPr sz="1600" b="1">
                <a:solidFill>
                  <a:srgbClr val="0F5C52"/>
                </a:solidFill>
                <a:latin typeface="Montserrat"/>
              </a:rPr>
              <a:t>•  </a:t>
            </a:r>
            <a:r>
              <a:rPr sz="1600" b="0">
                <a:solidFill>
                  <a:srgbClr val="1B1F1E"/>
                </a:solidFill>
                <a:latin typeface="Montserrat"/>
              </a:rPr>
              <a:t>The answer above is written from this record, so it cannot make things up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39" name="Google Shape;139;p19"/>
          <p:cNvSpPr txBox="1"/>
          <p:nvPr/>
        </p:nvSpPr>
        <p:spPr>
          <a:xfrm>
            <a:off x="548640" y="1417320"/>
            <a:ext cx="171907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1B1F1E"/>
                </a:solidFill>
                <a:latin typeface="Montserrat"/>
                <a:ea typeface="Montserrat"/>
                <a:cs typeface="Montserrat"/>
                <a:sym typeface="Montserrat"/>
              </a:rPr>
              <a:t>EXTRA · OUR ROVER IS SAATHI'S BODY</a:t>
            </a:r>
            <a:endParaRPr/>
          </a:p>
        </p:txBody>
      </p:sp>
      <p:pic>
        <p:nvPicPr>
          <p:cNvPr id="143" name="Google Shape;143;p19" title="pptnlogo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18288000" cy="12055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Picture 143" descr="team_rover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207041"/>
            <a:ext cx="6309360" cy="5690036"/>
          </a:xfrm>
          <a:prstGeom prst="rect">
            <a:avLst/>
          </a:prstGeom>
          <a:ln w="9525">
            <a:solidFill>
              <a:srgbClr val="D3DBD6"/>
            </a:solidFill>
          </a:ln>
        </p:spPr>
      </p:pic>
      <p:sp>
        <p:nvSpPr>
          <p:cNvPr id="145" name="TextBox 144"/>
          <p:cNvSpPr txBox="1"/>
          <p:nvPr/>
        </p:nvSpPr>
        <p:spPr>
          <a:xfrm>
            <a:off x="548640" y="8001000"/>
            <a:ext cx="630936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0">
                <a:solidFill>
                  <a:srgbClr val="555E5B"/>
                </a:solidFill>
                <a:latin typeface="Montserrat"/>
              </a:rPr>
              <a:t>Team design: AI Rover HiH 2026</a:t>
            </a:r>
          </a:p>
        </p:txBody>
      </p:sp>
      <p:graphicFrame>
        <p:nvGraphicFramePr>
          <p:cNvPr id="146" name="Table 145"/>
          <p:cNvGraphicFramePr>
            <a:graphicFrameLocks noGrp="1"/>
          </p:cNvGraphicFramePr>
          <p:nvPr/>
        </p:nvGraphicFramePr>
        <p:xfrm>
          <a:off x="7315200" y="2194560"/>
          <a:ext cx="1042416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23360"/>
                <a:gridCol w="6400800"/>
              </a:tblGrid>
              <a:tr h="438912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Montserrat"/>
                        </a:rPr>
                        <a:t>Part</a:t>
                      </a:r>
                    </a:p>
                  </a:txBody>
                  <a:tcPr marL="109728" marR="109728" marT="45720" marB="45720">
                    <a:solidFill>
                      <a:srgbClr val="0F5C5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Montserrat"/>
                        </a:rPr>
                        <a:t>What Saathi uses it for</a:t>
                      </a:r>
                    </a:p>
                  </a:txBody>
                  <a:tcPr marL="109728" marR="109728" marT="45720" marB="45720">
                    <a:solidFill>
                      <a:srgbClr val="0F5C52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B1F1E"/>
                          </a:solidFill>
                          <a:latin typeface="Montserrat"/>
                        </a:rPr>
                        <a:t>Stereo RGB camera</a:t>
                      </a:r>
                    </a:p>
                  </a:txBody>
                  <a:tcPr marL="109728" marR="109728" marT="45720" marB="45720">
                    <a:solidFill>
                      <a:srgbClr val="F2F5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B1F1E"/>
                          </a:solidFill>
                          <a:latin typeface="Montserrat"/>
                        </a:rPr>
                        <a:t>Find, track and read people's intent</a:t>
                      </a:r>
                    </a:p>
                  </a:txBody>
                  <a:tcPr marL="109728" marR="109728" marT="45720" marB="45720">
                    <a:solidFill>
                      <a:srgbClr val="F2F5F2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B1F1E"/>
                          </a:solidFill>
                          <a:latin typeface="Montserrat"/>
                        </a:rPr>
                        <a:t>Depth camera</a:t>
                      </a:r>
                    </a:p>
                  </a:txBody>
                  <a:tcPr marL="109728" marR="10972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B1F1E"/>
                          </a:solidFill>
                          <a:latin typeface="Montserrat"/>
                        </a:rPr>
                        <a:t>Distance to each person</a:t>
                      </a:r>
                    </a:p>
                  </a:txBody>
                  <a:tcPr marL="109728" marR="109728" marT="45720" marB="45720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B1F1E"/>
                          </a:solidFill>
                          <a:latin typeface="Montserrat"/>
                        </a:rPr>
                        <a:t>360° LiDAR</a:t>
                      </a:r>
                    </a:p>
                  </a:txBody>
                  <a:tcPr marL="109728" marR="109728" marT="45720" marB="45720">
                    <a:solidFill>
                      <a:srgbClr val="F2F5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B1F1E"/>
                          </a:solidFill>
                          <a:latin typeface="Montserrat"/>
                        </a:rPr>
                        <a:t>Map, position, blind spots behind</a:t>
                      </a:r>
                    </a:p>
                  </a:txBody>
                  <a:tcPr marL="109728" marR="109728" marT="45720" marB="45720">
                    <a:solidFill>
                      <a:srgbClr val="F2F5F2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B1F1E"/>
                          </a:solidFill>
                          <a:latin typeface="Montserrat"/>
                        </a:rPr>
                        <a:t>Ultrasonic + IR</a:t>
                      </a:r>
                    </a:p>
                  </a:txBody>
                  <a:tcPr marL="109728" marR="10972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B1F1E"/>
                          </a:solidFill>
                          <a:latin typeface="Montserrat"/>
                        </a:rPr>
                        <a:t>Close-range stop</a:t>
                      </a:r>
                    </a:p>
                  </a:txBody>
                  <a:tcPr marL="109728" marR="109728" marT="45720" marB="45720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B1F1E"/>
                          </a:solidFill>
                          <a:latin typeface="Montserrat"/>
                        </a:rPr>
                        <a:t>IMU</a:t>
                      </a:r>
                    </a:p>
                  </a:txBody>
                  <a:tcPr marL="109728" marR="109728" marT="45720" marB="45720">
                    <a:solidFill>
                      <a:srgbClr val="F2F5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B1F1E"/>
                          </a:solidFill>
                          <a:latin typeface="Montserrat"/>
                        </a:rPr>
                        <a:t>Speed, heading, gentle braking</a:t>
                      </a:r>
                    </a:p>
                  </a:txBody>
                  <a:tcPr marL="109728" marR="109728" marT="45720" marB="45720">
                    <a:solidFill>
                      <a:srgbClr val="F2F5F2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B1F1E"/>
                          </a:solidFill>
                          <a:latin typeface="Montserrat"/>
                        </a:rPr>
                        <a:t>Mecanum wheels</a:t>
                      </a:r>
                    </a:p>
                  </a:txBody>
                  <a:tcPr marL="109728" marR="10972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B1F1E"/>
                          </a:solidFill>
                          <a:latin typeface="Montserrat"/>
                        </a:rPr>
                        <a:t>Slide sideways in tight crowds</a:t>
                      </a:r>
                    </a:p>
                  </a:txBody>
                  <a:tcPr marL="109728" marR="109728" marT="45720" marB="45720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B1F1E"/>
                          </a:solidFill>
                          <a:latin typeface="Montserrat"/>
                        </a:rPr>
                        <a:t>Jetson Orin Nano</a:t>
                      </a:r>
                    </a:p>
                  </a:txBody>
                  <a:tcPr marL="109728" marR="109728" marT="45720" marB="45720">
                    <a:solidFill>
                      <a:srgbClr val="F2F5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B1F1E"/>
                          </a:solidFill>
                          <a:latin typeface="Montserrat"/>
                        </a:rPr>
                        <a:t>Runs the reflex brain on board</a:t>
                      </a:r>
                    </a:p>
                  </a:txBody>
                  <a:tcPr marL="109728" marR="109728" marT="45720" marB="45720">
                    <a:solidFill>
                      <a:srgbClr val="F2F5F2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B1F1E"/>
                          </a:solidFill>
                          <a:latin typeface="Montserrat"/>
                        </a:rPr>
                        <a:t>+ Face screen, mic, speaker</a:t>
                      </a:r>
                    </a:p>
                  </a:txBody>
                  <a:tcPr marL="109728" marR="109728" marT="45720" marB="45720">
                    <a:solidFill>
                      <a:srgbClr val="DDEE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B1F1E"/>
                          </a:solidFill>
                          <a:latin typeface="Montserrat"/>
                        </a:rPr>
                        <a:t>Talk, listen, show mood (we add)</a:t>
                      </a:r>
                    </a:p>
                  </a:txBody>
                  <a:tcPr marL="109728" marR="109728" marT="45720" marB="45720">
                    <a:solidFill>
                      <a:srgbClr val="DDEEE9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B1F1E"/>
                          </a:solidFill>
                          <a:latin typeface="Montserrat"/>
                        </a:rPr>
                        <a:t>+ Red e-stop button</a:t>
                      </a:r>
                    </a:p>
                  </a:txBody>
                  <a:tcPr marL="109728" marR="109728" marT="45720" marB="45720">
                    <a:solidFill>
                      <a:srgbClr val="DDEE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B1F1E"/>
                          </a:solidFill>
                          <a:latin typeface="Montserrat"/>
                        </a:rPr>
                        <a:t>A physical stop anyone can press (we add)</a:t>
                      </a:r>
                    </a:p>
                  </a:txBody>
                  <a:tcPr marL="109728" marR="109728" marT="45720" marB="45720">
                    <a:solidFill>
                      <a:srgbClr val="DDEEE9"/>
                    </a:solidFill>
                  </a:tcPr>
                </a:tc>
              </a:tr>
            </a:tbl>
          </a:graphicData>
        </a:graphic>
      </p:graphicFrame>
      <p:pic>
        <p:nvPicPr>
          <p:cNvPr id="147" name="Picture 146" descr="rover_sim_closeup.jpg"/>
          <p:cNvPicPr>
            <a:picLocks noChangeAspect="1"/>
          </p:cNvPicPr>
          <p:nvPr/>
        </p:nvPicPr>
        <p:blipFill>
          <a:blip r:embed="rId4"/>
          <a:srcRect t="8265" b="8265"/>
          <a:stretch>
            <a:fillRect/>
          </a:stretch>
        </p:blipFill>
        <p:spPr>
          <a:xfrm>
            <a:off x="14264640" y="6903720"/>
            <a:ext cx="3474720" cy="2651760"/>
          </a:xfrm>
          <a:prstGeom prst="rect">
            <a:avLst/>
          </a:prstGeom>
          <a:ln w="9525">
            <a:solidFill>
              <a:srgbClr val="D3DBD6"/>
            </a:solidFill>
          </a:ln>
        </p:spPr>
      </p:pic>
      <p:sp>
        <p:nvSpPr>
          <p:cNvPr id="148" name="TextBox 147"/>
          <p:cNvSpPr txBox="1"/>
          <p:nvPr/>
        </p:nvSpPr>
        <p:spPr>
          <a:xfrm>
            <a:off x="7315200" y="6903720"/>
            <a:ext cx="6675120" cy="2743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2000"/>
              </a:lnSpc>
            </a:pPr>
            <a:r>
              <a:rPr sz="1800" b="1">
                <a:solidFill>
                  <a:srgbClr val="0F5C52"/>
                </a:solidFill>
                <a:latin typeface="Montserrat"/>
              </a:rPr>
              <a:t>SAME SENSORS IN SIMULATION</a:t>
            </a:r>
          </a:p>
          <a:p>
            <a:pPr algn="l">
              <a:lnSpc>
                <a:spcPct val="112000"/>
              </a:lnSpc>
              <a:spcBef>
                <a:spcPts val="400"/>
              </a:spcBef>
            </a:pPr>
            <a:r>
              <a:rPr sz="1600" b="0">
                <a:solidFill>
                  <a:srgbClr val="1B1F1E"/>
                </a:solidFill>
                <a:latin typeface="Montserrat"/>
              </a:rPr>
              <a:t>We built this rover in Webots with the same camera, depth camera, LiDAR and IMU, and gave it the face screen. The brain talks to the sensors through a small interface, so the same code can drive the real rover once its drivers are in.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