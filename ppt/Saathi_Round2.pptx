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4" r:id="rId20"/>
    <p:sldId id="265" r:id="rId21"/>
    <p:sldId id="263" r:id="rId13"/>
  </p:sldIdLst>
  <p:sldSz cy="10287000" cx="18288000"/>
  <p:notesSz cx="6858000" cy="9144000"/>
  <p:embeddedFontLst>
    <p:embeddedFont>
      <p:font typeface="IBM Plex Sans"/>
      <p:bold r:id="rId14"/>
      <p:boldItalic r:id="rId15"/>
    </p:embeddedFont>
    <p:embeddedFont>
      <p:font typeface="Caveat"/>
      <p:regular r:id="rId16"/>
      <p:bold r:id="rId17"/>
    </p:embeddedFont>
    <p:embeddedFont>
      <p:font typeface="Montserrat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IBMPlexSans-bold.fntdata"/><Relationship Id="rId15" Type="http://schemas.openxmlformats.org/officeDocument/2006/relationships/font" Target="fonts/IBMPlexSans-boldItalic.fntdata"/><Relationship Id="rId16" Type="http://schemas.openxmlformats.org/officeDocument/2006/relationships/font" Target="fonts/Caveat-regular.fntdata"/><Relationship Id="rId17" Type="http://schemas.openxmlformats.org/officeDocument/2006/relationships/font" Target="fonts/Caveat-bold.fntdata"/><Relationship Id="rId18" Type="http://schemas.openxmlformats.org/officeDocument/2006/relationships/font" Target="fonts/Montserrat-bold.fntdata"/><Relationship Id="rId19" Type="http://schemas.openxmlformats.org/officeDocument/2006/relationships/font" Target="fonts/Montserrat-boldItalic.fntdata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Relationship Id="rId8" Type="http://schemas.openxmlformats.org/officeDocument/2006/relationships/image" Target="../media/image17.jpg"/><Relationship Id="rId9" Type="http://schemas.openxmlformats.org/officeDocument/2006/relationships/image" Target="../media/image18.jpg"/><Relationship Id="rId10" Type="http://schemas.openxmlformats.org/officeDocument/2006/relationships/image" Target="../media/image19.jpg"/><Relationship Id="rId11" Type="http://schemas.openxmlformats.org/officeDocument/2006/relationships/image" Target="../media/image10.jpg"/><Relationship Id="rId1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1.jpg"/><Relationship Id="rId6" Type="http://schemas.openxmlformats.org/officeDocument/2006/relationships/image" Target="../media/image2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7.jpg"/><Relationship Id="rId4" Type="http://schemas.openxmlformats.org/officeDocument/2006/relationships/image" Target="../media/image5.jpg"/><Relationship Id="rId5" Type="http://schemas.openxmlformats.org/officeDocument/2006/relationships/image" Target="../media/image10.jpg"/><Relationship Id="rId6" Type="http://schemas.openxmlformats.org/officeDocument/2006/relationships/image" Target="../media/image23.jp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803274" y="4586497"/>
            <a:ext cx="11896807" cy="2831587"/>
            <a:chOff x="0" y="-114300"/>
            <a:chExt cx="15862410" cy="3775450"/>
          </a:xfrm>
        </p:grpSpPr>
        <p:sp>
          <p:nvSpPr>
            <p:cNvPr id="85" name="Google Shape;85;p13"/>
            <p:cNvSpPr txBox="1"/>
            <p:nvPr/>
          </p:nvSpPr>
          <p:spPr>
            <a:xfrm>
              <a:off x="0" y="-114300"/>
              <a:ext cx="8473247" cy="133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55" u="none" cap="none" strike="noStrike">
                  <a:solidFill>
                    <a:srgbClr val="1D1D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</a:t>
              </a: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4917498" y="1498356"/>
              <a:ext cx="10944912" cy="21627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TEAM NAME: Team Glitch</a:t>
              </a:r>
              <a:endParaRPr/>
            </a:p>
            <a:p>
              <a:pPr indent="0" lvl="0" marL="0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MEMBERS &amp; ROLES:</a:t>
              </a:r>
              <a:endParaRPr/>
            </a:p>
          </p:txBody>
        </p:sp>
      </p:grpSp>
      <p:pic>
        <p:nvPicPr>
          <p:cNvPr id="87" name="Google Shape;87;p13" title="download (2).jpg"/>
          <p:cNvPicPr preferRelativeResize="0"/>
          <p:nvPr/>
        </p:nvPicPr>
        <p:blipFill rotWithShape="1">
          <a:blip r:embed="rId3">
            <a:alphaModFix/>
          </a:blip>
          <a:srcRect b="0" l="38928" r="16455" t="0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3136392" y="6858000"/>
            <a:ext cx="6309360" cy="3017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B1F1E"/>
                </a:solidFill>
                <a:latin typeface="Montserrat"/>
              </a:rPr>
              <a:t>Ayush Kumar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500" b="0">
                <a:solidFill>
                  <a:srgbClr val="555E5B"/>
                </a:solidFill>
                <a:latin typeface="Montserrat"/>
              </a:rPr>
              <a:t>Lead: robot &amp; simulation, vision &amp; AI, shared memory, Hindi voice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2000" b="1">
                <a:solidFill>
                  <a:srgbClr val="1B1F1E"/>
                </a:solidFill>
                <a:latin typeface="Montserrat"/>
              </a:rPr>
              <a:t>Soumya Raghuwanshi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500" b="0">
                <a:solidFill>
                  <a:srgbClr val="555E5B"/>
                </a:solidFill>
                <a:latin typeface="Montserrat"/>
              </a:rPr>
              <a:t>Research: Indian hospital data and sources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2000" b="1">
                <a:solidFill>
                  <a:srgbClr val="1B1F1E"/>
                </a:solidFill>
                <a:latin typeface="Montserrat"/>
              </a:rPr>
              <a:t>Simran Kumari Keshri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500" b="0">
                <a:solidFill>
                  <a:srgbClr val="555E5B"/>
                </a:solidFill>
                <a:latin typeface="Montserrat"/>
              </a:rPr>
              <a:t>Testing and pitch: voice tests, demo video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92640" y="4206240"/>
            <a:ext cx="80467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>
                <a:solidFill>
                  <a:srgbClr val="0F5C52"/>
                </a:solidFill>
                <a:latin typeface="Montserrat"/>
              </a:rPr>
              <a:t>SAATHI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92640" y="5120640"/>
            <a:ext cx="804672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1F1E"/>
                </a:solidFill>
                <a:latin typeface="Montserrat"/>
              </a:rPr>
              <a:t>A robot guide that reads Indian hospital crowds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500" b="0">
                <a:solidFill>
                  <a:srgbClr val="555E5B"/>
                </a:solidFill>
                <a:latin typeface="Montserrat"/>
              </a:rPr>
              <a:t>PS-01 · Vision-Based Autonomous Robot · Round 2: working prototype in a two-floor Webots hospital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692640" y="635508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0F5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692640" y="6373368"/>
            <a:ext cx="30175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github.com/shaunmortal/saathi</a:t>
            </a:r>
          </a:p>
        </p:txBody>
      </p:sp>
      <p:pic>
        <p:nvPicPr>
          <p:cNvPr id="95" name="Picture 94" descr="floor2_frame.jpg"/>
          <p:cNvPicPr>
            <a:picLocks noChangeAspect="1"/>
          </p:cNvPicPr>
          <p:nvPr/>
        </p:nvPicPr>
        <p:blipFill>
          <a:blip r:embed="rId6"/>
          <a:srcRect t="4930" b="4930"/>
          <a:stretch>
            <a:fillRect/>
          </a:stretch>
        </p:blipFill>
        <p:spPr>
          <a:xfrm>
            <a:off x="9692640" y="6858000"/>
            <a:ext cx="6492240" cy="329184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STATEMENT: PATIENTS GET LOST IN INDIAN OPDs</a:t>
            </a:r>
            <a:endParaRPr/>
          </a:p>
        </p:txBody>
      </p:sp>
      <p:pic>
        <p:nvPicPr>
          <p:cNvPr id="98" name="Google Shape;98;p14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Rounded Rectangle 98"/>
          <p:cNvSpPr/>
          <p:nvPr/>
        </p:nvSpPr>
        <p:spPr>
          <a:xfrm>
            <a:off x="548640" y="214884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3232" y="2240280"/>
            <a:ext cx="2377440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B8550D"/>
                </a:solidFill>
                <a:latin typeface="Montserrat"/>
              </a:rPr>
              <a:t>14–15k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300" b="0">
                <a:solidFill>
                  <a:srgbClr val="1B1F1E"/>
                </a:solidFill>
                <a:latin typeface="Montserrat"/>
              </a:rPr>
              <a:t>OPD patients a day at one hospital (AIIMS Delhi)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383280" y="214884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547872" y="2240280"/>
            <a:ext cx="2377440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B8550D"/>
                </a:solidFill>
                <a:latin typeface="Montserrat"/>
              </a:rPr>
              <a:t>69.6%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300" b="0">
                <a:solidFill>
                  <a:srgbClr val="1B1F1E"/>
                </a:solidFill>
                <a:latin typeface="Montserrat"/>
              </a:rPr>
              <a:t>of first-time OPD visitors needed a person to find their way (GMC Bhopal)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217920" y="214884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82512" y="2240280"/>
            <a:ext cx="2377440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B8550D"/>
                </a:solidFill>
                <a:latin typeface="Montserrat"/>
              </a:rPr>
              <a:t>98%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300" b="0">
                <a:solidFill>
                  <a:srgbClr val="1B1F1E"/>
                </a:solidFill>
                <a:latin typeface="Montserrat"/>
              </a:rPr>
              <a:t>of older patients at AIIMS geriatric OPD come alone (2026 preprint)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052560" y="214884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217152" y="2240280"/>
            <a:ext cx="2377440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B8550D"/>
                </a:solidFill>
                <a:latin typeface="Montserrat"/>
              </a:rPr>
              <a:t>3 h+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300" b="0">
                <a:solidFill>
                  <a:srgbClr val="1B1F1E"/>
                </a:solidFill>
                <a:latin typeface="Montserrat"/>
              </a:rPr>
              <a:t>total wait for 58% of 400 patients (RIMS Ranchi, 2026)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ONE PATIENT, ONE X-RAY: TODAY vs WITH SAATHI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8640" y="5029200"/>
            <a:ext cx="14630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555E5B"/>
                </a:solidFill>
                <a:latin typeface="Montserrat"/>
              </a:rPr>
              <a:t>TODAY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103120" y="4754880"/>
            <a:ext cx="1600200" cy="11430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212848" y="4846320"/>
            <a:ext cx="13716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B1F1E"/>
                </a:solidFill>
                <a:latin typeface="Montserrat"/>
              </a:rPr>
              <a:t>Enters alone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200" b="0">
                <a:solidFill>
                  <a:srgbClr val="555E5B"/>
                </a:solidFill>
                <a:latin typeface="Montserrat"/>
              </a:rPr>
              <a:t>signs in English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3703320" y="5321808"/>
            <a:ext cx="228600" cy="0"/>
          </a:xfrm>
          <a:prstGeom prst="line">
            <a:avLst/>
          </a:prstGeom>
          <a:ln w="1905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3931920" y="4754880"/>
            <a:ext cx="1600200" cy="11430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041648" y="4846320"/>
            <a:ext cx="13716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B1F1E"/>
                </a:solidFill>
                <a:latin typeface="Montserrat"/>
              </a:rPr>
              <a:t>Asks the guard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200" b="0">
                <a:solidFill>
                  <a:srgbClr val="555E5B"/>
                </a:solidFill>
                <a:latin typeface="Montserrat"/>
              </a:rPr>
              <a:t>“seedha jao”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5532120" y="5321808"/>
            <a:ext cx="228600" cy="0"/>
          </a:xfrm>
          <a:prstGeom prst="line">
            <a:avLst/>
          </a:prstGeom>
          <a:ln w="1905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5760720" y="4754880"/>
            <a:ext cx="1600200" cy="11430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870448" y="4846320"/>
            <a:ext cx="13716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B1F1E"/>
                </a:solidFill>
                <a:latin typeface="Montserrat"/>
              </a:rPr>
              <a:t>Wrong corridor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200" b="0">
                <a:solidFill>
                  <a:srgbClr val="555E5B"/>
                </a:solidFill>
                <a:latin typeface="Montserrat"/>
              </a:rPr>
              <a:t>walks back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7360920" y="5321808"/>
            <a:ext cx="228600" cy="0"/>
          </a:xfrm>
          <a:prstGeom prst="line">
            <a:avLst/>
          </a:prstGeom>
          <a:ln w="1905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7589520" y="4754880"/>
            <a:ext cx="1600200" cy="11430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699248" y="4846320"/>
            <a:ext cx="13716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B1F1E"/>
                </a:solidFill>
                <a:latin typeface="Montserrat"/>
              </a:rPr>
              <a:t>Asks a nurse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200" b="0">
                <a:solidFill>
                  <a:srgbClr val="555E5B"/>
                </a:solidFill>
                <a:latin typeface="Montserrat"/>
              </a:rPr>
              <a:t>she leaves her patient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9189720" y="5321808"/>
            <a:ext cx="228600" cy="0"/>
          </a:xfrm>
          <a:prstGeom prst="line">
            <a:avLst/>
          </a:prstGeom>
          <a:ln w="1905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9418320" y="4754880"/>
            <a:ext cx="1600200" cy="11430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528048" y="4846320"/>
            <a:ext cx="13716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B1F1E"/>
                </a:solidFill>
                <a:latin typeface="Montserrat"/>
              </a:rPr>
              <a:t>Reaches Radiology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200" b="0">
                <a:solidFill>
                  <a:srgbClr val="555E5B"/>
                </a:solidFill>
                <a:latin typeface="Montserrat"/>
              </a:rPr>
              <a:t>after a long detour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48640" y="6446520"/>
            <a:ext cx="14630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0F5C52"/>
                </a:solidFill>
                <a:latin typeface="Montserrat"/>
              </a:rPr>
              <a:t>WITH SAATHI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103120" y="6172200"/>
            <a:ext cx="2819400" cy="114300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212848" y="6263640"/>
            <a:ext cx="25908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B1F1E"/>
                </a:solidFill>
                <a:latin typeface="Montserrat"/>
              </a:rPr>
              <a:t>“Mujhe X-ray karwana hai”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200" b="0">
                <a:solidFill>
                  <a:srgbClr val="555E5B"/>
                </a:solidFill>
                <a:latin typeface="Montserrat"/>
              </a:rPr>
              <a:t>in Hindi, at the entrance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4922520" y="6739128"/>
            <a:ext cx="228600" cy="0"/>
          </a:xfrm>
          <a:prstGeom prst="line">
            <a:avLst/>
          </a:prstGeom>
          <a:ln w="19050">
            <a:solidFill>
              <a:srgbClr val="0F5C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/>
          <p:cNvSpPr/>
          <p:nvPr/>
        </p:nvSpPr>
        <p:spPr>
          <a:xfrm>
            <a:off x="5151120" y="6172200"/>
            <a:ext cx="2819400" cy="114300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260848" y="6263640"/>
            <a:ext cx="25908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B1F1E"/>
                </a:solidFill>
                <a:latin typeface="Montserrat"/>
              </a:rPr>
              <a:t>Saathi walks with them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200" b="0">
                <a:solidFill>
                  <a:srgbClr val="555E5B"/>
                </a:solidFill>
                <a:latin typeface="Montserrat"/>
              </a:rPr>
              <a:t>at their pace, through the crowd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7970520" y="6739128"/>
            <a:ext cx="228600" cy="0"/>
          </a:xfrm>
          <a:prstGeom prst="line">
            <a:avLst/>
          </a:prstGeom>
          <a:ln w="19050">
            <a:solidFill>
              <a:srgbClr val="0F5C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8199120" y="6172200"/>
            <a:ext cx="2819400" cy="114300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308847" y="6263640"/>
            <a:ext cx="25908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B1F1E"/>
                </a:solidFill>
                <a:latin typeface="Montserrat"/>
              </a:rPr>
              <a:t>Reaches Radiology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200" b="0">
                <a:solidFill>
                  <a:srgbClr val="555E5B"/>
                </a:solidFill>
                <a:latin typeface="Montserrat"/>
              </a:rPr>
              <a:t>and says so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48640" y="768096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WHAT IT COSTS, AND WHY A ROBOT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48640" y="809244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85800" y="8156448"/>
            <a:ext cx="2423160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B1F1E"/>
                </a:solidFill>
                <a:latin typeface="Montserrat"/>
              </a:rPr>
              <a:t>Hours lost, appointments missed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200" b="0">
                <a:solidFill>
                  <a:srgbClr val="555E5B"/>
                </a:solidFill>
                <a:latin typeface="Montserrat"/>
              </a:rPr>
              <a:t>patients, mostly first-time, elderly, low-literacy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383280" y="809244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520440" y="8156448"/>
            <a:ext cx="2423160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B1F1E"/>
                </a:solidFill>
                <a:latin typeface="Montserrat"/>
              </a:rPr>
              <a:t>Help desks and nurses pulled away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200" b="0">
                <a:solidFill>
                  <a:srgbClr val="555E5B"/>
                </a:solidFill>
                <a:latin typeface="Montserrat"/>
              </a:rPr>
              <a:t>every “X-ray kahan hai?” is a nurse off her patient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217920" y="809244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355080" y="8156448"/>
            <a:ext cx="2423160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B1F1E"/>
                </a:solidFill>
                <a:latin typeface="Montserrat"/>
              </a:rPr>
              <a:t>A fall in a packed hall is noticed late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200" b="0">
                <a:solidFill>
                  <a:srgbClr val="555E5B"/>
                </a:solidFill>
                <a:latin typeface="Montserrat"/>
              </a:rPr>
              <a:t>nobody is watching the floor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052560" y="809244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189720" y="8156448"/>
            <a:ext cx="2423160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B1F1E"/>
                </a:solidFill>
                <a:latin typeface="Montserrat"/>
              </a:rPr>
              <a:t>Today's robot planners fail in crowds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200" b="0">
                <a:solidFill>
                  <a:srgbClr val="555E5B"/>
                </a:solidFill>
                <a:latin typeface="Montserrat"/>
              </a:rPr>
              <a:t>they freeze, or cut straight through people</a:t>
            </a:r>
          </a:p>
        </p:txBody>
      </p:sp>
      <p:pic>
        <p:nvPicPr>
          <p:cNvPr id="141" name="Picture 140" descr="cctv_004.00.jpg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11887200" y="2148840"/>
            <a:ext cx="5852160" cy="329184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42" name="TextBox 141"/>
          <p:cNvSpPr txBox="1"/>
          <p:nvPr/>
        </p:nvSpPr>
        <p:spPr>
          <a:xfrm>
            <a:off x="11887200" y="5468112"/>
            <a:ext cx="5852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55E5B"/>
                </a:solidFill>
                <a:latin typeface="Montserrat"/>
              </a:rPr>
              <a:t>Our OPD hall in Webots: Hindi + English signs, token display, pharmacy queue, animated people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1887200" y="6172200"/>
            <a:ext cx="5852160" cy="160020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2070080" y="6263640"/>
            <a:ext cx="54864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THE GAP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300" b="0">
                <a:solidFill>
                  <a:srgbClr val="1B1F1E"/>
                </a:solidFill>
                <a:latin typeface="Montserrat"/>
              </a:rPr>
              <a:t>No wayfinding robot found in any Indian OPD (our 2024–26 search). Guide robots exist at airports abroad; Indian OPD crowds are denser.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887200" y="7909560"/>
            <a:ext cx="5852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0F5C52"/>
                </a:solidFill>
                <a:latin typeface="Montserrat"/>
              </a:rPr>
              <a:t>PS-01 · VISION-BASED AUTONOMOUS ROBOT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1887200" y="832104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1887200" y="8339327"/>
            <a:ext cx="28803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0F5C52"/>
                </a:solidFill>
                <a:latin typeface="Montserrat"/>
              </a:rPr>
              <a:t>AI vision: people + objects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4859000" y="832104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4859000" y="8339327"/>
            <a:ext cx="28803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0F5C52"/>
                </a:solidFill>
                <a:latin typeface="Montserrat"/>
              </a:rPr>
              <a:t>Drives itself to a goal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1887200" y="882396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1887200" y="8842248"/>
            <a:ext cx="28803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0F5C52"/>
                </a:solidFill>
                <a:latin typeface="Montserrat"/>
              </a:rPr>
              <a:t>Real-time decisions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4859000" y="882396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4859000" y="8842248"/>
            <a:ext cx="28803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0F5C52"/>
                </a:solidFill>
                <a:latin typeface="Montserrat"/>
              </a:rPr>
              <a:t>Simulated hospital (allowed)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48640" y="9710928"/>
            <a:ext cx="17190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E5B"/>
                </a:solidFill>
                <a:latin typeface="Montserrat"/>
              </a:rPr>
              <a:t>Sources: AIIMS OPD load, UNI and Free Press Journal, Sep 2026 · GMC Bhopal, IJCMPH 2026 (n=336) · AIIMS geriatric OPD, Research Square preprint, Aug 2026 (n=400) · RIMS Ranchi, Cureus, Sep 2026 (n=400)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SOLUTION: SAATHI, A GUIDE ROBOT THAT READS THE CROWD</a:t>
            </a:r>
            <a:endParaRPr/>
          </a:p>
        </p:txBody>
      </p:sp>
      <p:pic>
        <p:nvPicPr>
          <p:cNvPr id="107" name="Google Shape;107;p15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TextBox 107"/>
          <p:cNvSpPr txBox="1"/>
          <p:nvPr/>
        </p:nvSpPr>
        <p:spPr>
          <a:xfrm>
            <a:off x="548640" y="2103120"/>
            <a:ext cx="171907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B1F1E"/>
                </a:solidFill>
                <a:latin typeface="Montserrat"/>
              </a:rPr>
              <a:t>Say “Mujhe X-ray karwana hai”. </a:t>
            </a:r>
            <a:r>
              <a:rPr sz="1600" b="0">
                <a:solidFill>
                  <a:srgbClr val="1B1F1E"/>
                </a:solidFill>
                <a:latin typeface="Montserrat"/>
              </a:rPr>
              <a:t>Saathi walks you there at your pace, talks in Hindi, explains every move, and takes the lift when your department is upstairs. All frames below are from our Webots runs.</a:t>
            </a:r>
          </a:p>
        </p:txBody>
      </p:sp>
      <p:pic>
        <p:nvPicPr>
          <p:cNvPr id="109" name="Picture 108" descr="blackbox.jpg"/>
          <p:cNvPicPr>
            <a:picLocks noChangeAspect="1"/>
          </p:cNvPicPr>
          <p:nvPr/>
        </p:nvPicPr>
        <p:blipFill>
          <a:blip r:embed="rId4"/>
          <a:srcRect t="20492" b="20492"/>
          <a:stretch>
            <a:fillRect/>
          </a:stretch>
        </p:blipFill>
        <p:spPr>
          <a:xfrm>
            <a:off x="548640" y="2697480"/>
            <a:ext cx="5577840" cy="246888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10" name="TextBox 109"/>
          <p:cNvSpPr txBox="1"/>
          <p:nvPr/>
        </p:nvSpPr>
        <p:spPr>
          <a:xfrm>
            <a:off x="548640" y="5212080"/>
            <a:ext cx="55778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Sees every person with an ID and distance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300" b="0">
                <a:solidFill>
                  <a:srgbClr val="555E5B"/>
                </a:solidFill>
                <a:latin typeface="Montserrat"/>
              </a:rPr>
              <a:t>YOLO11 + depth camera + 360° LiDAR</a:t>
            </a:r>
          </a:p>
        </p:txBody>
      </p:sp>
      <p:pic>
        <p:nvPicPr>
          <p:cNvPr id="111" name="Picture 110" descr="side_by_side.jpg"/>
          <p:cNvPicPr>
            <a:picLocks noChangeAspect="1"/>
          </p:cNvPicPr>
          <p:nvPr/>
        </p:nvPicPr>
        <p:blipFill>
          <a:blip r:embed="rId5"/>
          <a:srcRect l="18427" r="18427"/>
          <a:stretch>
            <a:fillRect/>
          </a:stretch>
        </p:blipFill>
        <p:spPr>
          <a:xfrm>
            <a:off x="6327648" y="2697480"/>
            <a:ext cx="5577840" cy="246888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12" name="TextBox 111"/>
          <p:cNvSpPr txBox="1"/>
          <p:nvPr/>
        </p:nvSpPr>
        <p:spPr>
          <a:xfrm>
            <a:off x="6327648" y="5212080"/>
            <a:ext cx="55778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Never cuts through a conversation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300" b="0">
                <a:solidFill>
                  <a:srgbClr val="555E5B"/>
                </a:solidFill>
                <a:latin typeface="Montserrat"/>
              </a:rPr>
              <a:t>left: a normal planner · right: Saathi</a:t>
            </a:r>
          </a:p>
        </p:txBody>
      </p:sp>
      <p:pic>
        <p:nvPicPr>
          <p:cNvPr id="113" name="Picture 112" descr="obstacles.jpg"/>
          <p:cNvPicPr>
            <a:picLocks noChangeAspect="1"/>
          </p:cNvPicPr>
          <p:nvPr/>
        </p:nvPicPr>
        <p:blipFill>
          <a:blip r:embed="rId6"/>
          <a:srcRect l="18427" r="18427"/>
          <a:stretch>
            <a:fillRect/>
          </a:stretch>
        </p:blipFill>
        <p:spPr>
          <a:xfrm>
            <a:off x="12106656" y="2697480"/>
            <a:ext cx="5577840" cy="246888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14" name="TextBox 113"/>
          <p:cNvSpPr txBox="1"/>
          <p:nvPr/>
        </p:nvSpPr>
        <p:spPr>
          <a:xfrm>
            <a:off x="12106656" y="5212080"/>
            <a:ext cx="55778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Sees what the map does not have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300" b="0">
                <a:solidFill>
                  <a:srgbClr val="555E5B"/>
                </a:solidFill>
                <a:latin typeface="Montserrat"/>
              </a:rPr>
              <a:t>wet-floor board, cardboard box: 0 hits</a:t>
            </a:r>
          </a:p>
        </p:txBody>
      </p:sp>
      <p:pic>
        <p:nvPicPr>
          <p:cNvPr id="115" name="Picture 114" descr="lift_frame.jpg"/>
          <p:cNvPicPr>
            <a:picLocks noChangeAspect="1"/>
          </p:cNvPicPr>
          <p:nvPr/>
        </p:nvPicPr>
        <p:blipFill>
          <a:blip r:embed="rId7"/>
          <a:srcRect t="10656" b="10656"/>
          <a:stretch>
            <a:fillRect/>
          </a:stretch>
        </p:blipFill>
        <p:spPr>
          <a:xfrm>
            <a:off x="548640" y="5897880"/>
            <a:ext cx="5577840" cy="246888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16" name="TextBox 115"/>
          <p:cNvSpPr txBox="1"/>
          <p:nvPr/>
        </p:nvSpPr>
        <p:spPr>
          <a:xfrm>
            <a:off x="548640" y="8412480"/>
            <a:ext cx="55778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Takes the lift to the first floor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300" b="0">
                <a:solidFill>
                  <a:srgbClr val="555E5B"/>
                </a:solidFill>
                <a:latin typeface="Montserrat"/>
              </a:rPr>
              <a:t>doors close, cabin travels, doors open</a:t>
            </a:r>
          </a:p>
        </p:txBody>
      </p:sp>
      <p:pic>
        <p:nvPicPr>
          <p:cNvPr id="117" name="Picture 116" descr="fall.jpg"/>
          <p:cNvPicPr>
            <a:picLocks noChangeAspect="1"/>
          </p:cNvPicPr>
          <p:nvPr/>
        </p:nvPicPr>
        <p:blipFill>
          <a:blip r:embed="rId8"/>
          <a:srcRect t="20492" b="20492"/>
          <a:stretch>
            <a:fillRect/>
          </a:stretch>
        </p:blipFill>
        <p:spPr>
          <a:xfrm>
            <a:off x="6327648" y="5897880"/>
            <a:ext cx="5577840" cy="246888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18" name="TextBox 117"/>
          <p:cNvSpPr txBox="1"/>
          <p:nvPr/>
        </p:nvSpPr>
        <p:spPr>
          <a:xfrm>
            <a:off x="6327648" y="8412480"/>
            <a:ext cx="55778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Spots a fall, alerts the nurse, stays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300" b="0">
                <a:solidFill>
                  <a:srgbClr val="555E5B"/>
                </a:solidFill>
                <a:latin typeface="Montserrat"/>
              </a:rPr>
              <a:t>VLM second opinion: resting or fallen?</a:t>
            </a:r>
          </a:p>
        </p:txBody>
      </p:sp>
      <p:pic>
        <p:nvPicPr>
          <p:cNvPr id="119" name="Picture 118" descr="arrive.jpg"/>
          <p:cNvPicPr>
            <a:picLocks noChangeAspect="1"/>
          </p:cNvPicPr>
          <p:nvPr/>
        </p:nvPicPr>
        <p:blipFill>
          <a:blip r:embed="rId9"/>
          <a:srcRect t="10656" b="10656"/>
          <a:stretch>
            <a:fillRect/>
          </a:stretch>
        </p:blipFill>
        <p:spPr>
          <a:xfrm>
            <a:off x="12106656" y="5897880"/>
            <a:ext cx="5577840" cy="246888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20" name="TextBox 119"/>
          <p:cNvSpPr txBox="1"/>
          <p:nvPr/>
        </p:nvSpPr>
        <p:spPr>
          <a:xfrm>
            <a:off x="12106656" y="8412480"/>
            <a:ext cx="55778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Arrives, and says so in Hindi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300" b="0">
                <a:solidFill>
                  <a:srgbClr val="555E5B"/>
                </a:solidFill>
                <a:latin typeface="Montserrat"/>
              </a:rPr>
              <a:t>offline Whisper + phrasebook + Lekha voice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48640" y="8915400"/>
            <a:ext cx="17190720" cy="658368"/>
          </a:xfrm>
          <a:prstGeom prst="roundRect">
            <a:avLst>
              <a:gd name="adj" fmla="val 6000"/>
            </a:avLst>
          </a:prstGeom>
          <a:solidFill>
            <a:srgbClr val="0F5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31520" y="8988552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🗣 Hindi, fully offline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9200" y="8988552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📼 Black box answers “tum ruke kyun?”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326880" y="8988552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🧠 Robots share one memory of people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624560" y="8988552"/>
            <a:ext cx="42062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📊 Tested on 200 seeded crowds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HOW IT WORKS: TWO BRAINS AND A GUARD NEITHER CAN OVERRIDE</a:t>
            </a:r>
            <a:endParaRPr/>
          </a:p>
        </p:txBody>
      </p:sp>
      <p:pic>
        <p:nvPicPr>
          <p:cNvPr id="116" name="Google Shape;116;p16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Rounded Rectangle 116"/>
          <p:cNvSpPr/>
          <p:nvPr/>
        </p:nvSpPr>
        <p:spPr>
          <a:xfrm>
            <a:off x="548640" y="214884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13232" y="2258568"/>
            <a:ext cx="2688336" cy="11521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SENSORS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Stereo RGB · depth camera · 360° LiDAR · IMU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114800" y="214884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279392" y="2258568"/>
            <a:ext cx="4791455" cy="11521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REFLEX BRAIN · 30 Hz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YOLO11 + depth + LiDAR → people with speed · A* on a crowd costmap, 2 s ahead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784080" y="214884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BECE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948672" y="2258568"/>
            <a:ext cx="2962656" cy="11521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B8550D"/>
                </a:solidFill>
                <a:latin typeface="Montserrat"/>
              </a:rPr>
              <a:t>SAFETY GUARD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On LiDAR, below the AI: stop under 0.6 m. Fist = stop.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3624560" y="214884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3789152" y="2258568"/>
            <a:ext cx="3785615" cy="11521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MOTORS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Body velocity → 4 mecanum wheel speeds (physics)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48640" y="406908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13232" y="4178808"/>
            <a:ext cx="2688336" cy="11521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YOU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Hindi voice · typing · hand gesture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114800" y="406908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279392" y="4178808"/>
            <a:ext cx="4791455" cy="11521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THINKING BRAIN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Whisper (Hindi) + phrasebook · Qwen3.5-2B VLM describes scenes · Lekha voice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784080" y="406908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948672" y="4178808"/>
            <a:ext cx="2962656" cy="11521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SHARED MEMORY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Who each robot saw: where, when, clothes, height. Never a face.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3624560" y="406908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3789152" y="4178808"/>
            <a:ext cx="3785615" cy="11521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BLACK BOX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Every decision + camera frame + reason. Replayable.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3566160" y="2834640"/>
            <a:ext cx="548640" cy="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9235440" y="2834640"/>
            <a:ext cx="548640" cy="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075920" y="2834640"/>
            <a:ext cx="548640" cy="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3566160" y="4754880"/>
            <a:ext cx="548640" cy="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9235440" y="4754880"/>
            <a:ext cx="548640" cy="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35040" y="3520440"/>
            <a:ext cx="0" cy="54864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315200" y="3520440"/>
            <a:ext cx="0" cy="54864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1430000" y="3520440"/>
            <a:ext cx="0" cy="54864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3075920" y="4754880"/>
            <a:ext cx="548640" cy="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6108192" y="3593592"/>
            <a:ext cx="1188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E5B"/>
                </a:solidFill>
                <a:latin typeface="Montserrat"/>
              </a:rPr>
              <a:t>goals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388352" y="3593592"/>
            <a:ext cx="1188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E5B"/>
                </a:solidFill>
                <a:latin typeface="Montserrat"/>
              </a:rPr>
              <a:t>events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48640" y="5760720"/>
            <a:ext cx="17190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ONE REQUEST, END TO END: “BLOOD BANK KAHAN HAI?”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48640" y="621792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58368" y="6291072"/>
            <a:ext cx="251460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1  Hear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250" b="0">
                <a:solidFill>
                  <a:srgbClr val="1B1F1E"/>
                </a:solidFill>
                <a:latin typeface="Montserrat"/>
              </a:rPr>
              <a:t>Whisper → “Blood Bank”, first floor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3246120" y="6830568"/>
            <a:ext cx="182880" cy="0"/>
          </a:xfrm>
          <a:prstGeom prst="line">
            <a:avLst/>
          </a:prstGeom>
          <a:ln w="1905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3429000" y="621792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538728" y="6291072"/>
            <a:ext cx="251460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2  Plan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250" b="0">
                <a:solidFill>
                  <a:srgbClr val="1B1F1E"/>
                </a:solidFill>
                <a:latin typeface="Montserrat"/>
              </a:rPr>
              <a:t>A* to the lift lobby on the crowd costmap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6126480" y="6830568"/>
            <a:ext cx="182880" cy="0"/>
          </a:xfrm>
          <a:prstGeom prst="line">
            <a:avLst/>
          </a:prstGeom>
          <a:ln w="1905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150"/>
          <p:cNvSpPr/>
          <p:nvPr/>
        </p:nvSpPr>
        <p:spPr>
          <a:xfrm>
            <a:off x="6309359" y="621792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419088" y="6291072"/>
            <a:ext cx="251460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3  Drive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250" b="0">
                <a:solidFill>
                  <a:srgbClr val="1B1F1E"/>
                </a:solidFill>
                <a:latin typeface="Montserrat"/>
              </a:rPr>
              <a:t>slow, wait, side-step; guard watches 0.6 m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9006840" y="6830568"/>
            <a:ext cx="182879" cy="0"/>
          </a:xfrm>
          <a:prstGeom prst="line">
            <a:avLst/>
          </a:prstGeom>
          <a:ln w="1905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9189719" y="621792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299447" y="6291072"/>
            <a:ext cx="251460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4  Lift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250" b="0">
                <a:solidFill>
                  <a:srgbClr val="1B1F1E"/>
                </a:solidFill>
                <a:latin typeface="Montserrat"/>
              </a:rPr>
              <a:t>call it, ride up, switch floor map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11887200" y="6830568"/>
            <a:ext cx="182880" cy="0"/>
          </a:xfrm>
          <a:prstGeom prst="line">
            <a:avLst/>
          </a:prstGeom>
          <a:ln w="1905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/>
          <p:cNvSpPr/>
          <p:nvPr/>
        </p:nvSpPr>
        <p:spPr>
          <a:xfrm>
            <a:off x="12070080" y="621792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2179807" y="6291072"/>
            <a:ext cx="251460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5  Walk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250" b="0">
                <a:solidFill>
                  <a:srgbClr val="1B1F1E"/>
                </a:solidFill>
                <a:latin typeface="Montserrat"/>
              </a:rPr>
              <a:t>to Blood Bank, around people and groups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14767559" y="6830568"/>
            <a:ext cx="182880" cy="0"/>
          </a:xfrm>
          <a:prstGeom prst="line">
            <a:avLst/>
          </a:prstGeom>
          <a:ln w="1905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ounded Rectangle 159"/>
          <p:cNvSpPr/>
          <p:nvPr/>
        </p:nvSpPr>
        <p:spPr>
          <a:xfrm>
            <a:off x="14950440" y="621792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5060168" y="6291072"/>
            <a:ext cx="251460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6  Say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250" b="0">
                <a:solidFill>
                  <a:srgbClr val="1B1F1E"/>
                </a:solidFill>
                <a:latin typeface="Montserrat"/>
              </a:rPr>
              <a:t>“Aa gaye”; every step in the black box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48640" y="7680960"/>
            <a:ext cx="17190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STACK (ALL ON AN 8 GB M1 LAPTOP, NO CLOUD)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48640" y="80924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48640" y="8110727"/>
            <a:ext cx="26974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0F5C52"/>
                </a:solidFill>
                <a:latin typeface="Montserrat"/>
              </a:rPr>
              <a:t>Webots physics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3429000" y="80924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429000" y="8110727"/>
            <a:ext cx="26974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0F5C52"/>
                </a:solidFill>
                <a:latin typeface="Montserrat"/>
              </a:rPr>
              <a:t>Python 3.10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309359" y="80924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309359" y="8110727"/>
            <a:ext cx="26974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0F5C52"/>
                </a:solidFill>
                <a:latin typeface="Montserrat"/>
              </a:rPr>
              <a:t>YOLO11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9189719" y="80924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189719" y="8110727"/>
            <a:ext cx="26974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0F5C52"/>
                </a:solidFill>
                <a:latin typeface="Montserrat"/>
              </a:rPr>
              <a:t>YOLOE open-vocab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2070080" y="80924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2070080" y="8110727"/>
            <a:ext cx="26974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0F5C52"/>
                </a:solidFill>
                <a:latin typeface="Montserrat"/>
              </a:rPr>
              <a:t>ByteTrack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4950440" y="80924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4950440" y="8110727"/>
            <a:ext cx="26974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0F5C52"/>
                </a:solidFill>
                <a:latin typeface="Montserrat"/>
              </a:rPr>
              <a:t>CLIP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48640" y="859536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48640" y="8613648"/>
            <a:ext cx="26974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0F5C52"/>
                </a:solidFill>
                <a:latin typeface="Montserrat"/>
              </a:rPr>
              <a:t>Whisper v3-turbo (MLX)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429000" y="859536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429000" y="8613648"/>
            <a:ext cx="26974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0F5C52"/>
                </a:solidFill>
                <a:latin typeface="Montserrat"/>
              </a:rPr>
              <a:t>Qwen3.5-2B VLM (MLX)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309359" y="859536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309359" y="8613648"/>
            <a:ext cx="26974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0F5C52"/>
                </a:solidFill>
                <a:latin typeface="Montserrat"/>
              </a:rPr>
              <a:t>A* + social costs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9189719" y="859536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189719" y="8613648"/>
            <a:ext cx="26974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0F5C52"/>
                </a:solidFill>
                <a:latin typeface="Montserrat"/>
              </a:rPr>
              <a:t>MediaPipe Hands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2070080" y="859536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2070080" y="8613648"/>
            <a:ext cx="26974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0F5C52"/>
                </a:solidFill>
                <a:latin typeface="Montserrat"/>
              </a:rPr>
              <a:t>macOS Lekha TTS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48640" y="9144000"/>
            <a:ext cx="4114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B8550D"/>
                </a:solidFill>
                <a:latin typeface="Montserrat"/>
              </a:rPr>
              <a:t>0.10 m  </a:t>
            </a:r>
            <a:r>
              <a:rPr sz="1300" b="0">
                <a:solidFill>
                  <a:srgbClr val="555E5B"/>
                </a:solidFill>
                <a:latin typeface="Montserrat"/>
              </a:rPr>
              <a:t>median error placing people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846320" y="9144000"/>
            <a:ext cx="4114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B8550D"/>
                </a:solidFill>
                <a:latin typeface="Montserrat"/>
              </a:rPr>
              <a:t>9.5 ms  </a:t>
            </a:r>
            <a:r>
              <a:rPr sz="1300" b="0">
                <a:solidFill>
                  <a:srgbClr val="555E5B"/>
                </a:solidFill>
                <a:latin typeface="Montserrat"/>
              </a:rPr>
              <a:t>YOLO11n per frame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44000" y="9144000"/>
            <a:ext cx="4114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B8550D"/>
                </a:solidFill>
                <a:latin typeface="Montserrat"/>
              </a:rPr>
              <a:t>~5 ms  </a:t>
            </a:r>
            <a:r>
              <a:rPr sz="1300" b="0">
                <a:solidFill>
                  <a:srgbClr val="555E5B"/>
                </a:solidFill>
                <a:latin typeface="Montserrat"/>
              </a:rPr>
              <a:t>a plan, replanned twice a second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441680" y="9144000"/>
            <a:ext cx="4114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B8550D"/>
                </a:solidFill>
                <a:latin typeface="Montserrat"/>
              </a:rPr>
              <a:t>0.3 s  </a:t>
            </a:r>
            <a:r>
              <a:rPr sz="1300" b="0">
                <a:solidFill>
                  <a:srgbClr val="555E5B"/>
                </a:solidFill>
                <a:latin typeface="Montserrat"/>
              </a:rPr>
              <a:t>fall classified after it happened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PROTOTYPE: ONE RUN, TWO FLOORS, A LIFT, A FALL · 135 s ON ITS OWN CAMERA</a:t>
            </a:r>
            <a:endParaRPr/>
          </a:p>
        </p:txBody>
      </p:sp>
      <p:pic>
        <p:nvPicPr>
          <p:cNvPr id="125" name="Google Shape;125;p17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Picture 125" descr="cctv_004.00.jpg"/>
          <p:cNvPicPr>
            <a:picLocks noChangeAspect="1"/>
          </p:cNvPicPr>
          <p:nvPr/>
        </p:nvPicPr>
        <p:blipFill>
          <a:blip r:embed="rId4"/>
          <a:srcRect l="19" r="19"/>
          <a:stretch>
            <a:fillRect/>
          </a:stretch>
        </p:blipFill>
        <p:spPr>
          <a:xfrm>
            <a:off x="548640" y="2148840"/>
            <a:ext cx="2697480" cy="1517904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27" name="Rounded Rectangle 126"/>
          <p:cNvSpPr/>
          <p:nvPr/>
        </p:nvSpPr>
        <p:spPr>
          <a:xfrm>
            <a:off x="548640" y="21945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F5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48640" y="2212848"/>
            <a:ext cx="8229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4 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8640" y="3703320"/>
            <a:ext cx="26974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B1F1E"/>
                </a:solidFill>
                <a:latin typeface="Montserrat"/>
              </a:rPr>
              <a:t>Wet-floor board not on the map: goes around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3246120" y="2907792"/>
            <a:ext cx="182880" cy="0"/>
          </a:xfrm>
          <a:prstGeom prst="line">
            <a:avLst/>
          </a:prstGeom>
          <a:ln w="19050">
            <a:solidFill>
              <a:srgbClr val="0F5C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1" name="Picture 130" descr="cctv_014.02.jpg"/>
          <p:cNvPicPr>
            <a:picLocks noChangeAspect="1"/>
          </p:cNvPicPr>
          <p:nvPr/>
        </p:nvPicPr>
        <p:blipFill>
          <a:blip r:embed="rId5"/>
          <a:srcRect l="19" r="19"/>
          <a:stretch>
            <a:fillRect/>
          </a:stretch>
        </p:blipFill>
        <p:spPr>
          <a:xfrm>
            <a:off x="3429000" y="2148840"/>
            <a:ext cx="2697480" cy="1517904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32" name="Rounded Rectangle 131"/>
          <p:cNvSpPr/>
          <p:nvPr/>
        </p:nvSpPr>
        <p:spPr>
          <a:xfrm>
            <a:off x="3429000" y="21945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F5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29000" y="2212848"/>
            <a:ext cx="8229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14 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29000" y="3703320"/>
            <a:ext cx="26974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B1F1E"/>
                </a:solidFill>
                <a:latin typeface="Montserrat"/>
              </a:rPr>
              <a:t>Arrives at Pharmacy, beside the queue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6126480" y="2907792"/>
            <a:ext cx="182880" cy="0"/>
          </a:xfrm>
          <a:prstGeom prst="line">
            <a:avLst/>
          </a:prstGeom>
          <a:ln w="19050">
            <a:solidFill>
              <a:srgbClr val="0F5C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6" name="Picture 135" descr="cctv_035.01.jpg"/>
          <p:cNvPicPr>
            <a:picLocks noChangeAspect="1"/>
          </p:cNvPicPr>
          <p:nvPr/>
        </p:nvPicPr>
        <p:blipFill>
          <a:blip r:embed="rId6"/>
          <a:srcRect l="19" r="19"/>
          <a:stretch>
            <a:fillRect/>
          </a:stretch>
        </p:blipFill>
        <p:spPr>
          <a:xfrm>
            <a:off x="6309359" y="2148840"/>
            <a:ext cx="2697480" cy="1517904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37" name="Rounded Rectangle 136"/>
          <p:cNvSpPr/>
          <p:nvPr/>
        </p:nvSpPr>
        <p:spPr>
          <a:xfrm>
            <a:off x="6309359" y="21945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F5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309359" y="2212848"/>
            <a:ext cx="8229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35 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309359" y="3703320"/>
            <a:ext cx="26974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B1F1E"/>
                </a:solidFill>
                <a:latin typeface="Montserrat"/>
              </a:rPr>
              <a:t>A man falls: alert sent, Saathi stays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9006840" y="2907792"/>
            <a:ext cx="182879" cy="0"/>
          </a:xfrm>
          <a:prstGeom prst="line">
            <a:avLst/>
          </a:prstGeom>
          <a:ln w="19050">
            <a:solidFill>
              <a:srgbClr val="0F5C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1" name="Picture 140" descr="chase_051.01.jpg"/>
          <p:cNvPicPr>
            <a:picLocks noChangeAspect="1"/>
          </p:cNvPicPr>
          <p:nvPr/>
        </p:nvPicPr>
        <p:blipFill>
          <a:blip r:embed="rId7"/>
          <a:srcRect l="19" r="19"/>
          <a:stretch>
            <a:fillRect/>
          </a:stretch>
        </p:blipFill>
        <p:spPr>
          <a:xfrm>
            <a:off x="9189719" y="2148840"/>
            <a:ext cx="2697480" cy="1517904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42" name="Rounded Rectangle 141"/>
          <p:cNvSpPr/>
          <p:nvPr/>
        </p:nvSpPr>
        <p:spPr>
          <a:xfrm>
            <a:off x="9189719" y="21945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F5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189719" y="2212848"/>
            <a:ext cx="8229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53 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189719" y="3703320"/>
            <a:ext cx="26974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B1F1E"/>
                </a:solidFill>
                <a:latin typeface="Montserrat"/>
              </a:rPr>
              <a:t>Into the lift; doors close, cabin rises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11887200" y="2907792"/>
            <a:ext cx="182880" cy="0"/>
          </a:xfrm>
          <a:prstGeom prst="line">
            <a:avLst/>
          </a:prstGeom>
          <a:ln w="19050">
            <a:solidFill>
              <a:srgbClr val="0F5C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6" name="Picture 145" descr="cctv2_070.02.jpg"/>
          <p:cNvPicPr>
            <a:picLocks noChangeAspect="1"/>
          </p:cNvPicPr>
          <p:nvPr/>
        </p:nvPicPr>
        <p:blipFill>
          <a:blip r:embed="rId8"/>
          <a:srcRect l="19" r="19"/>
          <a:stretch>
            <a:fillRect/>
          </a:stretch>
        </p:blipFill>
        <p:spPr>
          <a:xfrm>
            <a:off x="12070080" y="2148840"/>
            <a:ext cx="2697480" cy="1517904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47" name="Rounded Rectangle 146"/>
          <p:cNvSpPr/>
          <p:nvPr/>
        </p:nvSpPr>
        <p:spPr>
          <a:xfrm>
            <a:off x="12070080" y="21945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F5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2070080" y="2212848"/>
            <a:ext cx="8229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62 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070080" y="3703320"/>
            <a:ext cx="26974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B1F1E"/>
                </a:solidFill>
                <a:latin typeface="Montserrat"/>
              </a:rPr>
              <a:t>First floor: Nurse Station, Wards, Blood Bank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14767559" y="2907792"/>
            <a:ext cx="182880" cy="0"/>
          </a:xfrm>
          <a:prstGeom prst="line">
            <a:avLst/>
          </a:prstGeom>
          <a:ln w="19050">
            <a:solidFill>
              <a:srgbClr val="0F5C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1" name="Picture 150" descr="cctv_135.01.jpg"/>
          <p:cNvPicPr>
            <a:picLocks noChangeAspect="1"/>
          </p:cNvPicPr>
          <p:nvPr/>
        </p:nvPicPr>
        <p:blipFill>
          <a:blip r:embed="rId9"/>
          <a:srcRect l="19" r="19"/>
          <a:stretch>
            <a:fillRect/>
          </a:stretch>
        </p:blipFill>
        <p:spPr>
          <a:xfrm>
            <a:off x="14950440" y="2148840"/>
            <a:ext cx="2697480" cy="1517904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52" name="Rounded Rectangle 151"/>
          <p:cNvSpPr/>
          <p:nvPr/>
        </p:nvSpPr>
        <p:spPr>
          <a:xfrm>
            <a:off x="14950440" y="21945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F5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4950440" y="2212848"/>
            <a:ext cx="8229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ontserrat"/>
              </a:rPr>
              <a:t>135 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4950440" y="3703320"/>
            <a:ext cx="26974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B1F1E"/>
                </a:solidFill>
                <a:latin typeface="Montserrat"/>
              </a:rPr>
              <a:t>Back down by lift: arrives at Lab</a:t>
            </a:r>
          </a:p>
        </p:txBody>
      </p:sp>
      <p:pic>
        <p:nvPicPr>
          <p:cNvPr id="155" name="Picture 154" descr="dashboard_006.0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656" y="4572000"/>
            <a:ext cx="7038848" cy="3959352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56" name="TextBox 155"/>
          <p:cNvSpPr txBox="1"/>
          <p:nvPr/>
        </p:nvSpPr>
        <p:spPr>
          <a:xfrm>
            <a:off x="548640" y="8595360"/>
            <a:ext cx="7040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E5B"/>
                </a:solidFill>
                <a:latin typeface="Montserrat"/>
              </a:rPr>
              <a:t>What Saathi works from: its camera with YOLO boxes and distances, depth, floor map, 360° LiDAR, its thinking log</a:t>
            </a:r>
          </a:p>
        </p:txBody>
      </p:sp>
      <p:pic>
        <p:nvPicPr>
          <p:cNvPr id="157" name="Picture 156" descr="lift_frame.jpg"/>
          <p:cNvPicPr>
            <a:picLocks noChangeAspect="1"/>
          </p:cNvPicPr>
          <p:nvPr/>
        </p:nvPicPr>
        <p:blipFill>
          <a:blip r:embed="rId11"/>
          <a:srcRect t="8519" b="8519"/>
          <a:stretch>
            <a:fillRect/>
          </a:stretch>
        </p:blipFill>
        <p:spPr>
          <a:xfrm>
            <a:off x="7818120" y="4572000"/>
            <a:ext cx="4114800" cy="192024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58" name="TextBox 157"/>
          <p:cNvSpPr txBox="1"/>
          <p:nvPr/>
        </p:nvSpPr>
        <p:spPr>
          <a:xfrm>
            <a:off x="7818120" y="6537959"/>
            <a:ext cx="41148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NEW · the lift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300" b="0">
                <a:solidFill>
                  <a:srgbClr val="555E5B"/>
                </a:solidFill>
                <a:latin typeface="Montserrat"/>
              </a:rPr>
              <a:t>doors, cabin, call button; the map switches floors</a:t>
            </a:r>
          </a:p>
        </p:txBody>
      </p:sp>
      <p:pic>
        <p:nvPicPr>
          <p:cNvPr id="159" name="Picture 158" descr="floor2_frame.jpg"/>
          <p:cNvPicPr>
            <a:picLocks noChangeAspect="1"/>
          </p:cNvPicPr>
          <p:nvPr/>
        </p:nvPicPr>
        <p:blipFill>
          <a:blip r:embed="rId12"/>
          <a:srcRect t="8519" b="8519"/>
          <a:stretch>
            <a:fillRect/>
          </a:stretch>
        </p:blipFill>
        <p:spPr>
          <a:xfrm>
            <a:off x="7818120" y="7223760"/>
            <a:ext cx="4114800" cy="192024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60" name="TextBox 159"/>
          <p:cNvSpPr txBox="1"/>
          <p:nvPr/>
        </p:nvSpPr>
        <p:spPr>
          <a:xfrm>
            <a:off x="7818120" y="9189720"/>
            <a:ext cx="41148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NEW · the first floor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300" b="0">
                <a:solidFill>
                  <a:srgbClr val="555E5B"/>
                </a:solidFill>
                <a:latin typeface="Montserrat"/>
              </a:rPr>
              <a:t>Blood Bank, ICU, OT, Wards, nurse station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2161520" y="4572000"/>
            <a:ext cx="5577840" cy="498348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2344400" y="4663440"/>
            <a:ext cx="5212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THIS RUN, MEASURED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2344400" y="5074920"/>
            <a:ext cx="2560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0F5C52"/>
                </a:solidFill>
                <a:latin typeface="Montserrat"/>
              </a:rPr>
              <a:t>0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1B1F1E"/>
                </a:solidFill>
                <a:latin typeface="Montserrat"/>
              </a:rPr>
              <a:t>near-misses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4996159" y="5074920"/>
            <a:ext cx="2560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0F5C52"/>
                </a:solidFill>
                <a:latin typeface="Montserrat"/>
              </a:rPr>
              <a:t>0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1B1F1E"/>
                </a:solidFill>
                <a:latin typeface="Montserrat"/>
              </a:rPr>
              <a:t>conversations cut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344400" y="6080760"/>
            <a:ext cx="2560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0F5C52"/>
                </a:solidFill>
                <a:latin typeface="Montserrat"/>
              </a:rPr>
              <a:t>0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1B1F1E"/>
                </a:solidFill>
                <a:latin typeface="Montserrat"/>
              </a:rPr>
              <a:t>unmapped obstacles hit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4996159" y="6080760"/>
            <a:ext cx="2560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0F5C52"/>
                </a:solidFill>
                <a:latin typeface="Montserrat"/>
              </a:rPr>
              <a:t>4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1B1F1E"/>
                </a:solidFill>
                <a:latin typeface="Montserrat"/>
              </a:rPr>
              <a:t>departments on 2 floors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2344400" y="7086600"/>
            <a:ext cx="2560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0F5C52"/>
                </a:solidFill>
                <a:latin typeface="Montserrat"/>
              </a:rPr>
              <a:t>1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1B1F1E"/>
                </a:solidFill>
                <a:latin typeface="Montserrat"/>
              </a:rPr>
              <a:t>fall handled on the way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4996159" y="7086600"/>
            <a:ext cx="2560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0F5C52"/>
                </a:solidFill>
                <a:latin typeface="Montserrat"/>
              </a:rPr>
              <a:t>135 s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1B1F1E"/>
                </a:solidFill>
                <a:latin typeface="Montserrat"/>
              </a:rPr>
              <a:t>entrance → Lab, all by itself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2344400" y="7973568"/>
            <a:ext cx="5212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B8550D"/>
                </a:solidFill>
                <a:latin typeface="Montserrat"/>
              </a:rPr>
              <a:t>NEW IN ROUND 2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2344400" y="832104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2344400" y="8339327"/>
            <a:ext cx="25603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0F5C52"/>
                </a:solidFill>
                <a:latin typeface="Montserrat"/>
              </a:rPr>
              <a:t>Lift + first floor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4996159" y="832104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4996159" y="8339327"/>
            <a:ext cx="25603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0F5C52"/>
                </a:solidFill>
                <a:latin typeface="Montserrat"/>
              </a:rPr>
              <a:t>9 departments by voice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2344400" y="8723376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2344400" y="8741663"/>
            <a:ext cx="25603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0F5C52"/>
                </a:solidFill>
                <a:latin typeface="Montserrat"/>
              </a:rPr>
              <a:t>Tour of departments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4996159" y="8723376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4996159" y="8741663"/>
            <a:ext cx="25603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0F5C52"/>
                </a:solidFill>
                <a:latin typeface="Montserrat"/>
              </a:rPr>
              <a:t>Fall: VLM second opinion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2344400" y="9125712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2344400" y="9144000"/>
            <a:ext cx="25603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0F5C52"/>
                </a:solidFill>
                <a:latin typeface="Montserrat"/>
              </a:rPr>
              <a:t>2 robots share memory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4996159" y="9125712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4996159" y="9144000"/>
            <a:ext cx="25603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0F5C52"/>
                </a:solidFill>
                <a:latin typeface="Montserrat"/>
              </a:rPr>
              <a:t>Open source on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RESULTS: 200 SEEDED CROWDS, SAATHI vs A NORMAL ROBOT</a:t>
            </a:r>
            <a:endParaRPr/>
          </a:p>
        </p:txBody>
      </p:sp>
      <p:pic>
        <p:nvPicPr>
          <p:cNvPr id="134" name="Google Shape;134;p18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Picture 134" descr="ab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73243"/>
            <a:ext cx="10607040" cy="3014632"/>
          </a:xfrm>
          <a:prstGeom prst="rect">
            <a:avLst/>
          </a:prstGeom>
        </p:spPr>
      </p:pic>
      <p:sp>
        <p:nvSpPr>
          <p:cNvPr id="136" name="Rounded Rectangle 135"/>
          <p:cNvSpPr/>
          <p:nvPr/>
        </p:nvSpPr>
        <p:spPr>
          <a:xfrm>
            <a:off x="548640" y="7040880"/>
            <a:ext cx="2560320" cy="169164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85800" y="7114032"/>
            <a:ext cx="2331720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0F5C52"/>
                </a:solidFill>
                <a:latin typeface="Montserrat"/>
              </a:rPr>
              <a:t>73% fewer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200" b="0">
                <a:solidFill>
                  <a:srgbClr val="1B1F1E"/>
                </a:solidFill>
                <a:latin typeface="Montserrat"/>
              </a:rPr>
              <a:t>near-misses: 3.79 → 1.00 per trip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246120" y="7040880"/>
            <a:ext cx="2560320" cy="169164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383280" y="7114032"/>
            <a:ext cx="2331720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0F5C52"/>
                </a:solidFill>
                <a:latin typeface="Montserrat"/>
              </a:rPr>
              <a:t>0 of 200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200" b="0">
                <a:solidFill>
                  <a:srgbClr val="1B1F1E"/>
                </a:solidFill>
                <a:latin typeface="Montserrat"/>
              </a:rPr>
              <a:t>trips cut through a conversation (normal robot: 26%)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943600" y="7040880"/>
            <a:ext cx="2560320" cy="169164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080760" y="7114032"/>
            <a:ext cx="2331720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0F5C52"/>
                </a:solidFill>
                <a:latin typeface="Montserrat"/>
              </a:rPr>
              <a:t>199/200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200" b="0">
                <a:solidFill>
                  <a:srgbClr val="1B1F1E"/>
                </a:solidFill>
                <a:latin typeface="Montserrat"/>
              </a:rPr>
              <a:t>trips reached the goal (normal robot: 185/200)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641080" y="7040880"/>
            <a:ext cx="2560320" cy="169164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778240" y="7114032"/>
            <a:ext cx="2331720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B8550D"/>
                </a:solidFill>
                <a:latin typeface="Montserrat"/>
              </a:rPr>
              <a:t>+5 s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200" b="0">
                <a:solidFill>
                  <a:srgbClr val="1B1F1E"/>
                </a:solidFill>
                <a:latin typeface="Montserrat"/>
              </a:rPr>
              <a:t>the price: median trip 19 s → 24 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48640" y="8823960"/>
            <a:ext cx="106070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E5B"/>
                </a:solidFill>
                <a:latin typeface="Montserrat"/>
              </a:rPr>
              <a:t>Each seed: an OPD crowd (8–12 walkers, two talking pairs, a pharmacy queue) and a trip from the entrance to a random department. Normal robot = same A* planner, people as static obstacles, fixed speed, same 0.6 m stop. Deterministic: tools/bench.py 200.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1521440" y="2103120"/>
            <a:ext cx="6217920" cy="411480"/>
          </a:xfrm>
          <a:prstGeom prst="roundRect">
            <a:avLst>
              <a:gd name="adj" fmla="val 15000"/>
            </a:avLst>
          </a:prstGeom>
          <a:solidFill>
            <a:srgbClr val="55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658600" y="2130551"/>
            <a:ext cx="59436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NORMAL ROBOT: cuts through the conversation</a:t>
            </a:r>
          </a:p>
        </p:txBody>
      </p:sp>
      <p:pic>
        <p:nvPicPr>
          <p:cNvPr id="147" name="Picture 146" descr="side_baseline_raw.jpg"/>
          <p:cNvPicPr>
            <a:picLocks noChangeAspect="1"/>
          </p:cNvPicPr>
          <p:nvPr/>
        </p:nvPicPr>
        <p:blipFill>
          <a:blip r:embed="rId5"/>
          <a:srcRect t="11438" b="11438"/>
          <a:stretch>
            <a:fillRect/>
          </a:stretch>
        </p:blipFill>
        <p:spPr>
          <a:xfrm>
            <a:off x="11521440" y="2606039"/>
            <a:ext cx="6217920" cy="269748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48" name="Rounded Rectangle 147"/>
          <p:cNvSpPr/>
          <p:nvPr/>
        </p:nvSpPr>
        <p:spPr>
          <a:xfrm>
            <a:off x="11521440" y="5486400"/>
            <a:ext cx="6217920" cy="411480"/>
          </a:xfrm>
          <a:prstGeom prst="roundRect">
            <a:avLst>
              <a:gd name="adj" fmla="val 15000"/>
            </a:avLst>
          </a:prstGeom>
          <a:solidFill>
            <a:srgbClr val="0F5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658600" y="5513832"/>
            <a:ext cx="59436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SAATHI: goes around it</a:t>
            </a:r>
          </a:p>
        </p:txBody>
      </p:sp>
      <p:pic>
        <p:nvPicPr>
          <p:cNvPr id="150" name="Picture 149" descr="side_saathi_raw.jpg"/>
          <p:cNvPicPr>
            <a:picLocks noChangeAspect="1"/>
          </p:cNvPicPr>
          <p:nvPr/>
        </p:nvPicPr>
        <p:blipFill>
          <a:blip r:embed="rId6"/>
          <a:srcRect t="11438" b="11438"/>
          <a:stretch>
            <a:fillRect/>
          </a:stretch>
        </p:blipFill>
        <p:spPr>
          <a:xfrm>
            <a:off x="11521440" y="5989320"/>
            <a:ext cx="6217920" cy="269748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11521440" y="8778240"/>
          <a:ext cx="62179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097280"/>
                <a:gridCol w="164592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Same crowd, in Webots</a:t>
                      </a:r>
                    </a:p>
                  </a:txBody>
                  <a:tcPr marL="73152" marR="73152" marT="18288" marB="18288">
                    <a:solidFill>
                      <a:srgbClr val="0F5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Normal</a:t>
                      </a:r>
                    </a:p>
                  </a:txBody>
                  <a:tcPr marL="73152" marR="73152" marT="18288" marB="18288">
                    <a:solidFill>
                      <a:srgbClr val="0F5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Saathi</a:t>
                      </a:r>
                    </a:p>
                  </a:txBody>
                  <a:tcPr marL="73152" marR="73152" marT="18288" marB="18288">
                    <a:solidFill>
                      <a:srgbClr val="0F5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Saathi, camera only</a:t>
                      </a:r>
                    </a:p>
                  </a:txBody>
                  <a:tcPr marL="73152" marR="73152" marT="18288" marB="18288">
                    <a:solidFill>
                      <a:srgbClr val="0F5C5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1E"/>
                          </a:solidFill>
                          <a:latin typeface="Montserrat"/>
                        </a:rPr>
                        <a:t>Near-misses</a:t>
                      </a:r>
                    </a:p>
                  </a:txBody>
                  <a:tcPr marL="73152" marR="73152" marT="18288" marB="18288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1E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marL="73152" marR="73152" marT="18288" marB="18288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1E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L="73152" marR="73152" marT="18288" marB="18288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1E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3152" marR="73152" marT="18288" marB="18288">
                    <a:solidFill>
                      <a:srgbClr val="F2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1E"/>
                          </a:solidFill>
                          <a:latin typeface="Montserrat"/>
                        </a:rPr>
                        <a:t>Cut a conversation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1E"/>
                          </a:solidFill>
                          <a:latin typeface="Montserrat"/>
                        </a:rPr>
                        <a:t>yes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1E"/>
                          </a:solidFill>
                          <a:latin typeface="Montserrat"/>
                        </a:rPr>
                        <a:t>no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1E"/>
                          </a:solidFill>
                          <a:latin typeface="Montserrat"/>
                        </a:rPr>
                        <a:t>no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1E"/>
                          </a:solidFill>
                          <a:latin typeface="Montserrat"/>
                        </a:rPr>
                        <a:t>Time to Radiology</a:t>
                      </a:r>
                    </a:p>
                  </a:txBody>
                  <a:tcPr marL="73152" marR="73152" marT="18288" marB="18288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1E"/>
                          </a:solidFill>
                          <a:latin typeface="Montserrat"/>
                        </a:rPr>
                        <a:t>22 s</a:t>
                      </a:r>
                    </a:p>
                  </a:txBody>
                  <a:tcPr marL="73152" marR="73152" marT="18288" marB="18288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1E"/>
                          </a:solidFill>
                          <a:latin typeface="Montserrat"/>
                        </a:rPr>
                        <a:t>25 s</a:t>
                      </a:r>
                    </a:p>
                  </a:txBody>
                  <a:tcPr marL="73152" marR="73152" marT="18288" marB="18288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1E"/>
                          </a:solidFill>
                          <a:latin typeface="Montserrat"/>
                        </a:rPr>
                        <a:t>29 s</a:t>
                      </a:r>
                    </a:p>
                  </a:txBody>
                  <a:tcPr marL="73152" marR="73152" marT="18288" marB="18288">
                    <a:solidFill>
                      <a:srgbClr val="F2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SAATHI PARIVAAR: ROBOTS SHARE ONE MEMORY OF PEOPLE (BUILT, MEASURED)</a:t>
            </a:r>
            <a:endParaRPr/>
          </a:p>
        </p:txBody>
      </p:sp>
      <p:pic>
        <p:nvPicPr>
          <p:cNvPr id="143" name="Google Shape;143;p19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Picture 143" descr="parivaar_frame.jpg"/>
          <p:cNvPicPr>
            <a:picLocks noChangeAspect="1"/>
          </p:cNvPicPr>
          <p:nvPr/>
        </p:nvPicPr>
        <p:blipFill>
          <a:blip r:embed="rId4"/>
          <a:srcRect t="113" b="113"/>
          <a:stretch>
            <a:fillRect/>
          </a:stretch>
        </p:blipFill>
        <p:spPr>
          <a:xfrm>
            <a:off x="548640" y="2103120"/>
            <a:ext cx="8961120" cy="502920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45" name="TextBox 144"/>
          <p:cNvSpPr txBox="1"/>
          <p:nvPr/>
        </p:nvSpPr>
        <p:spPr>
          <a:xfrm>
            <a:off x="548640" y="7178040"/>
            <a:ext cx="8961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E5B"/>
                </a:solidFill>
                <a:latin typeface="Montserrat"/>
              </a:rPr>
              <a:t>Two Saathis, one run: papa reports “laal t-shirt” at the help desk; Saathi-1 stays with him, Saathi-2 goes where the memory says the boy is now (orange glow).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48640" y="777240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58368" y="7845552"/>
            <a:ext cx="192024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0F5C52"/>
                </a:solidFill>
                <a:latin typeface="Montserrat"/>
              </a:rPr>
              <a:t>1  REMEMBER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00" b="0">
                <a:solidFill>
                  <a:srgbClr val="1B1F1E"/>
                </a:solidFill>
                <a:latin typeface="Montserrat"/>
              </a:rPr>
              <a:t>who each robot saw: where, when, height, clothes. No face.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788920" y="777240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898648" y="7845552"/>
            <a:ext cx="192024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0F5C52"/>
                </a:solidFill>
                <a:latin typeface="Montserrat"/>
              </a:rPr>
              <a:t>2  ASK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00" b="0">
                <a:solidFill>
                  <a:srgbClr val="1B1F1E"/>
                </a:solidFill>
                <a:latin typeface="Montserrat"/>
              </a:rPr>
              <a:t>papa's words search every robot's memory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029200" y="777240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138928" y="7845552"/>
            <a:ext cx="192024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0F5C52"/>
                </a:solidFill>
                <a:latin typeface="Montserrat"/>
              </a:rPr>
              <a:t>3  WHERE NOW?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00" b="0">
                <a:solidFill>
                  <a:srgbClr val="1B1F1E"/>
                </a:solidFill>
                <a:latin typeface="Montserrat"/>
              </a:rPr>
              <a:t>from his last motion; places already checked are ruled out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269480" y="777240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379208" y="7845552"/>
            <a:ext cx="192024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0F5C52"/>
                </a:solidFill>
                <a:latin typeface="Montserrat"/>
              </a:rPr>
              <a:t>4  SEARCH AS A TEAM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00" b="0">
                <a:solidFill>
                  <a:srgbClr val="1B1F1E"/>
                </a:solidFill>
                <a:latin typeface="Montserrat"/>
              </a:rPr>
              <a:t>robots split the places; one stays with papa</a:t>
            </a:r>
          </a:p>
        </p:txBody>
      </p:sp>
      <p:pic>
        <p:nvPicPr>
          <p:cNvPr id="154" name="Picture 153" descr="clip_chil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0029" y="2103120"/>
            <a:ext cx="7083380" cy="228600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55" name="TextBox 154"/>
          <p:cNvSpPr txBox="1"/>
          <p:nvPr/>
        </p:nvSpPr>
        <p:spPr>
          <a:xfrm>
            <a:off x="9784080" y="4407408"/>
            <a:ext cx="795527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E5B"/>
                </a:solidFill>
                <a:latin typeface="Montserrat"/>
              </a:rPr>
              <a:t>Search by description on Saathi's own camera: “small child in a red shirt”, top 8 of 96 people seen are all him. 24 of 24 right.</a:t>
            </a:r>
          </a:p>
        </p:txBody>
      </p:sp>
      <p:pic>
        <p:nvPicPr>
          <p:cNvPr id="156" name="Picture 155" descr="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2862" y="5029200"/>
            <a:ext cx="7837714" cy="2743200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9784080" y="7818120"/>
            <a:ext cx="38404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5C52"/>
                </a:solidFill>
                <a:latin typeface="Montserrat"/>
              </a:rPr>
              <a:t>2.1×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1B1F1E"/>
                </a:solidFill>
                <a:latin typeface="Montserrat"/>
              </a:rPr>
              <a:t>faster with memory, one robot (180 s → 84 s median)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3807440" y="7818120"/>
            <a:ext cx="38404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5C52"/>
                </a:solidFill>
                <a:latin typeface="Montserrat"/>
              </a:rPr>
              <a:t>86%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1B1F1E"/>
                </a:solidFill>
                <a:latin typeface="Montserrat"/>
              </a:rPr>
              <a:t>found within 3 min with three robots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784080" y="8778240"/>
            <a:ext cx="7955279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E5B"/>
                </a:solidFill>
                <a:latin typeface="Montserrat"/>
              </a:rPr>
              <a:t>200 lost-child seeds, 3 strategies, 1–3 robots (tools/bench_lost.py). Honest: with a team, team size matters more than strategy.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00" b="1">
                <a:solidFill>
                  <a:srgbClr val="1B1F1E"/>
                </a:solidFill>
                <a:latin typeface="Montserrat"/>
              </a:rPr>
              <a:t>Privacy: clothes, not faces · record deleted after the reunion · wiped daily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0"/>
          <p:cNvGrpSpPr/>
          <p:nvPr/>
        </p:nvGrpSpPr>
        <p:grpSpPr>
          <a:xfrm>
            <a:off x="4239144" y="5736501"/>
            <a:ext cx="8898075" cy="2077107"/>
            <a:chOff x="0" y="180975"/>
            <a:chExt cx="11864100" cy="2769476"/>
          </a:xfrm>
        </p:grpSpPr>
        <p:sp>
          <p:nvSpPr>
            <p:cNvPr id="149" name="Google Shape;149;p20"/>
            <p:cNvSpPr txBox="1"/>
            <p:nvPr/>
          </p:nvSpPr>
          <p:spPr>
            <a:xfrm>
              <a:off x="0" y="180975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0" y="2581151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20"/>
          <p:cNvGrpSpPr/>
          <p:nvPr/>
        </p:nvGrpSpPr>
        <p:grpSpPr>
          <a:xfrm>
            <a:off x="2554002" y="5409216"/>
            <a:ext cx="12268350" cy="1305429"/>
            <a:chOff x="0" y="19050"/>
            <a:chExt cx="16357800" cy="1740572"/>
          </a:xfrm>
        </p:grpSpPr>
        <p:sp>
          <p:nvSpPr>
            <p:cNvPr id="152" name="Google Shape;152;p20"/>
            <p:cNvSpPr txBox="1"/>
            <p:nvPr/>
          </p:nvSpPr>
          <p:spPr>
            <a:xfrm>
              <a:off x="0" y="19050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409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0"/>
            <p:cNvSpPr txBox="1"/>
            <p:nvPr/>
          </p:nvSpPr>
          <p:spPr>
            <a:xfrm>
              <a:off x="0" y="1390322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01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20"/>
          <p:cNvGrpSpPr/>
          <p:nvPr/>
        </p:nvGrpSpPr>
        <p:grpSpPr>
          <a:xfrm>
            <a:off x="1873714" y="4696929"/>
            <a:ext cx="13628822" cy="4488047"/>
            <a:chOff x="2753902" y="4797891"/>
            <a:chExt cx="13628822" cy="4488047"/>
          </a:xfrm>
        </p:grpSpPr>
        <p:sp>
          <p:nvSpPr>
            <p:cNvPr id="155" name="Google Shape;155;p20"/>
            <p:cNvSpPr txBox="1"/>
            <p:nvPr/>
          </p:nvSpPr>
          <p:spPr>
            <a:xfrm rot="-348051">
              <a:off x="2847493" y="5401630"/>
              <a:ext cx="12071717" cy="2462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5499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9088" u="none" cap="none" strike="noStrike">
                  <a:solidFill>
                    <a:srgbClr val="1D1D1F"/>
                  </a:solidFill>
                  <a:latin typeface="Caveat"/>
                  <a:ea typeface="Caveat"/>
                  <a:cs typeface="Caveat"/>
                  <a:sym typeface="Caveat"/>
                </a:rPr>
                <a:t>Thank</a:t>
              </a:r>
              <a:endParaRPr>
                <a:latin typeface="Caveat"/>
                <a:ea typeface="Caveat"/>
                <a:cs typeface="Caveat"/>
                <a:sym typeface="Caveat"/>
              </a:endParaRPr>
            </a:p>
          </p:txBody>
        </p:sp>
        <p:sp>
          <p:nvSpPr>
            <p:cNvPr id="156" name="Google Shape;156;p20"/>
            <p:cNvSpPr txBox="1"/>
            <p:nvPr/>
          </p:nvSpPr>
          <p:spPr>
            <a:xfrm>
              <a:off x="4695023" y="6732039"/>
              <a:ext cx="11687700" cy="25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5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0167" u="none" cap="none" strike="noStrike">
                  <a:solidFill>
                    <a:srgbClr val="1D1D1F"/>
                  </a:solidFill>
                  <a:latin typeface="Caveat"/>
                  <a:ea typeface="Caveat"/>
                  <a:cs typeface="Caveat"/>
                  <a:sym typeface="Caveat"/>
                </a:rPr>
                <a:t>you!</a:t>
              </a:r>
              <a:endParaRPr>
                <a:latin typeface="Caveat"/>
                <a:ea typeface="Caveat"/>
                <a:cs typeface="Caveat"/>
                <a:sym typeface="Caveat"/>
              </a:endParaRPr>
            </a:p>
          </p:txBody>
        </p:sp>
      </p:grpSp>
      <p:pic>
        <p:nvPicPr>
          <p:cNvPr id="157" name="Google Shape;157;p20" title="download (2).jpg"/>
          <p:cNvPicPr preferRelativeResize="0"/>
          <p:nvPr/>
        </p:nvPicPr>
        <p:blipFill rotWithShape="1">
          <a:blip r:embed="rId3">
            <a:alphaModFix/>
          </a:blip>
          <a:srcRect b="0" l="38928" r="16455" t="0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TextBox 159"/>
          <p:cNvSpPr txBox="1"/>
          <p:nvPr/>
        </p:nvSpPr>
        <p:spPr>
          <a:xfrm>
            <a:off x="13807440" y="4526280"/>
            <a:ext cx="3931920" cy="2560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>
                <a:solidFill>
                  <a:srgbClr val="0F5C52"/>
                </a:solidFill>
                <a:latin typeface="Montserrat"/>
              </a:rPr>
              <a:t>SAATHI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2000" b="1">
                <a:solidFill>
                  <a:srgbClr val="1B1F1E"/>
                </a:solidFill>
                <a:latin typeface="Montserrat"/>
              </a:rPr>
              <a:t>Raasta bhi, saath bhi.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500" b="0">
                <a:solidFill>
                  <a:srgbClr val="555E5B"/>
                </a:solidFill>
                <a:latin typeface="Montserrat"/>
              </a:rPr>
              <a:t>The way, and the company.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300" b="1">
                <a:solidFill>
                  <a:srgbClr val="0F5C52"/>
                </a:solidFill>
                <a:latin typeface="Montserrat"/>
              </a:rPr>
              <a:t>github.com/shaunmortal/saathi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300" b="0">
                <a:solidFill>
                  <a:srgbClr val="555E5B"/>
                </a:solidFill>
                <a:latin typeface="Montserrat"/>
              </a:rPr>
              <a:t>Team Glitch · Ayush Kumar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9" name="Google Shape;139;p19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PS-01 CHECKLIST WITH PROOF · WHAT IS REAL AND WHAT IS SIMPLIFIED</a:t>
            </a:r>
            <a:endParaRPr/>
          </a:p>
        </p:txBody>
      </p:sp>
      <p:pic>
        <p:nvPicPr>
          <p:cNvPr id="143" name="Google Shape;143;p19" title="pptn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548640" y="2103120"/>
          <a:ext cx="11521439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114800"/>
                <a:gridCol w="3749039"/>
              </a:tblGrid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ontserrat"/>
                        </a:rPr>
                        <a:t>PS-01 asks for</a:t>
                      </a:r>
                    </a:p>
                  </a:txBody>
                  <a:tcPr marL="91440" marR="91440" marT="36576" marB="36576">
                    <a:solidFill>
                      <a:srgbClr val="0F5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ontserrat"/>
                        </a:rPr>
                        <a:t>What Saathi does</a:t>
                      </a:r>
                    </a:p>
                  </a:txBody>
                  <a:tcPr marL="91440" marR="91440" marT="36576" marB="36576">
                    <a:solidFill>
                      <a:srgbClr val="0F5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ontserrat"/>
                        </a:rPr>
                        <a:t>Proof from our runs</a:t>
                      </a:r>
                    </a:p>
                  </a:txBody>
                  <a:tcPr marL="91440" marR="91440" marT="36576" marB="36576">
                    <a:solidFill>
                      <a:srgbClr val="0F5C5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5C52"/>
                          </a:solidFill>
                          <a:latin typeface="Montserrat"/>
                        </a:rPr>
                        <a:t>✓  Understand surroundings with AI vision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YOLO11 + depth + 360° LiDAR; people on a floor map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People placed within 0.10 m (median)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5C52"/>
                          </a:solidFill>
                          <a:latin typeface="Montserrat"/>
                        </a:rPr>
                        <a:t>✓  Identify relevant people and objects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Tracks people; YOLOE names objects by text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“cardboard box”, “yellow caution sign” named on sight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5C52"/>
                          </a:solidFill>
                          <a:latin typeface="Montserrat"/>
                        </a:rPr>
                        <a:t>✓  Navigate autonomously to an objective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A* on a crowd costmap; goals by name, by sight, on either floor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Dustbin found by camera in 12 s · Blood Bank via lift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5C52"/>
                          </a:solidFill>
                          <a:latin typeface="Montserrat"/>
                        </a:rPr>
                        <a:t>✓  Detect and avoid obstacles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Depth camera finds what the map lacks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Map-only robot hit 2; Saathi 0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5C52"/>
                          </a:solidFill>
                          <a:latin typeface="Montserrat"/>
                        </a:rPr>
                        <a:t>✓  Real-time decision making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30 Hz reflex loop, replans twice a second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200 crowds: 73% fewer near-misses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5C52"/>
                          </a:solidFill>
                          <a:latin typeface="Montserrat"/>
                        </a:rPr>
                        <a:t>✓  Object detection, image classification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YOLOE posture: “person lying on the floor”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Fall classified 0.3 s after it happened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5C52"/>
                          </a:solidFill>
                          <a:latin typeface="Montserrat"/>
                        </a:rPr>
                        <a:t>✓  Scene understanding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Conversations and queues from tracks; signs read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0 of 200 conversations cut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5C52"/>
                          </a:solidFill>
                          <a:latin typeface="Montserrat"/>
                        </a:rPr>
                        <a:t>✓  Vision-language models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Qwen3.5-2B (Apple MLX) describes the scene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Its description goes with the nurse alert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5C52"/>
                          </a:solidFill>
                          <a:latin typeface="Montserrat"/>
                        </a:rPr>
                        <a:t>✓  Motor control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Physics mecanum base, speed per wheel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Motion within 7% of the command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5C52"/>
                          </a:solidFill>
                          <a:latin typeface="Montserrat"/>
                        </a:rPr>
                        <a:t>✓  Real or simulated environment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Two-floor Webots hospital, Hindi + English signs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1E"/>
                          </a:solidFill>
                          <a:latin typeface="Montserrat"/>
                        </a:rPr>
                        <a:t>Deterministic: same seed, same numbers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5" name="Rounded Rectangle 144"/>
          <p:cNvSpPr/>
          <p:nvPr/>
        </p:nvSpPr>
        <p:spPr>
          <a:xfrm>
            <a:off x="12344400" y="210312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2527280" y="2194560"/>
            <a:ext cx="5029200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REAL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5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250" b="0">
                <a:solidFill>
                  <a:srgbClr val="1B1F1E"/>
                </a:solidFill>
                <a:latin typeface="Montserrat"/>
              </a:rPr>
              <a:t>The 3D render; camera, depth and LiDAR data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5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250" b="0">
                <a:solidFill>
                  <a:srgbClr val="1B1F1E"/>
                </a:solidFill>
                <a:latin typeface="Montserrat"/>
              </a:rPr>
              <a:t>YOLO11 / YOLOE / CLIP on the rendered frames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5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250" b="0">
                <a:solidFill>
                  <a:srgbClr val="1B1F1E"/>
                </a:solidFill>
                <a:latin typeface="Montserrat"/>
              </a:rPr>
              <a:t>The planner, the memory, the voice agent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5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250" b="0">
                <a:solidFill>
                  <a:srgbClr val="1B1F1E"/>
                </a:solidFill>
                <a:latin typeface="Montserrat"/>
              </a:rPr>
              <a:t>Physics wheels driven by speed commands; the lift cabin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2344400" y="55321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2527280" y="5623560"/>
            <a:ext cx="502920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B8550D"/>
                </a:solidFill>
                <a:latin typeface="Montserrat"/>
              </a:rPr>
              <a:t>SIMPLIFIED (WE SAY SO)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5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250" b="0">
                <a:solidFill>
                  <a:srgbClr val="1B1F1E"/>
                </a:solidFill>
                <a:latin typeface="Montserrat"/>
              </a:rPr>
              <a:t>People walk fixed paths and do not react to the robot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5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250" b="0">
                <a:solidFill>
                  <a:srgbClr val="1B1F1E"/>
                </a:solidFill>
                <a:latin typeface="Montserrat"/>
              </a:rPr>
              <a:t>Robot position from the simulator (LiDAR SLAM on the real rover)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5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250" b="0">
                <a:solidFill>
                  <a:srgbClr val="1B1F1E"/>
                </a:solidFill>
                <a:latin typeface="Montserrat"/>
              </a:rPr>
              <a:t>The nurse is simulated (takes over after 6 s)</a:t>
            </a:r>
          </a:p>
        </p:txBody>
      </p:sp>
      <p:pic>
        <p:nvPicPr>
          <p:cNvPr id="149" name="Picture 148" descr="rover_sim_closeup.jpg"/>
          <p:cNvPicPr>
            <a:picLocks noChangeAspect="1"/>
          </p:cNvPicPr>
          <p:nvPr/>
        </p:nvPicPr>
        <p:blipFill>
          <a:blip r:embed="rId3"/>
          <a:srcRect t="11088" b="11088"/>
          <a:stretch>
            <a:fillRect/>
          </a:stretch>
        </p:blipFill>
        <p:spPr>
          <a:xfrm>
            <a:off x="12344400" y="7863840"/>
            <a:ext cx="2377440" cy="169164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50" name="TextBox 149"/>
          <p:cNvSpPr txBox="1"/>
          <p:nvPr/>
        </p:nvSpPr>
        <p:spPr>
          <a:xfrm>
            <a:off x="14904720" y="7863840"/>
            <a:ext cx="283464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0F5C52"/>
                </a:solidFill>
                <a:latin typeface="Montserrat"/>
              </a:rPr>
              <a:t>SAME CODE, REAL ROVER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200" b="0">
                <a:solidFill>
                  <a:srgbClr val="1B1F1E"/>
                </a:solidFill>
                <a:latin typeface="Montserrat"/>
              </a:rPr>
              <a:t>The brain talks to sensors through one small interface: Webots today, Jetson Orin Nano on our rover next.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9" name="Google Shape;139;p19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PROGRESS: WHAT WAS BUILT WHEN, AND WHAT COMES NEXT</a:t>
            </a:r>
            <a:endParaRPr/>
          </a:p>
        </p:txBody>
      </p:sp>
      <p:pic>
        <p:nvPicPr>
          <p:cNvPr id="143" name="Google Shape;143;p19" title="pptn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Connector 143"/>
          <p:cNvCxnSpPr/>
          <p:nvPr/>
        </p:nvCxnSpPr>
        <p:spPr>
          <a:xfrm>
            <a:off x="822960" y="2606040"/>
            <a:ext cx="16642080" cy="0"/>
          </a:xfrm>
          <a:prstGeom prst="line">
            <a:avLst/>
          </a:prstGeom>
          <a:ln w="38100">
            <a:solidFill>
              <a:srgbClr val="D3DB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/>
          <p:cNvSpPr/>
          <p:nvPr/>
        </p:nvSpPr>
        <p:spPr>
          <a:xfrm>
            <a:off x="685800" y="2423160"/>
            <a:ext cx="365760" cy="365760"/>
          </a:xfrm>
          <a:prstGeom prst="ellipse">
            <a:avLst/>
          </a:prstGeom>
          <a:solidFill>
            <a:srgbClr val="B855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48640" y="2926080"/>
            <a:ext cx="269748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B8550D"/>
                </a:solidFill>
                <a:latin typeface="Montserrat"/>
              </a:rPr>
              <a:t>12 OCT  ✓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250" b="0">
                <a:solidFill>
                  <a:srgbClr val="1B1F1E"/>
                </a:solidFill>
                <a:latin typeface="Montserrat"/>
              </a:rPr>
              <a:t>Webots OPD hall, physics rover, crowd-aware planner, camera + LiDAR + depth, fall alert, VLM, black box, 200-crowd A/B</a:t>
            </a:r>
          </a:p>
        </p:txBody>
      </p:sp>
      <p:sp>
        <p:nvSpPr>
          <p:cNvPr id="147" name="Oval 146"/>
          <p:cNvSpPr/>
          <p:nvPr/>
        </p:nvSpPr>
        <p:spPr>
          <a:xfrm>
            <a:off x="3566160" y="2423160"/>
            <a:ext cx="365760" cy="365760"/>
          </a:xfrm>
          <a:prstGeom prst="ellipse">
            <a:avLst/>
          </a:prstGeom>
          <a:solidFill>
            <a:srgbClr val="B855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429000" y="2926080"/>
            <a:ext cx="269748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B8550D"/>
                </a:solidFill>
                <a:latin typeface="Montserrat"/>
              </a:rPr>
              <a:t>14 OCT  ✓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250" b="0">
                <a:solidFill>
                  <a:srgbClr val="1B1F1E"/>
                </a:solidFill>
                <a:latin typeface="Montserrat"/>
              </a:rPr>
              <a:t>Shared memory of people, lost-child search, 200-seed benchmark, offline Hindi voice</a:t>
            </a:r>
          </a:p>
        </p:txBody>
      </p:sp>
      <p:sp>
        <p:nvSpPr>
          <p:cNvPr id="149" name="Oval 148"/>
          <p:cNvSpPr/>
          <p:nvPr/>
        </p:nvSpPr>
        <p:spPr>
          <a:xfrm>
            <a:off x="6446520" y="2423160"/>
            <a:ext cx="365760" cy="365760"/>
          </a:xfrm>
          <a:prstGeom prst="ellipse">
            <a:avLst/>
          </a:prstGeom>
          <a:solidFill>
            <a:srgbClr val="B855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09359" y="2926080"/>
            <a:ext cx="269748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B8550D"/>
                </a:solidFill>
                <a:latin typeface="Montserrat"/>
              </a:rPr>
              <a:t>20 OCT  ✓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250" b="0">
                <a:solidFill>
                  <a:srgbClr val="1B1F1E"/>
                </a:solidFill>
                <a:latin typeface="Montserrat"/>
              </a:rPr>
              <a:t>Whole hospital: lift, first floor (Blood Bank, ICU, OT, Wards), tour of departments, GitHub public</a:t>
            </a:r>
          </a:p>
        </p:txBody>
      </p:sp>
      <p:sp>
        <p:nvSpPr>
          <p:cNvPr id="151" name="Oval 150"/>
          <p:cNvSpPr/>
          <p:nvPr/>
        </p:nvSpPr>
        <p:spPr>
          <a:xfrm>
            <a:off x="9326880" y="2423160"/>
            <a:ext cx="365760" cy="365760"/>
          </a:xfrm>
          <a:prstGeom prst="ellipse">
            <a:avLst/>
          </a:prstGeom>
          <a:solidFill>
            <a:srgbClr val="0F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89719" y="2926080"/>
            <a:ext cx="269748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24–27 OCT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250" b="0">
                <a:solidFill>
                  <a:srgbClr val="1B1F1E"/>
                </a:solidFill>
                <a:latin typeface="Montserrat"/>
              </a:rPr>
              <a:t>Demo video, LinkedIn pitch, Instagram reel, Round 2 submission</a:t>
            </a:r>
          </a:p>
        </p:txBody>
      </p:sp>
      <p:sp>
        <p:nvSpPr>
          <p:cNvPr id="153" name="Oval 152"/>
          <p:cNvSpPr/>
          <p:nvPr/>
        </p:nvSpPr>
        <p:spPr>
          <a:xfrm>
            <a:off x="12207240" y="2423160"/>
            <a:ext cx="365760" cy="365760"/>
          </a:xfrm>
          <a:prstGeom prst="ellipse">
            <a:avLst/>
          </a:prstGeom>
          <a:solidFill>
            <a:srgbClr val="0F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2070080" y="2926080"/>
            <a:ext cx="269748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20–21 NOV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250" b="0">
                <a:solidFill>
                  <a:srgbClr val="1B1F1E"/>
                </a:solidFill>
                <a:latin typeface="Montserrat"/>
              </a:rPr>
              <a:t>Manali finale: 3 robots live and fully offline on a laptop, held-out 200-seed test</a:t>
            </a:r>
          </a:p>
        </p:txBody>
      </p:sp>
      <p:sp>
        <p:nvSpPr>
          <p:cNvPr id="155" name="Oval 154"/>
          <p:cNvSpPr/>
          <p:nvPr/>
        </p:nvSpPr>
        <p:spPr>
          <a:xfrm>
            <a:off x="15087600" y="2423160"/>
            <a:ext cx="365760" cy="365760"/>
          </a:xfrm>
          <a:prstGeom prst="ellipse">
            <a:avLst/>
          </a:prstGeom>
          <a:solidFill>
            <a:srgbClr val="0F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4950440" y="2926080"/>
            <a:ext cx="269748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2027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250" b="0">
                <a:solidFill>
                  <a:srgbClr val="1B1F1E"/>
                </a:solidFill>
                <a:latin typeface="Montserrat"/>
              </a:rPr>
              <a:t>Real rover (Jetson Orin Nano, face screen, mic, e-stop); OPD pilot with consent and face blurring</a:t>
            </a:r>
          </a:p>
        </p:txBody>
      </p:sp>
      <p:pic>
        <p:nvPicPr>
          <p:cNvPr id="157" name="Picture 156" descr="team_r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31464"/>
            <a:ext cx="4937760" cy="4453071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58" name="TextBox 157"/>
          <p:cNvSpPr txBox="1"/>
          <p:nvPr/>
        </p:nvSpPr>
        <p:spPr>
          <a:xfrm>
            <a:off x="548640" y="9189720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E5B"/>
                </a:solidFill>
                <a:latin typeface="Montserrat"/>
              </a:rPr>
              <a:t>Our rover design: the body Saathi's brain will drive</a:t>
            </a:r>
          </a:p>
        </p:txBody>
      </p:sp>
      <p:pic>
        <p:nvPicPr>
          <p:cNvPr id="159" name="Picture 158" descr="floor2_frame.jpg"/>
          <p:cNvPicPr>
            <a:picLocks noChangeAspect="1"/>
          </p:cNvPicPr>
          <p:nvPr/>
        </p:nvPicPr>
        <p:blipFill>
          <a:blip r:embed="rId4"/>
          <a:srcRect l="17" r="17"/>
          <a:stretch>
            <a:fillRect/>
          </a:stretch>
        </p:blipFill>
        <p:spPr>
          <a:xfrm>
            <a:off x="5760720" y="4572000"/>
            <a:ext cx="6126480" cy="3447288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60" name="TextBox 159"/>
          <p:cNvSpPr txBox="1"/>
          <p:nvPr/>
        </p:nvSpPr>
        <p:spPr>
          <a:xfrm>
            <a:off x="5760720" y="8092440"/>
            <a:ext cx="61264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E5B"/>
                </a:solidFill>
                <a:latin typeface="Montserrat"/>
              </a:rPr>
              <a:t>The first floor, built this week: Blood Bank, Nurse Station, Wards, ICU, OT, stairs, lift</a:t>
            </a:r>
          </a:p>
        </p:txBody>
      </p:sp>
      <p:pic>
        <p:nvPicPr>
          <p:cNvPr id="161" name="Picture 160" descr="lift_frame.jpg"/>
          <p:cNvPicPr>
            <a:picLocks noChangeAspect="1"/>
          </p:cNvPicPr>
          <p:nvPr/>
        </p:nvPicPr>
        <p:blipFill>
          <a:blip r:embed="rId5"/>
          <a:srcRect t="222" b="222"/>
          <a:stretch>
            <a:fillRect/>
          </a:stretch>
        </p:blipFill>
        <p:spPr>
          <a:xfrm>
            <a:off x="5760720" y="8503920"/>
            <a:ext cx="1828800" cy="1024128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pic>
        <p:nvPicPr>
          <p:cNvPr id="162" name="Picture 161" descr="parivaar_frame.jpg"/>
          <p:cNvPicPr>
            <a:picLocks noChangeAspect="1"/>
          </p:cNvPicPr>
          <p:nvPr/>
        </p:nvPicPr>
        <p:blipFill>
          <a:blip r:embed="rId6"/>
          <a:srcRect t="222" b="222"/>
          <a:stretch>
            <a:fillRect/>
          </a:stretch>
        </p:blipFill>
        <p:spPr>
          <a:xfrm>
            <a:off x="7726679" y="8503920"/>
            <a:ext cx="1828800" cy="1024128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pic>
        <p:nvPicPr>
          <p:cNvPr id="163" name="Picture 162" descr="fall.jpg"/>
          <p:cNvPicPr>
            <a:picLocks noChangeAspect="1"/>
          </p:cNvPicPr>
          <p:nvPr/>
        </p:nvPicPr>
        <p:blipFill>
          <a:blip r:embed="rId7"/>
          <a:srcRect t="12667" b="12667"/>
          <a:stretch>
            <a:fillRect/>
          </a:stretch>
        </p:blipFill>
        <p:spPr>
          <a:xfrm>
            <a:off x="9692640" y="8503920"/>
            <a:ext cx="1828800" cy="1024128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64" name="Rounded Rectangle 163"/>
          <p:cNvSpPr/>
          <p:nvPr/>
        </p:nvSpPr>
        <p:spPr>
          <a:xfrm>
            <a:off x="12070080" y="4572000"/>
            <a:ext cx="5669280" cy="498348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2252960" y="4663440"/>
            <a:ext cx="5303520" cy="4800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OPEN SOURCE, REPRODUCIBLE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1B1F1E"/>
                </a:solidFill>
                <a:latin typeface="Montserrat"/>
              </a:rPr>
              <a:t>github.com/shaunmortal/saathi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250" b="0">
                <a:solidFill>
                  <a:srgbClr val="1B1F1E"/>
                </a:solidFill>
                <a:latin typeface="Montserrat"/>
              </a:rPr>
              <a:t>README: GIFs of every run, every number with the script that makes it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5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250" b="0">
                <a:solidFill>
                  <a:srgbClr val="1B1F1E"/>
                </a:solidFill>
                <a:latin typeface="Montserrat"/>
              </a:rPr>
              <a:t>tools/demo.sh: the whole-hospital run, live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5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250" b="0">
                <a:solidFill>
                  <a:srgbClr val="1B1F1E"/>
                </a:solidFill>
                <a:latin typeface="Montserrat"/>
              </a:rPr>
              <a:t>tools/bench.py 200: the A/B numbers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5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250" b="0">
                <a:solidFill>
                  <a:srgbClr val="1B1F1E"/>
                </a:solidFill>
                <a:latin typeface="Montserrat"/>
              </a:rPr>
              <a:t>tools/bench_lost.py 200: the lost-child numbers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5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250" b="0">
                <a:solidFill>
                  <a:srgbClr val="1B1F1E"/>
                </a:solidFill>
                <a:latin typeface="Montserrat"/>
              </a:rPr>
              <a:t>tools/voice.py: talk to it in Hindi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200" b="0">
                <a:solidFill>
                  <a:srgbClr val="555E5B"/>
                </a:solidFill>
                <a:latin typeface="Montserrat"/>
              </a:rPr>
              <a:t>Where it goes: 816 medical colleges, 714 district hospitals; Robot-as-a-Service about ₹15,000 a month per robot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