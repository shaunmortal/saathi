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4.jpg"/><Relationship Id="rId4" Type="http://schemas.openxmlformats.org/officeDocument/2006/relationships/image" Target="../media/image2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803274" y="4586497"/>
            <a:ext cx="11896807" cy="2831587"/>
            <a:chOff x="0" y="-114300"/>
            <a:chExt cx="15862410" cy="3775450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0" y="-114300"/>
              <a:ext cx="8473247" cy="13396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6055" u="none" cap="none" strike="noStrike">
                  <a:solidFill>
                    <a:srgbClr val="1D1D1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TEAM</a:t>
              </a:r>
              <a:endParaRPr/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4917498" y="1498356"/>
              <a:ext cx="10944912" cy="21627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400" u="none" cap="none" strike="noStrike">
                  <a:solidFill>
                    <a:srgbClr val="1D1D1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• TEAM NAME: Team Glitch</a:t>
              </a:r>
              <a:endParaRPr/>
            </a:p>
            <a:p>
              <a:pPr indent="0" lvl="0" marL="0" marR="0" rtl="0" algn="l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400" u="none" cap="none" strike="noStrike">
                  <a:solidFill>
                    <a:srgbClr val="1D1D1F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• MEMBERS &amp; ROLES:</a:t>
              </a:r>
              <a:endParaRPr/>
            </a:p>
          </p:txBody>
        </p:sp>
      </p:grpSp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3136392" y="6858000"/>
            <a:ext cx="63093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B1F1E"/>
                </a:solidFill>
                <a:latin typeface="Montserrat"/>
              </a:rPr>
              <a:t>Ayush Kumar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Lead: robot &amp; simulation, vision &amp; AI, shared memory, Hindi voice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</a:pPr>
            <a:r>
              <a:rPr sz="2000" b="1">
                <a:solidFill>
                  <a:srgbClr val="1B1F1E"/>
                </a:solidFill>
                <a:latin typeface="Montserrat"/>
              </a:rPr>
              <a:t>Soumya Raghuwanshi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Research: Indian hospital data and sources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</a:pPr>
            <a:r>
              <a:rPr sz="2000" b="1">
                <a:solidFill>
                  <a:srgbClr val="1B1F1E"/>
                </a:solidFill>
                <a:latin typeface="Montserrat"/>
              </a:rPr>
              <a:t>Simran Kumari Keshri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Testing and pitch: voice tests, demo video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2640" y="4343400"/>
            <a:ext cx="80467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1">
                <a:solidFill>
                  <a:srgbClr val="0F5C52"/>
                </a:solidFill>
                <a:latin typeface="Montserrat"/>
              </a:rPr>
              <a:t>SAATHI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92640" y="5257800"/>
            <a:ext cx="80467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B1F1E"/>
                </a:solidFill>
                <a:latin typeface="Montserrat"/>
              </a:rPr>
              <a:t>A robot guide that reads Indian hospital crowds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PS-01 · Vision-Based Autonomous Robot · shown in a Webots hospital simulation</a:t>
            </a:r>
          </a:p>
        </p:txBody>
      </p:sp>
      <p:pic>
        <p:nvPicPr>
          <p:cNvPr id="93" name="Picture 92" descr="front_022.02.jpg"/>
          <p:cNvPicPr>
            <a:picLocks noChangeAspect="1"/>
          </p:cNvPicPr>
          <p:nvPr/>
        </p:nvPicPr>
        <p:blipFill>
          <a:blip r:embed="rId6"/>
          <a:srcRect l="78" r="78"/>
          <a:stretch>
            <a:fillRect/>
          </a:stretch>
        </p:blipFill>
        <p:spPr>
          <a:xfrm>
            <a:off x="9692640" y="6400800"/>
            <a:ext cx="6492240" cy="365760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 &amp; THEME</a:t>
            </a:r>
            <a:endParaRPr/>
          </a:p>
        </p:txBody>
      </p:sp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TextBox 98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PROBLEM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900" b="0">
                <a:solidFill>
                  <a:srgbClr val="1B1F1E"/>
                </a:solidFill>
                <a:latin typeface="Montserrat"/>
              </a:rPr>
              <a:t>Big Indian OPDs are packed, confusing and signed in English. First-time, elderly and low-literacy patients get lost, and staff leave their work to show them the way.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8640" y="3383280"/>
            <a:ext cx="3538728" cy="1874519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31520" y="3474720"/>
            <a:ext cx="32004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B8550D"/>
                </a:solidFill>
                <a:latin typeface="Montserrat"/>
              </a:rPr>
              <a:t>14–15k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600" b="0">
                <a:solidFill>
                  <a:srgbClr val="1B1F1E"/>
                </a:solidFill>
                <a:latin typeface="Montserrat"/>
              </a:rPr>
              <a:t>OPD patients a day at AIIMS Delhi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270248" y="3383280"/>
            <a:ext cx="3538728" cy="1874519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53128" y="3474720"/>
            <a:ext cx="32004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B8550D"/>
                </a:solidFill>
                <a:latin typeface="Montserrat"/>
              </a:rPr>
              <a:t>69.6%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600" b="0">
                <a:solidFill>
                  <a:srgbClr val="1B1F1E"/>
                </a:solidFill>
                <a:latin typeface="Montserrat"/>
              </a:rPr>
              <a:t>of first-time OPD visitors needed a person to find their way (GMC Bhopal)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991856" y="3383280"/>
            <a:ext cx="3538728" cy="1874519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4736" y="3474720"/>
            <a:ext cx="32004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B8550D"/>
                </a:solidFill>
                <a:latin typeface="Montserrat"/>
              </a:rPr>
              <a:t>3 h+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600" b="0">
                <a:solidFill>
                  <a:srgbClr val="1B1F1E"/>
                </a:solidFill>
                <a:latin typeface="Montserrat"/>
              </a:rPr>
              <a:t>total OPD wait for 58% of 400 patients (RIMS Ranchi, 2026)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8640" y="5440680"/>
            <a:ext cx="109728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IMPACT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900" b="0">
                <a:solidFill>
                  <a:srgbClr val="1B1F1E"/>
                </a:solidFill>
                <a:latin typeface="Montserrat"/>
              </a:rPr>
              <a:t>Hours lost and appointments missed. Help desks and nurses pulled away from care. A fall in a packed hall is noticed late. And today's robot planners either freeze in dense crowds or cut straight through people.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" y="7086600"/>
            <a:ext cx="1097280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THEME ALIGNMENT · PS-01 VISION-BASED AUTONOMOUS ROBOT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8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800" b="0">
                <a:solidFill>
                  <a:srgbClr val="1B1F1E"/>
                </a:solidFill>
                <a:latin typeface="Montserrat"/>
              </a:rPr>
              <a:t>AI vision finds and tracks people and objects (YOLO11 + depth camera)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8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800" b="0">
                <a:solidFill>
                  <a:srgbClr val="1B1F1E"/>
                </a:solidFill>
                <a:latin typeface="Montserrat"/>
              </a:rPr>
              <a:t>Drives itself to a goal (any department) while avoiding obstacles and people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8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800" b="0">
                <a:solidFill>
                  <a:srgbClr val="1B1F1E"/>
                </a:solidFill>
                <a:latin typeface="Montserrat"/>
              </a:rPr>
              <a:t>Decides in real time: slow down, give way, side-step, stop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8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800" b="0">
                <a:solidFill>
                  <a:srgbClr val="1B1F1E"/>
                </a:solidFill>
                <a:latin typeface="Montserrat"/>
              </a:rPr>
              <a:t>Shown in a realistic simulated hospital (Webots), which PS-01 allows</a:t>
            </a:r>
          </a:p>
        </p:txBody>
      </p:sp>
      <p:pic>
        <p:nvPicPr>
          <p:cNvPr id="108" name="Picture 107" descr="cctv_004.00.jpg"/>
          <p:cNvPicPr>
            <a:picLocks noChangeAspect="1"/>
          </p:cNvPicPr>
          <p:nvPr/>
        </p:nvPicPr>
        <p:blipFill>
          <a:blip r:embed="rId4"/>
          <a:srcRect l="9091" r="9091"/>
          <a:stretch>
            <a:fillRect/>
          </a:stretch>
        </p:blipFill>
        <p:spPr>
          <a:xfrm>
            <a:off x="11887200" y="2240280"/>
            <a:ext cx="5852160" cy="402336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11887200" y="6327648"/>
            <a:ext cx="58521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Our simulated OPD hall in Webots: Hindi + English signs, token display, pharmacy queue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1887200" y="7178040"/>
            <a:ext cx="5852160" cy="233172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2115800" y="7296912"/>
            <a:ext cx="5394960" cy="2148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THE GAP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700" b="0">
                <a:solidFill>
                  <a:srgbClr val="1B1F1E"/>
                </a:solidFill>
                <a:latin typeface="Montserrat"/>
              </a:rPr>
              <a:t>Our 2024–26 search found no wayfinding robot working in an Indian OPD. Guide robots already work in airports abroad (SPENCER at Amsterdam Schiphol); Indian OPD crowds are denser.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" y="9710928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Sources: AIIMS OPD load: UNI and Free Press Journal, Sep 2026 · GMC Bhopal: IJCMPH 2026 (336 first-time visitors) · RIMS Ranchi: Cureus, 20 Sep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SOLUTION</a:t>
            </a:r>
            <a:endParaRPr/>
          </a:p>
        </p:txBody>
      </p:sp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548640" y="2148840"/>
            <a:ext cx="11064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B1F1E"/>
                </a:solidFill>
                <a:latin typeface="Montserrat"/>
              </a:rPr>
              <a:t>Saathi is an autonomous guide robot for hospital OPDs. </a:t>
            </a:r>
            <a:r>
              <a:rPr sz="2000" b="0">
                <a:solidFill>
                  <a:srgbClr val="1B1F1E"/>
                </a:solidFill>
                <a:latin typeface="Montserrat"/>
              </a:rPr>
              <a:t>Say “Mujhe X-ray karwana hai” and it walks you to Radiology at your pace, reading the crowd with its camera, and it can explain every move.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3337560"/>
            <a:ext cx="10972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KEY FEATURES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48640" y="3749039"/>
            <a:ext cx="3538728" cy="1709928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13232" y="3858768"/>
            <a:ext cx="320040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Talks like a person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50" b="0">
                <a:solidFill>
                  <a:srgbClr val="1B1F1E"/>
                </a:solidFill>
                <a:latin typeface="Montserrat"/>
              </a:rPr>
              <a:t>Hindi, Hinglish or English. Asks when unsure: “Kaunsa red shirt?”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270248" y="3749039"/>
            <a:ext cx="3538728" cy="1709928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434840" y="3858768"/>
            <a:ext cx="320040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Reads the crowd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50" b="0">
                <a:solidFill>
                  <a:srgbClr val="1B1F1E"/>
                </a:solidFill>
                <a:latin typeface="Montserrat"/>
              </a:rPr>
              <a:t>Predicts where each person will be in 2 s. Never cuts through a conversation; wheelchairs go first.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91856" y="3749039"/>
            <a:ext cx="3538728" cy="1709928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156448" y="3858768"/>
            <a:ext cx="320040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Side-steps, keeps left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50" b="0">
                <a:solidFill>
                  <a:srgbClr val="1B1F1E"/>
                </a:solidFill>
                <a:latin typeface="Montserrat"/>
              </a:rPr>
              <a:t>Mecanum wheels slide it aside instead of stopping dead in a busy corridor.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48640" y="5596127"/>
            <a:ext cx="3538728" cy="1709928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13232" y="5705855"/>
            <a:ext cx="320040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Finds things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50" b="0">
                <a:solidFill>
                  <a:srgbClr val="1B1F1E"/>
                </a:solidFill>
                <a:latin typeface="Montserrat"/>
              </a:rPr>
              <a:t>“Dustbin dhoondo”: open-vocabulary detection finds it by name, and Saathi drives there.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270248" y="5596127"/>
            <a:ext cx="3538728" cy="1709928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434840" y="5705855"/>
            <a:ext cx="320040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Watches out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50" b="0">
                <a:solidFill>
                  <a:srgbClr val="1B1F1E"/>
                </a:solidFill>
                <a:latin typeface="Montserrat"/>
              </a:rPr>
              <a:t>Spots a fall, alerts the nurse station and stays with the patient.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991856" y="5596127"/>
            <a:ext cx="3538728" cy="1709928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56448" y="5705855"/>
            <a:ext cx="320040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Safe by design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50" b="0">
                <a:solidFill>
                  <a:srgbClr val="1B1F1E"/>
                </a:solidFill>
                <a:latin typeface="Montserrat"/>
              </a:rPr>
              <a:t>Hard stop under 0.6 m, and a fist gesture stops it. The AI cannot override either.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48640" y="7589520"/>
            <a:ext cx="11036808" cy="1965960"/>
          </a:xfrm>
          <a:prstGeom prst="roundRect">
            <a:avLst>
              <a:gd name="adj" fmla="val 6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7240" y="7699248"/>
            <a:ext cx="10607040" cy="1783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DDEEE9"/>
                </a:solidFill>
                <a:latin typeface="Montserrat"/>
              </a:rPr>
              <a:t>UNIQUE VALUE: EXPLAINABLE, TESTED, BUILT FOR INDIAN CROWDS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700" b="0">
                <a:solidFill>
                  <a:srgbClr val="FFFFFF"/>
                </a:solidFill>
                <a:latin typeface="Montserrat"/>
              </a:rPr>
              <a:t>A black box records every decision with its camera frame and reason, so “Tum ruke kyun?” gets an answer with proof. In 200 seeded crowds Saathi had 73% fewer near-misses than a normal robot and never cut through a conversation.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DDEEE9"/>
                </a:solidFill>
                <a:latin typeface="Montserrat"/>
              </a:rPr>
              <a:t>Next: Saathi Parivaar. Robots that share one memory of people find a lost child where he is now, not where he was seen.</a:t>
            </a:r>
          </a:p>
        </p:txBody>
      </p:sp>
      <p:pic>
        <p:nvPicPr>
          <p:cNvPr id="124" name="Picture 123" descr="robot_cam_169.jpg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11887200" y="2240280"/>
            <a:ext cx="5852160" cy="32918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25" name="TextBox 124"/>
          <p:cNvSpPr txBox="1"/>
          <p:nvPr/>
        </p:nvSpPr>
        <p:spPr>
          <a:xfrm>
            <a:off x="11887200" y="5577840"/>
            <a:ext cx="58521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What Saathi sees: YOLO11s boxes, track IDs and distance from its depth camera</a:t>
            </a:r>
          </a:p>
        </p:txBody>
      </p:sp>
      <p:pic>
        <p:nvPicPr>
          <p:cNvPr id="126" name="Picture 125" descr="chase_012.00.jpg"/>
          <p:cNvPicPr>
            <a:picLocks noChangeAspect="1"/>
          </p:cNvPicPr>
          <p:nvPr/>
        </p:nvPicPr>
        <p:blipFill>
          <a:blip r:embed="rId5"/>
          <a:srcRect t="2778" b="2778"/>
          <a:stretch>
            <a:fillRect/>
          </a:stretch>
        </p:blipFill>
        <p:spPr>
          <a:xfrm>
            <a:off x="11887200" y="6172200"/>
            <a:ext cx="5852160" cy="310896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27" name="TextBox 126"/>
          <p:cNvSpPr txBox="1"/>
          <p:nvPr/>
        </p:nvSpPr>
        <p:spPr>
          <a:xfrm>
            <a:off x="11887200" y="9326880"/>
            <a:ext cx="5852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Moving through the OPD crowd (Webots simulation)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ARCHITECTURE</a:t>
            </a:r>
            <a:endParaRPr/>
          </a:p>
        </p:txBody>
      </p:sp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Rounded Rectangle 116"/>
          <p:cNvSpPr/>
          <p:nvPr/>
        </p:nvSpPr>
        <p:spPr>
          <a:xfrm>
            <a:off x="548640" y="2194560"/>
            <a:ext cx="3017520" cy="15087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2304288"/>
            <a:ext cx="2688336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SENSORS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Stereo RGB camera · depth camera · 360° LiDAR · IMU · ultrasonic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114800" y="2194560"/>
            <a:ext cx="5120640" cy="150876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279392" y="2304288"/>
            <a:ext cx="4791455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REFLEX BRAIN · 30 Hz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YOLO11 + depth + LiDAR → people with speed; depth finds what the map lacks · A* on a crowd costmap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784080" y="2194560"/>
            <a:ext cx="3291840" cy="1508760"/>
          </a:xfrm>
          <a:prstGeom prst="roundRect">
            <a:avLst>
              <a:gd name="adj" fmla="val 6000"/>
            </a:avLst>
          </a:prstGeom>
          <a:solidFill>
            <a:srgbClr val="FBECE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948672" y="2304288"/>
            <a:ext cx="2962656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50D"/>
                </a:solidFill>
                <a:latin typeface="Montserrat"/>
              </a:rPr>
              <a:t>SAFETY GUARD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Runs on LiDAR, not the AI: stops under 0.6 m. A fist gesture stops it.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624560" y="2194560"/>
            <a:ext cx="4114800" cy="15087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789152" y="2304288"/>
            <a:ext cx="3785615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MOTOR CONTROL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Body velocity → four mecanum wheel speeds (inverse kinematics)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8640" y="4343400"/>
            <a:ext cx="3017520" cy="15087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3232" y="4453128"/>
            <a:ext cx="2688336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YOU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Voice (Hindi speech-to-text) · typing · hand gesture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14800" y="4343400"/>
            <a:ext cx="5120640" cy="150876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79392" y="4453128"/>
            <a:ext cx="4791455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THINKING BRAIN · LLM + VLM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LLM talks Hinglish and plans; a small VLM (Qwen3.5-2B) describes scenes and reads signs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9784080" y="4343400"/>
            <a:ext cx="3291840" cy="15087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948672" y="4453128"/>
            <a:ext cx="2962656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BLACK BOX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Every decision: camera frame + reason. Answers “why?”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3624560" y="4343400"/>
            <a:ext cx="4114800" cy="15087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3789152" y="4453128"/>
            <a:ext cx="3785615" cy="12893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RUNS 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Today: an 8 GB M1 MacBook Air. Robot: Jetson Orin Nano (planned)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3566160" y="2948939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9235440" y="2948939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3075920" y="2948939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566160" y="509778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9235440" y="5097780"/>
            <a:ext cx="548640" cy="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6035040" y="3703320"/>
            <a:ext cx="0" cy="64008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315200" y="3703320"/>
            <a:ext cx="0" cy="64008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6108192" y="3813048"/>
            <a:ext cx="1188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goals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88352" y="3813048"/>
            <a:ext cx="1188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events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9235440" y="3566160"/>
            <a:ext cx="1188720" cy="777240"/>
          </a:xfrm>
          <a:prstGeom prst="line">
            <a:avLst/>
          </a:prstGeom>
          <a:ln w="25400">
            <a:solidFill>
              <a:srgbClr val="555E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48640" y="6172200"/>
            <a:ext cx="5577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TECH STACK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Webots R2025a (physics, mecanum wheels) · Python 3.10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YOLO11 + YOLOE open-vocabulary · camera + LiDAR tracker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Qwen3.5-2B vision-language model on Apple MLX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LLM agent: Claude API, small local model offline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whisper.cpp (Hindi speech) · Hindi text-to-speech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MediaPipe Hands for the gesture stop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327648" y="6172200"/>
            <a:ext cx="5577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DATA FLOW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Camera + depth → people with ID and distance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Crowd map with each person's next 2 seconds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Planner picks path and speed (groups, wheelchairs, keep-left)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Safety guard checks, then the wheels move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Every decision → black box → the agent can explain it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2106656" y="6172200"/>
            <a:ext cx="5577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APIS + MEASURED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API: Claude for conversation only; offline phrasebook without network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People placed within 0.10 m (median) by camera + LiDAR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Planner: about 5 ms a plan, replans twice a second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YOLO11n 9.5 ms a frame on our 8 GB M1 laptop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Fall classified 0.3 s after it happened · VLM about 3 s an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MARKET RESEARCH/ANALYSIS</a:t>
            </a:r>
            <a:endParaRPr/>
          </a:p>
        </p:txBody>
      </p:sp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Rounded Rectangle 125"/>
          <p:cNvSpPr/>
          <p:nvPr/>
        </p:nvSpPr>
        <p:spPr>
          <a:xfrm>
            <a:off x="548640" y="2194560"/>
            <a:ext cx="8503920" cy="347472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7240" y="2304288"/>
            <a:ext cx="804672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TARGET USERS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Patients: elderly, first-time, low-literacy and non-English-speaking visitors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Hospitals: government medical colleges, district hospitals, AIIMS-type institutes, large private chains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Staff: help desks and nurses answer fewer “X-ray kahan hai?” questions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235440" y="2194560"/>
            <a:ext cx="8503920" cy="347472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464040" y="2304288"/>
            <a:ext cx="8046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MARKET SIZE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64040" y="2697480"/>
            <a:ext cx="2606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816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B1F1E"/>
                </a:solidFill>
                <a:latin typeface="Montserrat"/>
              </a:rPr>
              <a:t>medical colleges (2025–26)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161520" y="2697480"/>
            <a:ext cx="2606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714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B1F1E"/>
                </a:solidFill>
                <a:latin typeface="Montserrat"/>
              </a:rPr>
              <a:t>district hospitals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59000" y="2697480"/>
            <a:ext cx="26060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B8550D"/>
                </a:solidFill>
                <a:latin typeface="Montserrat"/>
              </a:rPr>
              <a:t>1,340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B1F1E"/>
                </a:solidFill>
                <a:latin typeface="Montserrat"/>
              </a:rPr>
              <a:t>sub-divisional hospitals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464040" y="4023360"/>
            <a:ext cx="804672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B1F1E"/>
                </a:solidFill>
                <a:latin typeface="Montserrat"/>
              </a:rPr>
              <a:t>India medical-robot market: </a:t>
            </a:r>
            <a:r>
              <a:rPr sz="1600" b="0">
                <a:solidFill>
                  <a:srgbClr val="1B1F1E"/>
                </a:solidFill>
                <a:latin typeface="Montserrat"/>
              </a:rPr>
              <a:t>USD 191 M (2024) → 450 M (2029), MarketsandMarkets; USD 1.32 B (2024) → 8.12 B (2033) under IMARC's broader definition. Guide robots are a new slice of it.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48640" y="5852160"/>
            <a:ext cx="8503920" cy="3657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77240" y="5961888"/>
            <a:ext cx="8046720" cy="3474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POTENTIAL REVENUE MODEL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Robot-as-a-Service: about ₹15,000 a month per robot, with maintenance and updates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Sale + annual maintenance contract for large hospitals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Licence the Saathi brain to robot makers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Crowd-flow analytics for hospital admins (busy hours, where patients get lost)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Pilots funded through CSR and the National Health Mission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235440" y="5852160"/>
            <a:ext cx="8503920" cy="36576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464040" y="5961888"/>
            <a:ext cx="8046720" cy="3474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EXPECTED GROWTH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Pilot in one OPD → state rollout (NHM / CSR) → private chains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Beyond hospitals: railway stations, airports, pilgrimage sites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The medical-robot market is forecast to grow 18.7–20.6% a year (reports above)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Every robot's black box adds data that makes the next one smarter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48640" y="9710928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Sources: Health Dynamics of India 2022-23 (MoHFW, data as of 31 Mar 2023) · NMC approvals 2025-26 (The Tribune) · MarketsandMarkets and IMARC, India medical robots market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FUTURE SCOPE</a:t>
            </a:r>
            <a:endParaRPr/>
          </a:p>
        </p:txBody>
      </p:sp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5" name="Connector 134"/>
          <p:cNvCxnSpPr/>
          <p:nvPr/>
        </p:nvCxnSpPr>
        <p:spPr>
          <a:xfrm>
            <a:off x="822960" y="2788920"/>
            <a:ext cx="16642080" cy="0"/>
          </a:xfrm>
          <a:prstGeom prst="line">
            <a:avLst/>
          </a:prstGeom>
          <a:ln w="38100">
            <a:solidFill>
              <a:srgbClr val="D3DB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B855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8640" y="3200400"/>
            <a:ext cx="329184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B8550D"/>
                </a:solidFill>
                <a:latin typeface="Montserrat"/>
              </a:rPr>
              <a:t>BUILT · OCT 2026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700" b="0">
                <a:solidFill>
                  <a:srgbClr val="1B1F1E"/>
                </a:solidFill>
                <a:latin typeface="Montserrat"/>
              </a:rPr>
              <a:t>Physics rover in a Webots OPD; crowd-aware planner; camera + LiDAR + depth; fall alert; VLM; A/B on 200 crowds</a:t>
            </a:r>
          </a:p>
        </p:txBody>
      </p:sp>
      <p:sp>
        <p:nvSpPr>
          <p:cNvPr id="138" name="Oval 137"/>
          <p:cNvSpPr/>
          <p:nvPr/>
        </p:nvSpPr>
        <p:spPr>
          <a:xfrm>
            <a:off x="4160520" y="260604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023359" y="3200400"/>
            <a:ext cx="329184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BY 24 OCT 2026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700" b="0">
                <a:solidFill>
                  <a:srgbClr val="1B1F1E"/>
                </a:solidFill>
                <a:latin typeface="Montserrat"/>
              </a:rPr>
              <a:t>Saathi Parivaar with 2 robots, Hindi voice agent, walks at the patient's pace, gesture stop, demo video</a:t>
            </a:r>
          </a:p>
        </p:txBody>
      </p:sp>
      <p:sp>
        <p:nvSpPr>
          <p:cNvPr id="140" name="Oval 139"/>
          <p:cNvSpPr/>
          <p:nvPr/>
        </p:nvSpPr>
        <p:spPr>
          <a:xfrm>
            <a:off x="7635240" y="260604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8079" y="3200400"/>
            <a:ext cx="329184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20–21 NOV 2026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700" b="0">
                <a:solidFill>
                  <a:srgbClr val="1B1F1E"/>
                </a:solidFill>
                <a:latin typeface="Montserrat"/>
              </a:rPr>
              <a:t>Manali finale: Saathi Parivaar with 3 robots and its 200-seed test, live and fully offline on a laptop</a:t>
            </a:r>
          </a:p>
        </p:txBody>
      </p:sp>
      <p:sp>
        <p:nvSpPr>
          <p:cNvPr id="142" name="Oval 141"/>
          <p:cNvSpPr/>
          <p:nvPr/>
        </p:nvSpPr>
        <p:spPr>
          <a:xfrm>
            <a:off x="11109959" y="260604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972799" y="3200400"/>
            <a:ext cx="329184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2027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700" b="0">
                <a:solidFill>
                  <a:srgbClr val="1B1F1E"/>
                </a:solidFill>
                <a:latin typeface="Montserrat"/>
              </a:rPr>
              <a:t>Build the real rover: Jetson Orin Nano, team design, face screen, mic, speaker, e-stop. Pilot in one OPD with consent and face blurring</a:t>
            </a:r>
          </a:p>
        </p:txBody>
      </p:sp>
      <p:sp>
        <p:nvSpPr>
          <p:cNvPr id="144" name="Oval 143"/>
          <p:cNvSpPr/>
          <p:nvPr/>
        </p:nvSpPr>
        <p:spPr>
          <a:xfrm>
            <a:off x="14584680" y="2606040"/>
            <a:ext cx="365760" cy="365760"/>
          </a:xfrm>
          <a:prstGeom prst="ellipse">
            <a:avLst/>
          </a:prstGeom>
          <a:solidFill>
            <a:srgbClr val="0F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4447519" y="3200400"/>
            <a:ext cx="329184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0F5C52"/>
                </a:solidFill>
                <a:latin typeface="Montserrat"/>
              </a:rPr>
              <a:t>NEXT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700" b="0">
                <a:solidFill>
                  <a:srgbClr val="1B1F1E"/>
                </a:solidFill>
                <a:latin typeface="Montserrat"/>
              </a:rPr>
              <a:t>More Indian languages (Bhashini, IndicWhisper), token/queue integration, robot fleets, stations and airports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6446520"/>
            <a:ext cx="17190720" cy="310896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22960" y="6583680"/>
            <a:ext cx="8046720" cy="2834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ALSO ON THE ROADMAP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Staff mobile app: send Saathi, see where it is, read its black box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Fine-tune YOLO on Indian hospital scenes: wheelchairs, stretchers, crowds at counters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Crowd heatmaps that tell admins where patients get lost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326880" y="6583680"/>
            <a:ext cx="8138160" cy="2834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WHY IT SCALES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The brain is software: the same code runs in Webots and on the real robot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Hindi first, then any Indian language with the same agent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7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700" b="0">
                <a:solidFill>
                  <a:srgbClr val="1B1F1E"/>
                </a:solidFill>
                <a:latin typeface="Montserrat"/>
              </a:rPr>
              <a:t>Hospitals, stations, airports and melas share one problem: crowds and lost people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SAATHI PARIVAAR: EK YAAD, KAI AANKHEIN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TextBox 143"/>
          <p:cNvSpPr txBox="1"/>
          <p:nvPr/>
        </p:nvSpPr>
        <p:spPr>
          <a:xfrm>
            <a:off x="548640" y="2103120"/>
            <a:ext cx="106070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B1F1E"/>
                </a:solidFill>
                <a:latin typeface="Montserrat"/>
              </a:rPr>
              <a:t>A mother says “Mera beta kho gaya, laal t-shirt, 6 saal”. </a:t>
            </a:r>
            <a:r>
              <a:rPr sz="1800" b="0">
                <a:solidFill>
                  <a:srgbClr val="1B1F1E"/>
                </a:solidFill>
                <a:latin typeface="Montserrat"/>
              </a:rPr>
              <a:t>Every Saathi in the hospital answers from one shared memory of people. Building now for the finale.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48640" y="301752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" y="3108960"/>
            <a:ext cx="2240280" cy="2148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1  REMEMBER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00" b="0">
                <a:solidFill>
                  <a:srgbClr val="1B1F1E"/>
                </a:solidFill>
                <a:latin typeface="Montserrat"/>
              </a:rPr>
              <a:t>Each robot logs who it saw, where, when and which way they walked. Clothes only: no face is stored.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246120" y="301752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383280" y="3108960"/>
            <a:ext cx="2240280" cy="2148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2  ASK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00" b="0">
                <a:solidFill>
                  <a:srgbClr val="1B1F1E"/>
                </a:solidFill>
                <a:latin typeface="Montserrat"/>
              </a:rPr>
              <a:t>Her words search every robot's memory: “Saathi-2 saw him 3 min ago at the pharmacy, walking to the corridor.” She taps his photo.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943600" y="301752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0760" y="3108960"/>
            <a:ext cx="2240280" cy="2148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3  WHERE NOW?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00" b="0">
                <a:solidFill>
                  <a:srgbClr val="1B1F1E"/>
                </a:solidFill>
                <a:latin typeface="Montserrat"/>
              </a:rPr>
              <a:t>From his last motion Saathi works out where he can be now, and rules out places the robots checked and found empty.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641080" y="3017520"/>
            <a:ext cx="2514600" cy="228600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778240" y="3108960"/>
            <a:ext cx="2240280" cy="2148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4  SEARCH AS A TEAM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00" b="0">
                <a:solidFill>
                  <a:srgbClr val="1B1F1E"/>
                </a:solidFill>
                <a:latin typeface="Montserrat"/>
              </a:rPr>
              <a:t>Robots split the likely places; one stays with the mother. Once they meet, his record is deleted.</a:t>
            </a:r>
          </a:p>
        </p:txBody>
      </p:sp>
      <p:pic>
        <p:nvPicPr>
          <p:cNvPr id="153" name="Picture 152" descr="clip_ch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533574"/>
            <a:ext cx="6309360" cy="2036202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4" name="TextBox 153"/>
          <p:cNvSpPr txBox="1"/>
          <p:nvPr/>
        </p:nvSpPr>
        <p:spPr>
          <a:xfrm>
            <a:off x="7040880" y="5486400"/>
            <a:ext cx="411480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TESTED ON SAATHI'S OWN CAMERA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400" b="0">
                <a:solidFill>
                  <a:srgbClr val="1B1F1E"/>
                </a:solidFill>
                <a:latin typeface="Montserrat"/>
              </a:rPr>
              <a:t>“Small child in a red shirt”: the top 8 of 96 people seen are all him. A woman in green and a man in blue: 24 of 24 right. No look-alikes in this hall yet; the finale test adds them.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11521440" y="2103120"/>
            <a:ext cx="6217920" cy="58064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1750040" y="2194560"/>
            <a:ext cx="5806440" cy="5669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0F5C52"/>
                </a:solidFill>
                <a:latin typeface="Montserrat"/>
              </a:rPr>
              <a:t>WHAT EXISTS → WHAT SAATHI ADDS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NVIDIA ReMEmbR (2024): a robot recalls where it saw things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1">
                <a:solidFill>
                  <a:srgbClr val="1B1F1E"/>
                </a:solidFill>
                <a:latin typeface="Montserrat"/>
              </a:rPr>
              <a:t>→ Where a person is now, from a fresh sighting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HUMEMBR (IROS 2026): finds known people by face and routine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1">
                <a:solidFill>
                  <a:srgbClr val="1B1F1E"/>
                </a:solidFill>
                <a:latin typeface="Montserrat"/>
              </a:rPr>
              <a:t>→ Strangers, by clothes only; no face stored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Kumbh 2025 khoya-paya: face recognition on fixed cameras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1">
                <a:solidFill>
                  <a:srgbClr val="1B1F1E"/>
                </a:solidFill>
                <a:latin typeface="Montserrat"/>
              </a:rPr>
              <a:t>→ Robots also remember where they looked and saw no one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Lost-child robots (Japan, 2017): share spoken descriptions</a:t>
            </a:r>
          </a:p>
          <a:p>
            <a:pPr algn="l">
              <a:lnSpc>
                <a:spcPct val="112000"/>
              </a:lnSpc>
              <a:spcBef>
                <a:spcPts val="100"/>
              </a:spcBef>
            </a:pPr>
            <a:r>
              <a:rPr sz="1500" b="1">
                <a:solidFill>
                  <a:srgbClr val="1B1F1E"/>
                </a:solidFill>
                <a:latin typeface="Montserrat"/>
              </a:rPr>
              <a:t>→ A team that splits the search; one robot always stays</a:t>
            </a:r>
          </a:p>
          <a:p>
            <a:pPr algn="l">
              <a:lnSpc>
                <a:spcPct val="112000"/>
              </a:lnSpc>
              <a:spcBef>
                <a:spcPts val="14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WHY INDIA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400" b="0">
                <a:solidFill>
                  <a:srgbClr val="1B1F1E"/>
                </a:solidFill>
                <a:latin typeface="Montserrat"/>
              </a:rPr>
              <a:t>98% of 400 older patients at AIIMS Delhi's geriatric OPD usually come alone (preprint, 2026). The robots become the family they didn't bring.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400" b="0">
                <a:solidFill>
                  <a:srgbClr val="1B1F1E"/>
                </a:solidFill>
                <a:latin typeface="Montserrat"/>
              </a:rPr>
              <a:t>People rest on OPD floors. Memory tells a fall from rest, so nurses are not paged all day.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48640" y="8092440"/>
            <a:ext cx="17190720" cy="1481328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77240" y="8156448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0F5C52"/>
                </a:solidFill>
                <a:latin typeface="Montserrat"/>
              </a:rPr>
              <a:t>ONE MEMORY, FIVE JOBS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77240" y="8503920"/>
            <a:ext cx="32918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B1F1E"/>
                </a:solidFill>
                <a:latin typeface="Montserrat"/>
              </a:rPr>
              <a:t>Khoya-Paya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finds a lost child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60520" y="8503920"/>
            <a:ext cx="32918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B1F1E"/>
                </a:solidFill>
                <a:latin typeface="Montserrat"/>
              </a:rPr>
              <a:t>Bichhadne se pehle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spots a child drifting from family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543800" y="8503920"/>
            <a:ext cx="32918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B1F1E"/>
                </a:solidFill>
                <a:latin typeface="Montserrat"/>
              </a:rPr>
              <a:t>Vaada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fetches you before your token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927080" y="8503920"/>
            <a:ext cx="32918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B1F1E"/>
                </a:solidFill>
                <a:latin typeface="Montserrat"/>
              </a:rPr>
              <a:t>Doosri raay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fell, or resting on the floor?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4310360" y="8503920"/>
            <a:ext cx="32918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B1F1E"/>
                </a:solidFill>
                <a:latin typeface="Montserrat"/>
              </a:rPr>
              <a:t>Ek ruke, ek bulaye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555E5B"/>
                </a:solidFill>
                <a:latin typeface="Montserrat"/>
              </a:rPr>
              <a:t>one stays, one fetches help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77240" y="9189720"/>
            <a:ext cx="1673352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B1F1E"/>
                </a:solidFill>
                <a:latin typeface="Montserrat"/>
              </a:rPr>
              <a:t>Privacy: clothes, not faces · deleted after a reunion · wiped daily · every search logged     Plan: 2 robots by 24 Oct · 3 robots and a 200-seed test (1 vs 3 robots, memory on/off) at the finale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48640" y="9710928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Prior work, to our knowledge (our search, Oct 2026): ReMEmbR arXiv 2409.13682 · HUMEMBR arXiv 2606.30404 · Kumbh 2025 Digital Khoya-Paya Kendra · Wada et al., IEICE CNR2017-12 · AIIMS geriatric OPD: Research Square preprint,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29088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0" lang="en-US" sz="30167" u="none" cap="none" strike="noStrike">
                  <a:solidFill>
                    <a:srgbClr val="1D1D1F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TextBox 159"/>
          <p:cNvSpPr txBox="1"/>
          <p:nvPr/>
        </p:nvSpPr>
        <p:spPr>
          <a:xfrm>
            <a:off x="13807440" y="4526280"/>
            <a:ext cx="3931920" cy="2560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0F5C52"/>
                </a:solidFill>
                <a:latin typeface="Montserrat"/>
              </a:rPr>
              <a:t>SAATHI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2000" b="1">
                <a:solidFill>
                  <a:srgbClr val="1B1F1E"/>
                </a:solidFill>
                <a:latin typeface="Montserrat"/>
              </a:rPr>
              <a:t>Raasta bhi, saath bhi.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The way, and the company.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</a:pPr>
            <a:r>
              <a:rPr sz="1500" b="1">
                <a:solidFill>
                  <a:srgbClr val="1B1F1E"/>
                </a:solidFill>
                <a:latin typeface="Montserrat"/>
              </a:rPr>
              <a:t>Team Glitch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300" b="0">
                <a:solidFill>
                  <a:srgbClr val="555E5B"/>
                </a:solidFill>
                <a:latin typeface="Montserrat"/>
              </a:rPr>
              <a:t>Ayush Kumar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PS-01 CHECKLIST: EVERY LINE, WITH PROOF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548640" y="2103120"/>
          <a:ext cx="17190720" cy="6236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6400800"/>
                <a:gridCol w="5852160"/>
              </a:tblGrid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ontserrat"/>
                        </a:rPr>
                        <a:t>PS-01 asks for</a:t>
                      </a:r>
                    </a:p>
                  </a:txBody>
                  <a:tcPr marL="109728" marR="109728" marT="45720" marB="45720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ontserrat"/>
                        </a:rPr>
                        <a:t>What Saathi does</a:t>
                      </a:r>
                    </a:p>
                  </a:txBody>
                  <a:tcPr marL="109728" marR="109728" marT="45720" marB="45720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ontserrat"/>
                        </a:rPr>
                        <a:t>Proof from our runs</a:t>
                      </a:r>
                    </a:p>
                  </a:txBody>
                  <a:tcPr marL="109728" marR="109728" marT="45720" marB="45720">
                    <a:solidFill>
                      <a:srgbClr val="0F5C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Understand surroundings with AI vision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YOLO11 + depth camera + 360° LiDAR; people on a floor map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People placed within 0.10 m (median)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Identify relevant people and objects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Tracks people; YOLOE names objects by text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“cardboard box” and “yellow caution sign” named on sight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Navigate autonomously to an objective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A* on a crowd costmap; goals by name or by sight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Found a dustbin by camera, reached it in 12 s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Detect and avoid obstacles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Depth camera finds what the map does not have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Map-only robot hit 2 unmapped objects; Saathi 0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Real-time decision making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30 Hz reflex loop, replans twice a second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200 crowds: 73% fewer near-misses than a normal robot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Object detection, image classification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YOLO11 people; YOLOE posture: “person lying on the floor”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Fall classified 0.3 s after it happened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Scene understanding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Conversations and queues from tracks; signs read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Cut through a conversation in 0 of 200 crowds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Vision-language models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Qwen3.5-2B (Apple MLX) describes the scene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Its description goes with the nurse alert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Motor control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Physics mecanum base, speed command per wheel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Forward, sideways and turning within 7% of the command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5C52"/>
                          </a:solidFill>
                          <a:latin typeface="Montserrat"/>
                        </a:rPr>
                        <a:t>✓  Real or simulated environment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Realistic Webots OPD hall, Hindi + English signs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Deterministic: every run gives the same numbers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WORKING PROTOTYPE (SIMULATION)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dashboard_006.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6846"/>
            <a:ext cx="11338560" cy="63779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548640" y="8641080"/>
            <a:ext cx="113385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One frame of our Webots run: chase camera, Saathi's camera with YOLO boxes and distances, depth camera, front CCTV, map, 360° LiDAR, and its thinking log.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252960" y="2194560"/>
            <a:ext cx="5486400" cy="749807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BUILT AND RUNNING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OPD hall with Hindi + English signs, token display, pharmacy queue, animated people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Plans its own way to any department (A* on a crowd costmap)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Sees people with camera + depth + 360° LiDAR, tracks them on the floor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Slows, waits, slides sideways to let people pass, and thinks aloud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Sees obstacles that are not on its map, finds things it is asked for, spots falls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Black box: every decision saved with its camera frame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Physics mecanum base driven by wheel speed commands</a:t>
            </a:r>
          </a:p>
          <a:p>
            <a:pPr algn="l">
              <a:lnSpc>
                <a:spcPct val="112000"/>
              </a:lnSpc>
              <a:spcBef>
                <a:spcPts val="1600"/>
              </a:spcBef>
            </a:pPr>
            <a:r>
              <a:rPr sz="1800" b="1">
                <a:solidFill>
                  <a:srgbClr val="0F5C52"/>
                </a:solidFill>
                <a:latin typeface="Montserrat"/>
              </a:rPr>
              <a:t>BUILDING NEXT (BY 24 OCT)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Saathi Parivaar: 2 robots share one memory (Khoya-Paya demo)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Hindi voice agent: speech in, Hindi voice out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Walks at the patient's pace; eyes that look at the person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Gesture stop from a webcam</a:t>
            </a:r>
          </a:p>
          <a:p>
            <a:pPr algn="l">
              <a:lnSpc>
                <a:spcPct val="112000"/>
              </a:lnSpc>
              <a:spcBef>
                <a:spcPts val="16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Demo video and GitHub repo: in the prototype round (18–24 Oct)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RESULTS: 200 CROWDS, TWO ROBOTS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ab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6248"/>
            <a:ext cx="17190720" cy="4885783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548640" y="7132320"/>
            <a:ext cx="4160520" cy="178308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7223760"/>
            <a:ext cx="384048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0F5C52"/>
                </a:solidFill>
                <a:latin typeface="Montserrat"/>
              </a:rPr>
              <a:t>73% fewer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near-misses: 3.79 → 1.00 per trip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892040" y="7132320"/>
            <a:ext cx="4160520" cy="178308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074920" y="7223760"/>
            <a:ext cx="384048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0F5C52"/>
                </a:solidFill>
                <a:latin typeface="Montserrat"/>
              </a:rPr>
              <a:t>0 of 200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trips cut through a conversation (normal robot: 26%)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235440" y="7132320"/>
            <a:ext cx="4160520" cy="178308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418319" y="7223760"/>
            <a:ext cx="384048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0F5C52"/>
                </a:solidFill>
                <a:latin typeface="Montserrat"/>
              </a:rPr>
              <a:t>199/200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trips reached the goal (normal robot: 185/200)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3578840" y="7132320"/>
            <a:ext cx="4160520" cy="178308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3761719" y="7223760"/>
            <a:ext cx="384048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B8550D"/>
                </a:solidFill>
                <a:latin typeface="Montserrat"/>
              </a:rPr>
              <a:t>+5 s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the price: median trip 19 s → 24 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48640" y="9710928"/>
            <a:ext cx="171907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5E5B"/>
                </a:solidFill>
                <a:latin typeface="Montserrat"/>
              </a:rPr>
              <a:t>Method: each seed builds an OPD crowd (8–12 walkers, two talking pairs, a pharmacy queue) and a trip from the entrance to a random department. Both robots get people's true positions. Normal robot = the same A* planner treating people as obstacles where they are now, fixed speed, same 0.6 m stop. The trip Saathi missed: a very crowded crossing where it kept waiting rather than push through.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SAME CROWD, TWO ROBOTS (WEBOTS)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trajecto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9509760" cy="534924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10332720" y="2148840"/>
            <a:ext cx="7406640" cy="457200"/>
          </a:xfrm>
          <a:prstGeom prst="roundRect">
            <a:avLst>
              <a:gd name="adj" fmla="val 15000"/>
            </a:avLst>
          </a:prstGeom>
          <a:solidFill>
            <a:srgbClr val="555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469880" y="2194560"/>
            <a:ext cx="7132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ontserrat"/>
              </a:rPr>
              <a:t>NORMAL ROBOT: cuts through the conversation</a:t>
            </a:r>
          </a:p>
        </p:txBody>
      </p:sp>
      <p:pic>
        <p:nvPicPr>
          <p:cNvPr id="147" name="Picture 146" descr="side_baseline_raw.jpg"/>
          <p:cNvPicPr>
            <a:picLocks noChangeAspect="1"/>
          </p:cNvPicPr>
          <p:nvPr/>
        </p:nvPicPr>
        <p:blipFill>
          <a:blip r:embed="rId4"/>
          <a:srcRect t="13237" b="13237"/>
          <a:stretch>
            <a:fillRect/>
          </a:stretch>
        </p:blipFill>
        <p:spPr>
          <a:xfrm>
            <a:off x="10332720" y="2697480"/>
            <a:ext cx="7406640" cy="30632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8" name="Rounded Rectangle 147"/>
          <p:cNvSpPr/>
          <p:nvPr/>
        </p:nvSpPr>
        <p:spPr>
          <a:xfrm>
            <a:off x="10332720" y="5852160"/>
            <a:ext cx="7406640" cy="457200"/>
          </a:xfrm>
          <a:prstGeom prst="roundRect">
            <a:avLst>
              <a:gd name="adj" fmla="val 15000"/>
            </a:avLst>
          </a:prstGeom>
          <a:solidFill>
            <a:srgbClr val="0F5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469880" y="5897880"/>
            <a:ext cx="71323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ontserrat"/>
              </a:rPr>
              <a:t>SAATHI: goes around it</a:t>
            </a:r>
          </a:p>
        </p:txBody>
      </p:sp>
      <p:pic>
        <p:nvPicPr>
          <p:cNvPr id="150" name="Picture 149" descr="side_saathi_raw.jpg"/>
          <p:cNvPicPr>
            <a:picLocks noChangeAspect="1"/>
          </p:cNvPicPr>
          <p:nvPr/>
        </p:nvPicPr>
        <p:blipFill>
          <a:blip r:embed="rId5"/>
          <a:srcRect t="13237" b="13237"/>
          <a:stretch>
            <a:fillRect/>
          </a:stretch>
        </p:blipFill>
        <p:spPr>
          <a:xfrm>
            <a:off x="10332720" y="6400800"/>
            <a:ext cx="7406640" cy="30632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graphicFrame>
        <p:nvGraphicFramePr>
          <p:cNvPr id="151" name="Table 150"/>
          <p:cNvGraphicFramePr>
            <a:graphicFrameLocks noGrp="1"/>
          </p:cNvGraphicFramePr>
          <p:nvPr/>
        </p:nvGraphicFramePr>
        <p:xfrm>
          <a:off x="548640" y="7589520"/>
          <a:ext cx="950976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463040"/>
                <a:gridCol w="2926080"/>
              </a:tblGrid>
              <a:tr h="384048">
                <a:tc>
                  <a:txBody>
                    <a:bodyPr/>
                    <a:lstStyle/>
                    <a:p/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Normal robot</a:t>
                      </a:r>
                    </a:p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Saathi</a:t>
                      </a:r>
                    </a:p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Saathi, camera + LiDAR only</a:t>
                      </a:r>
                    </a:p>
                  </a:txBody>
                  <a:tcPr marL="91440" marR="91440" marT="36576" marB="36576">
                    <a:solidFill>
                      <a:srgbClr val="0F5C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1E"/>
                          </a:solidFill>
                          <a:latin typeface="Montserrat"/>
                        </a:rPr>
                        <a:t>Near-misses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1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1E"/>
                          </a:solidFill>
                          <a:latin typeface="Montserrat"/>
                        </a:rPr>
                        <a:t>Cut through the conversation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yes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no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no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1F1E"/>
                          </a:solidFill>
                          <a:latin typeface="Montserrat"/>
                        </a:rPr>
                        <a:t>Time to Radiology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22 s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25 s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1E"/>
                          </a:solidFill>
                          <a:latin typeface="Montserrat"/>
                        </a:rPr>
                        <a:t>29 s</a:t>
                      </a:r>
                    </a:p>
                  </a:txBody>
                  <a:tcPr marL="91440" marR="91440" marT="36576" marB="36576">
                    <a:solidFill>
                      <a:srgbClr val="F2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FROM PIXELS TO DECISIONS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dashboard_005.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6846"/>
            <a:ext cx="11338560" cy="637794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548640" y="8641080"/>
            <a:ext cx="113385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Saathi driving on its own sensors. Map: grey dots are where people really are, teal rings are where Saathi thinks they are.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252960" y="2194560"/>
            <a:ext cx="5486400" cy="4206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HOW IT SEES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YOLO11 finds people in the camera image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The depth camera gives each one's distance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The 360° LiDAR adds people beside and behind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A floor tracker keeps IDs and walking speeds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The planner predicts 2 s ahead and picks the path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2252960" y="640080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2435840" y="6492240"/>
            <a:ext cx="5120640" cy="2834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0F5C52"/>
                </a:solidFill>
                <a:latin typeface="Montserrat"/>
              </a:rPr>
              <a:t>0.10 m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B1F1E"/>
                </a:solidFill>
                <a:latin typeface="Montserrat"/>
              </a:rPr>
              <a:t>median error placing people on the floor (0.32 m for 9 in 10)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sz="1500" b="0">
                <a:solidFill>
                  <a:srgbClr val="1B1F1E"/>
                </a:solidFill>
                <a:latin typeface="Montserrat"/>
              </a:rPr>
              <a:t>Drove to Radiology on its own eyes: 1 near-misses, no conversation cut, 29 s (25 s with perfect positions).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UNKNOWN OBSTACLES, AND FINDING THINGS BY SIGHT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TextBox 143"/>
          <p:cNvSpPr txBox="1"/>
          <p:nvPr/>
        </p:nvSpPr>
        <p:spPr>
          <a:xfrm>
            <a:off x="548640" y="2103120"/>
            <a:ext cx="171907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OBSTACLES NOT ON THE MAP: a “wet floor” board and a cardboard box. Map-only: hit 2. With depth vision: hit 0.</a:t>
            </a:r>
          </a:p>
        </p:txBody>
      </p:sp>
      <p:pic>
        <p:nvPicPr>
          <p:cNvPr id="145" name="Picture 144" descr="obstacle_ob_maponly.jpg"/>
          <p:cNvPicPr>
            <a:picLocks noChangeAspect="1"/>
          </p:cNvPicPr>
          <p:nvPr/>
        </p:nvPicPr>
        <p:blipFill>
          <a:blip r:embed="rId3"/>
          <a:srcRect l="9" r="9"/>
          <a:stretch>
            <a:fillRect/>
          </a:stretch>
        </p:blipFill>
        <p:spPr>
          <a:xfrm>
            <a:off x="548640" y="2606040"/>
            <a:ext cx="5623560" cy="316382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pic>
        <p:nvPicPr>
          <p:cNvPr id="146" name="Picture 145" descr="obstacle_ob_vision.jpg"/>
          <p:cNvPicPr>
            <a:picLocks noChangeAspect="1"/>
          </p:cNvPicPr>
          <p:nvPr/>
        </p:nvPicPr>
        <p:blipFill>
          <a:blip r:embed="rId4"/>
          <a:srcRect l="9" r="9"/>
          <a:stretch>
            <a:fillRect/>
          </a:stretch>
        </p:blipFill>
        <p:spPr>
          <a:xfrm>
            <a:off x="6355080" y="2606040"/>
            <a:ext cx="5623560" cy="316382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pic>
        <p:nvPicPr>
          <p:cNvPr id="147" name="Picture 146" descr="found_box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2161520" y="2606040"/>
            <a:ext cx="3657600" cy="274320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8" name="TextBox 147"/>
          <p:cNvSpPr txBox="1"/>
          <p:nvPr/>
        </p:nvSpPr>
        <p:spPr>
          <a:xfrm>
            <a:off x="15956280" y="2651760"/>
            <a:ext cx="178308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0F5C52"/>
                </a:solidFill>
                <a:latin typeface="Montserrat"/>
              </a:rPr>
              <a:t>At 15 s: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400" b="0">
                <a:solidFill>
                  <a:srgbClr val="1B1F1E"/>
                </a:solidFill>
                <a:latin typeface="Montserrat"/>
              </a:rPr>
              <a:t>“Found a cardboard box that is not on my map: going around it”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6035040"/>
            <a:ext cx="171907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FIND IT BY SIGHT: “dustbin dhoondo”, and the dustbin is not on Saathi's map</a:t>
            </a:r>
          </a:p>
        </p:txBody>
      </p:sp>
      <p:pic>
        <p:nvPicPr>
          <p:cNvPr id="150" name="Picture 149" descr="dustbin.jpg"/>
          <p:cNvPicPr>
            <a:picLocks noChangeAspect="1"/>
          </p:cNvPicPr>
          <p:nvPr/>
        </p:nvPicPr>
        <p:blipFill>
          <a:blip r:embed="rId6"/>
          <a:srcRect l="36" r="36"/>
          <a:stretch>
            <a:fillRect/>
          </a:stretch>
        </p:blipFill>
        <p:spPr>
          <a:xfrm>
            <a:off x="548640" y="6537960"/>
            <a:ext cx="4215384" cy="316382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pic>
        <p:nvPicPr>
          <p:cNvPr id="151" name="Picture 150" descr="arrive.jpg"/>
          <p:cNvPicPr>
            <a:picLocks noChangeAspect="1"/>
          </p:cNvPicPr>
          <p:nvPr/>
        </p:nvPicPr>
        <p:blipFill>
          <a:blip r:embed="rId7"/>
          <a:srcRect l="9" r="9"/>
          <a:stretch>
            <a:fillRect/>
          </a:stretch>
        </p:blipFill>
        <p:spPr>
          <a:xfrm>
            <a:off x="4937760" y="6537960"/>
            <a:ext cx="5623560" cy="3163824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52" name="TextBox 151"/>
          <p:cNvSpPr txBox="1"/>
          <p:nvPr/>
        </p:nvSpPr>
        <p:spPr>
          <a:xfrm>
            <a:off x="10881360" y="6537960"/>
            <a:ext cx="6858000" cy="3108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Turns on the spot and asks YOLOE for “dustbin” about 3 times a second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Sees it 7.5 m away after 1.6 s; the depth camera puts it on the floor map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Plans there through the crowd and arrives at 12.4 s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The same works for any word: “water cooler”, “wheelchair”, “sign board”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A FALL: CLASSIFY, ALERT, STAY, DESCRIBE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fall.jpg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48640" y="2194560"/>
            <a:ext cx="7680960" cy="576072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548640" y="8046720"/>
            <a:ext cx="76809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Saathi's camera 0.3 s after the fall: YOLOE says “person lying on the floor”.</a:t>
            </a:r>
          </a:p>
        </p:txBody>
      </p:sp>
      <p:pic>
        <p:nvPicPr>
          <p:cNvPr id="146" name="Picture 145" descr="stay.jpg"/>
          <p:cNvPicPr>
            <a:picLocks noChangeAspect="1"/>
          </p:cNvPicPr>
          <p:nvPr/>
        </p:nvPicPr>
        <p:blipFill>
          <a:blip r:embed="rId4"/>
          <a:srcRect t="10889" b="10889"/>
          <a:stretch>
            <a:fillRect/>
          </a:stretch>
        </p:blipFill>
        <p:spPr>
          <a:xfrm>
            <a:off x="8595360" y="2194560"/>
            <a:ext cx="9144000" cy="402336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7" name="Rounded Rectangle 146"/>
          <p:cNvSpPr/>
          <p:nvPr/>
        </p:nvSpPr>
        <p:spPr>
          <a:xfrm>
            <a:off x="8595360" y="6400800"/>
            <a:ext cx="9144000" cy="310896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823960" y="6492240"/>
            <a:ext cx="868680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ALERT TO THE NURSE STATION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0">
                <a:solidFill>
                  <a:srgbClr val="1B1F1E"/>
                </a:solidFill>
                <a:latin typeface="Montserrat"/>
              </a:rPr>
              <a:t>Patient fallen near the middle of the hall, 5 m from Lab (at 5.4 s)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600" b="1">
                <a:solidFill>
                  <a:srgbClr val="1B1F1E"/>
                </a:solidFill>
                <a:latin typeface="Montserrat"/>
              </a:rPr>
              <a:t>VLM, in its own process: </a:t>
            </a:r>
            <a:r>
              <a:rPr sz="1600" b="0">
                <a:solidFill>
                  <a:srgbClr val="1B1F1E"/>
                </a:solidFill>
                <a:latin typeface="Montserrat"/>
              </a:rPr>
              <a:t>“In the hospital OPD hall, a man is lying on the floor, possibly injured or unwell, while others walk past or stand nearby.”</a:t>
            </a:r>
          </a:p>
          <a:p>
            <a:pPr algn="l">
              <a:lnSpc>
                <a:spcPct val="112000"/>
              </a:lnSpc>
              <a:spcBef>
                <a:spcPts val="600"/>
              </a:spcBef>
            </a:pPr>
            <a:r>
              <a:rPr sz="1500" b="0">
                <a:solidFill>
                  <a:srgbClr val="555E5B"/>
                </a:solidFill>
                <a:latin typeface="Montserrat"/>
              </a:rPr>
              <a:t>Then Saathi goes to them, stays until the nurse takes over, and finishes its trip (42 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BLACK BOX: “TUM RUKE KYUN?”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blackbox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2194560"/>
            <a:ext cx="8778240" cy="658368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548640" y="8869680"/>
            <a:ext cx="8778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Saved by Saathi at 5.3 s: the camera frame of that decision, with what it saw.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966960" y="2286000"/>
            <a:ext cx="7772400" cy="1005840"/>
          </a:xfrm>
          <a:prstGeom prst="roundRect">
            <a:avLst>
              <a:gd name="adj" fmla="val 6000"/>
            </a:avLst>
          </a:prstGeom>
          <a:solidFill>
            <a:srgbClr val="F2F5F2"/>
          </a:solidFill>
          <a:ln w="12700">
            <a:solidFill>
              <a:srgbClr val="D3D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195560" y="2395728"/>
            <a:ext cx="73152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55E5B"/>
                </a:solidFill>
                <a:latin typeface="Montserrat"/>
              </a:rPr>
              <a:t>You:  </a:t>
            </a:r>
            <a:r>
              <a:rPr sz="1800" b="0">
                <a:solidFill>
                  <a:srgbClr val="1B1F1E"/>
                </a:solidFill>
                <a:latin typeface="Montserrat"/>
              </a:rPr>
              <a:t>Saathi, 0:05 pe tum dheeme kyun hue?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9966960" y="3520440"/>
            <a:ext cx="7772400" cy="2377440"/>
          </a:xfrm>
          <a:prstGeom prst="roundRect">
            <a:avLst>
              <a:gd name="adj" fmla="val 6000"/>
            </a:avLst>
          </a:prstGeom>
          <a:solidFill>
            <a:srgbClr val="DD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195560" y="3630168"/>
            <a:ext cx="731520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Saathi:  </a:t>
            </a:r>
            <a:r>
              <a:rPr sz="1800" b="0">
                <a:solidFill>
                  <a:srgbClr val="1B1F1E"/>
                </a:solidFill>
                <a:latin typeface="Montserrat"/>
              </a:rPr>
              <a:t>0:05 pe P14 mere raaste ki taraf aa rahe the. Main 0.51 m/s pe tha, isliye dheema hua, phir side khisak ke unhe jaane diya. Ye raha us pal ka camera frame.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966960" y="6172200"/>
            <a:ext cx="777240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WHAT THE BLACK BOX KEEPS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Time 5.28 s · decision: Slowing for P14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Speed 0.51 m/s · people in view: P8, P2, P18, P14, P4, P19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The camera frame, with every box and distance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600" b="1">
                <a:solidFill>
                  <a:srgbClr val="0F5C52"/>
                </a:solidFill>
                <a:latin typeface="Montserrat"/>
              </a:rPr>
              <a:t>•  </a:t>
            </a:r>
            <a:r>
              <a:rPr sz="1600" b="0">
                <a:solidFill>
                  <a:srgbClr val="1B1F1E"/>
                </a:solidFill>
                <a:latin typeface="Montserrat"/>
              </a:rPr>
              <a:t>The answer above is written from this record, so it cannot make things up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9" name="Google Shape;139;p19"/>
          <p:cNvSpPr txBox="1"/>
          <p:nvPr/>
        </p:nvSpPr>
        <p:spPr>
          <a:xfrm>
            <a:off x="548640" y="1417320"/>
            <a:ext cx="17190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B1F1E"/>
                </a:solidFill>
                <a:latin typeface="Montserrat"/>
                <a:ea typeface="Montserrat"/>
                <a:cs typeface="Montserrat"/>
                <a:sym typeface="Montserrat"/>
              </a:rPr>
              <a:t>EXTRA · OUR ROVER IS SAATHI'S BODY</a:t>
            </a:r>
            <a:endParaRPr/>
          </a:p>
        </p:txBody>
      </p:sp>
      <p:pic>
        <p:nvPicPr>
          <p:cNvPr id="143" name="Google Shape;143;p19" title="pptnlog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Picture 143" descr="team_r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07041"/>
            <a:ext cx="6309360" cy="5690036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548640" y="8001000"/>
            <a:ext cx="6309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555E5B"/>
                </a:solidFill>
                <a:latin typeface="Montserrat"/>
              </a:rPr>
              <a:t>Team design: AI Rover HiH 2026</a:t>
            </a:r>
          </a:p>
        </p:txBody>
      </p:sp>
      <p:graphicFrame>
        <p:nvGraphicFramePr>
          <p:cNvPr id="146" name="Table 145"/>
          <p:cNvGraphicFramePr>
            <a:graphicFrameLocks noGrp="1"/>
          </p:cNvGraphicFramePr>
          <p:nvPr/>
        </p:nvGraphicFramePr>
        <p:xfrm>
          <a:off x="7315200" y="2194560"/>
          <a:ext cx="104241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6400800"/>
              </a:tblGrid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ontserrat"/>
                        </a:rPr>
                        <a:t>Part</a:t>
                      </a:r>
                    </a:p>
                  </a:txBody>
                  <a:tcPr marL="109728" marR="109728" marT="45720" marB="45720">
                    <a:solidFill>
                      <a:srgbClr val="0F5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ontserrat"/>
                        </a:rPr>
                        <a:t>What Saathi uses it for</a:t>
                      </a:r>
                    </a:p>
                  </a:txBody>
                  <a:tcPr marL="109728" marR="109728" marT="45720" marB="45720">
                    <a:solidFill>
                      <a:srgbClr val="0F5C5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Stereo RGB camera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Find, track and read people's intent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Depth camera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Distance to each person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360° LiDAR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Map, position, blind spots behind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Ultrasonic + IR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Close-range stop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IMU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Speed, heading, gentle braking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Mecanum wheels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Slide sideways in tight crowds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Jetson Orin Nano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Runs the reflex brain on board</a:t>
                      </a:r>
                    </a:p>
                  </a:txBody>
                  <a:tcPr marL="109728" marR="109728" marT="45720" marB="45720">
                    <a:solidFill>
                      <a:srgbClr val="F2F5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+ Face screen, mic, speaker</a:t>
                      </a:r>
                    </a:p>
                  </a:txBody>
                  <a:tcPr marL="109728" marR="109728" marT="45720" marB="45720">
                    <a:solidFill>
                      <a:srgbClr val="DD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Talk, listen, show mood (we add)</a:t>
                      </a:r>
                    </a:p>
                  </a:txBody>
                  <a:tcPr marL="109728" marR="109728" marT="45720" marB="45720">
                    <a:solidFill>
                      <a:srgbClr val="DDEEE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1F1E"/>
                          </a:solidFill>
                          <a:latin typeface="Montserrat"/>
                        </a:rPr>
                        <a:t>+ Red e-stop button</a:t>
                      </a:r>
                    </a:p>
                  </a:txBody>
                  <a:tcPr marL="109728" marR="109728" marT="45720" marB="45720">
                    <a:solidFill>
                      <a:srgbClr val="DDEE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1F1E"/>
                          </a:solidFill>
                          <a:latin typeface="Montserrat"/>
                        </a:rPr>
                        <a:t>A physical stop anyone can press (we add)</a:t>
                      </a:r>
                    </a:p>
                  </a:txBody>
                  <a:tcPr marL="109728" marR="109728" marT="45720" marB="45720">
                    <a:solidFill>
                      <a:srgbClr val="DDEEE9"/>
                    </a:solidFill>
                  </a:tcPr>
                </a:tc>
              </a:tr>
            </a:tbl>
          </a:graphicData>
        </a:graphic>
      </p:graphicFrame>
      <p:pic>
        <p:nvPicPr>
          <p:cNvPr id="147" name="Picture 146" descr="rover_sim_closeup.jpg"/>
          <p:cNvPicPr>
            <a:picLocks noChangeAspect="1"/>
          </p:cNvPicPr>
          <p:nvPr/>
        </p:nvPicPr>
        <p:blipFill>
          <a:blip r:embed="rId4"/>
          <a:srcRect t="8265" b="8265"/>
          <a:stretch>
            <a:fillRect/>
          </a:stretch>
        </p:blipFill>
        <p:spPr>
          <a:xfrm>
            <a:off x="14264640" y="6903720"/>
            <a:ext cx="3474720" cy="2651760"/>
          </a:xfrm>
          <a:prstGeom prst="rect">
            <a:avLst/>
          </a:prstGeom>
          <a:ln w="9525">
            <a:solidFill>
              <a:srgbClr val="D3DBD6"/>
            </a:solidFill>
          </a:ln>
        </p:spPr>
      </p:pic>
      <p:sp>
        <p:nvSpPr>
          <p:cNvPr id="148" name="TextBox 147"/>
          <p:cNvSpPr txBox="1"/>
          <p:nvPr/>
        </p:nvSpPr>
        <p:spPr>
          <a:xfrm>
            <a:off x="7315200" y="6903720"/>
            <a:ext cx="667512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0F5C52"/>
                </a:solidFill>
                <a:latin typeface="Montserrat"/>
              </a:rPr>
              <a:t>SAME SENSORS IN SIMULATION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600" b="0">
                <a:solidFill>
                  <a:srgbClr val="1B1F1E"/>
                </a:solidFill>
                <a:latin typeface="Montserrat"/>
              </a:rPr>
              <a:t>We built this rover in Webots with the same camera, depth camera, LiDAR and IMU, and gave it the face screen. The brain talks to the sensors through a small interface, so the same code can drive the real rover once its drivers are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